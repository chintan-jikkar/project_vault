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Glacial Indifference" charset="1" panose="00000000000000000000"/>
      <p:regular r:id="rId27"/>
    </p:embeddedFont>
    <p:embeddedFont>
      <p:font typeface="League Spartan" charset="1" panose="00000800000000000000"/>
      <p:regular r:id="rId28"/>
    </p:embeddedFont>
    <p:embeddedFont>
      <p:font typeface="Poppins Bold" charset="1" panose="00000800000000000000"/>
      <p:regular r:id="rId29"/>
    </p:embeddedFont>
    <p:embeddedFont>
      <p:font typeface="Open Sauce Bold" charset="1" panose="00000800000000000000"/>
      <p:regular r:id="rId30"/>
    </p:embeddedFont>
    <p:embeddedFont>
      <p:font typeface="Open Sauce" charset="1" panose="00000500000000000000"/>
      <p:regular r:id="rId31"/>
    </p:embeddedFont>
    <p:embeddedFont>
      <p:font typeface="Glacial Indifference Bold" charset="1" panose="00000800000000000000"/>
      <p:regular r:id="rId32"/>
    </p:embeddedFont>
    <p:embeddedFont>
      <p:font typeface="Aileron Bold" charset="1" panose="00000800000000000000"/>
      <p:regular r:id="rId33"/>
    </p:embeddedFont>
    <p:embeddedFont>
      <p:font typeface="Aileron" charset="1" panose="00000500000000000000"/>
      <p:regular r:id="rId34"/>
    </p:embeddedFont>
    <p:embeddedFont>
      <p:font typeface="Work Sans Bold Italics" charset="1" panose="00000000000000000000"/>
      <p:regular r:id="rId35"/>
    </p:embeddedFont>
    <p:embeddedFont>
      <p:font typeface="ITC Benguiat Italics" charset="1" panose="020306040503060907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jpe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media/image6.jpeg" Type="http://schemas.openxmlformats.org/officeDocument/2006/relationships/image"/><Relationship Id="rId20" Target="../media/image23.sv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63920">
            <a:off x="-1146486" y="4860207"/>
            <a:ext cx="10893104" cy="8796185"/>
          </a:xfrm>
          <a:custGeom>
            <a:avLst/>
            <a:gdLst/>
            <a:ahLst/>
            <a:cxnLst/>
            <a:rect r="r" b="b" t="t" l="l"/>
            <a:pathLst>
              <a:path h="8796185" w="10893104">
                <a:moveTo>
                  <a:pt x="0" y="0"/>
                </a:moveTo>
                <a:lnTo>
                  <a:pt x="10893104" y="0"/>
                </a:lnTo>
                <a:lnTo>
                  <a:pt x="10893104" y="8796186"/>
                </a:lnTo>
                <a:lnTo>
                  <a:pt x="0" y="8796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" r="0" b="-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48010" y="5951353"/>
            <a:ext cx="6530340" cy="38100"/>
            <a:chOff x="0" y="0"/>
            <a:chExt cx="8707120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7120" cy="50800"/>
            </a:xfrm>
            <a:custGeom>
              <a:avLst/>
              <a:gdLst/>
              <a:ahLst/>
              <a:cxnLst/>
              <a:rect r="r" b="b" t="t" l="l"/>
              <a:pathLst>
                <a:path h="50800" w="8707120">
                  <a:moveTo>
                    <a:pt x="0" y="0"/>
                  </a:moveTo>
                  <a:lnTo>
                    <a:pt x="8707120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3289735" r="0" b="-3289735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712392" y="709651"/>
            <a:ext cx="1546908" cy="638099"/>
          </a:xfrm>
          <a:custGeom>
            <a:avLst/>
            <a:gdLst/>
            <a:ahLst/>
            <a:cxnLst/>
            <a:rect r="r" b="b" t="t" l="l"/>
            <a:pathLst>
              <a:path h="638099" w="1546908">
                <a:moveTo>
                  <a:pt x="0" y="0"/>
                </a:moveTo>
                <a:lnTo>
                  <a:pt x="1546908" y="0"/>
                </a:lnTo>
                <a:lnTo>
                  <a:pt x="1546908" y="638098"/>
                </a:lnTo>
                <a:lnTo>
                  <a:pt x="0" y="638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67" r="0" b="-567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712392" y="8939251"/>
            <a:ext cx="1546908" cy="638099"/>
          </a:xfrm>
          <a:custGeom>
            <a:avLst/>
            <a:gdLst/>
            <a:ahLst/>
            <a:cxnLst/>
            <a:rect r="r" b="b" t="t" l="l"/>
            <a:pathLst>
              <a:path h="638099" w="1546908">
                <a:moveTo>
                  <a:pt x="1546908" y="0"/>
                </a:moveTo>
                <a:lnTo>
                  <a:pt x="0" y="0"/>
                </a:lnTo>
                <a:lnTo>
                  <a:pt x="0" y="638098"/>
                </a:lnTo>
                <a:lnTo>
                  <a:pt x="1546908" y="638098"/>
                </a:lnTo>
                <a:lnTo>
                  <a:pt x="154690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67" r="0" b="-56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02895" y="6608578"/>
            <a:ext cx="6056405" cy="60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74"/>
              </a:lnSpc>
            </a:pPr>
            <a:r>
              <a:rPr lang="en-US" sz="4605">
                <a:solidFill>
                  <a:srgbClr val="0A3D8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Group 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0106" y="3990804"/>
            <a:ext cx="6809194" cy="144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657"/>
              </a:lnSpc>
            </a:pPr>
            <a:r>
              <a:rPr lang="en-US" sz="7612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6491" y="2528783"/>
            <a:ext cx="12112809" cy="176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899"/>
              </a:lnSpc>
            </a:pPr>
            <a:r>
              <a:rPr lang="en-US" sz="8499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COINBASE BUSINESS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29622" y="1689926"/>
            <a:ext cx="5345192" cy="5218243"/>
          </a:xfrm>
          <a:custGeom>
            <a:avLst/>
            <a:gdLst/>
            <a:ahLst/>
            <a:cxnLst/>
            <a:rect r="r" b="b" t="t" l="l"/>
            <a:pathLst>
              <a:path h="5218243" w="5345192">
                <a:moveTo>
                  <a:pt x="0" y="0"/>
                </a:moveTo>
                <a:lnTo>
                  <a:pt x="5345192" y="0"/>
                </a:lnTo>
                <a:lnTo>
                  <a:pt x="5345192" y="5218242"/>
                </a:lnTo>
                <a:lnTo>
                  <a:pt x="0" y="5218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9" t="0" r="-59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8253" y="2674258"/>
            <a:ext cx="4938484" cy="4938484"/>
            <a:chOff x="0" y="0"/>
            <a:chExt cx="6584645" cy="6584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4696" cy="6584696"/>
            </a:xfrm>
            <a:custGeom>
              <a:avLst/>
              <a:gdLst/>
              <a:ahLst/>
              <a:cxnLst/>
              <a:rect r="r" b="b" t="t" l="l"/>
              <a:pathLst>
                <a:path h="6584696" w="6584696">
                  <a:moveTo>
                    <a:pt x="3292348" y="0"/>
                  </a:moveTo>
                  <a:cubicBezTo>
                    <a:pt x="1473962" y="0"/>
                    <a:pt x="0" y="1473962"/>
                    <a:pt x="0" y="3292348"/>
                  </a:cubicBezTo>
                  <a:cubicBezTo>
                    <a:pt x="0" y="5110734"/>
                    <a:pt x="1473962" y="6584696"/>
                    <a:pt x="3292348" y="6584696"/>
                  </a:cubicBezTo>
                  <a:cubicBezTo>
                    <a:pt x="5110734" y="6584696"/>
                    <a:pt x="6584696" y="5110607"/>
                    <a:pt x="6584696" y="3292348"/>
                  </a:cubicBezTo>
                  <a:cubicBezTo>
                    <a:pt x="6584696" y="1474089"/>
                    <a:pt x="5110607" y="0"/>
                    <a:pt x="3292348" y="0"/>
                  </a:cubicBezTo>
                  <a:close/>
                </a:path>
              </a:pathLst>
            </a:custGeom>
            <a:blipFill>
              <a:blip r:embed="rId5"/>
              <a:stretch>
                <a:fillRect l="-24999" t="0" r="-24999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259300" y="361321"/>
            <a:ext cx="864956" cy="405232"/>
          </a:xfrm>
          <a:custGeom>
            <a:avLst/>
            <a:gdLst/>
            <a:ahLst/>
            <a:cxnLst/>
            <a:rect r="r" b="b" t="t" l="l"/>
            <a:pathLst>
              <a:path h="405232" w="864956">
                <a:moveTo>
                  <a:pt x="0" y="0"/>
                </a:moveTo>
                <a:lnTo>
                  <a:pt x="864956" y="0"/>
                </a:lnTo>
                <a:lnTo>
                  <a:pt x="864956" y="405232"/>
                </a:lnTo>
                <a:lnTo>
                  <a:pt x="0" y="405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722" r="0" b="-567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930686" y="7232923"/>
            <a:ext cx="6360643" cy="6002855"/>
          </a:xfrm>
          <a:custGeom>
            <a:avLst/>
            <a:gdLst/>
            <a:ahLst/>
            <a:cxnLst/>
            <a:rect r="r" b="b" t="t" l="l"/>
            <a:pathLst>
              <a:path h="6002855" w="6360643">
                <a:moveTo>
                  <a:pt x="0" y="0"/>
                </a:moveTo>
                <a:lnTo>
                  <a:pt x="6360643" y="0"/>
                </a:lnTo>
                <a:lnTo>
                  <a:pt x="6360643" y="6002855"/>
                </a:lnTo>
                <a:lnTo>
                  <a:pt x="0" y="60028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5" r="0" b="-4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753040" y="1651826"/>
            <a:ext cx="6530340" cy="38100"/>
            <a:chOff x="0" y="0"/>
            <a:chExt cx="870712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07120" cy="50800"/>
            </a:xfrm>
            <a:custGeom>
              <a:avLst/>
              <a:gdLst/>
              <a:ahLst/>
              <a:cxnLst/>
              <a:rect r="r" b="b" t="t" l="l"/>
              <a:pathLst>
                <a:path h="50800" w="8707120">
                  <a:moveTo>
                    <a:pt x="0" y="0"/>
                  </a:moveTo>
                  <a:lnTo>
                    <a:pt x="8707120" y="50800"/>
                  </a:lnTo>
                </a:path>
              </a:pathLst>
            </a:custGeom>
            <a:blipFill>
              <a:blip r:embed="rId10">
                <a:alphaModFix amt="0"/>
              </a:blip>
              <a:stretch>
                <a:fillRect l="0" t="-3289735" r="0" b="-3289735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949794" y="6861143"/>
            <a:ext cx="1502140" cy="1126607"/>
            <a:chOff x="0" y="0"/>
            <a:chExt cx="2002854" cy="1502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2917" cy="1502156"/>
            </a:xfrm>
            <a:custGeom>
              <a:avLst/>
              <a:gdLst/>
              <a:ahLst/>
              <a:cxnLst/>
              <a:rect r="r" b="b" t="t" l="l"/>
              <a:pathLst>
                <a:path h="1502156" w="2002917">
                  <a:moveTo>
                    <a:pt x="0" y="0"/>
                  </a:moveTo>
                  <a:lnTo>
                    <a:pt x="2002917" y="0"/>
                  </a:lnTo>
                  <a:lnTo>
                    <a:pt x="2002917" y="1502156"/>
                  </a:lnTo>
                  <a:lnTo>
                    <a:pt x="0" y="1502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63948" y="6242018"/>
            <a:ext cx="6871649" cy="1681258"/>
            <a:chOff x="0" y="0"/>
            <a:chExt cx="9162199" cy="22416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62161" cy="2241677"/>
            </a:xfrm>
            <a:custGeom>
              <a:avLst/>
              <a:gdLst/>
              <a:ahLst/>
              <a:cxnLst/>
              <a:rect r="r" b="b" t="t" l="l"/>
              <a:pathLst>
                <a:path h="2241677" w="9162161">
                  <a:moveTo>
                    <a:pt x="0" y="0"/>
                  </a:moveTo>
                  <a:lnTo>
                    <a:pt x="9162161" y="0"/>
                  </a:lnTo>
                  <a:lnTo>
                    <a:pt x="9162161" y="2241677"/>
                  </a:lnTo>
                  <a:lnTo>
                    <a:pt x="0" y="2241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63126" y="5680043"/>
            <a:ext cx="4923072" cy="57150"/>
            <a:chOff x="0" y="0"/>
            <a:chExt cx="6564097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64122" cy="76200"/>
            </a:xfrm>
            <a:custGeom>
              <a:avLst/>
              <a:gdLst/>
              <a:ahLst/>
              <a:cxnLst/>
              <a:rect r="r" b="b" t="t" l="l"/>
              <a:pathLst>
                <a:path h="76200" w="6564122">
                  <a:moveTo>
                    <a:pt x="0" y="0"/>
                  </a:moveTo>
                  <a:lnTo>
                    <a:pt x="6564122" y="76200"/>
                  </a:lnTo>
                </a:path>
              </a:pathLst>
            </a:custGeom>
            <a:blipFill>
              <a:blip r:embed="rId10">
                <a:alphaModFix amt="0"/>
              </a:blip>
              <a:stretch>
                <a:fillRect l="0" t="-1628499" r="0" b="-1628499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015570" y="2086013"/>
            <a:ext cx="740254" cy="574624"/>
          </a:xfrm>
          <a:custGeom>
            <a:avLst/>
            <a:gdLst/>
            <a:ahLst/>
            <a:cxnLst/>
            <a:rect r="r" b="b" t="t" l="l"/>
            <a:pathLst>
              <a:path h="574624" w="740254">
                <a:moveTo>
                  <a:pt x="0" y="0"/>
                </a:moveTo>
                <a:lnTo>
                  <a:pt x="740254" y="0"/>
                </a:lnTo>
                <a:lnTo>
                  <a:pt x="740254" y="574624"/>
                </a:lnTo>
                <a:lnTo>
                  <a:pt x="0" y="5746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72" r="0" b="-37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73912" y="2920965"/>
            <a:ext cx="690486" cy="690486"/>
          </a:xfrm>
          <a:custGeom>
            <a:avLst/>
            <a:gdLst/>
            <a:ahLst/>
            <a:cxnLst/>
            <a:rect r="r" b="b" t="t" l="l"/>
            <a:pathLst>
              <a:path h="690486" w="690486">
                <a:moveTo>
                  <a:pt x="0" y="0"/>
                </a:moveTo>
                <a:lnTo>
                  <a:pt x="690486" y="0"/>
                </a:lnTo>
                <a:lnTo>
                  <a:pt x="690486" y="690486"/>
                </a:lnTo>
                <a:lnTo>
                  <a:pt x="0" y="69048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206044" y="3715474"/>
            <a:ext cx="809492" cy="819931"/>
          </a:xfrm>
          <a:custGeom>
            <a:avLst/>
            <a:gdLst/>
            <a:ahLst/>
            <a:cxnLst/>
            <a:rect r="r" b="b" t="t" l="l"/>
            <a:pathLst>
              <a:path h="819931" w="809492">
                <a:moveTo>
                  <a:pt x="0" y="0"/>
                </a:moveTo>
                <a:lnTo>
                  <a:pt x="809491" y="0"/>
                </a:lnTo>
                <a:lnTo>
                  <a:pt x="809491" y="819931"/>
                </a:lnTo>
                <a:lnTo>
                  <a:pt x="0" y="8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63754" y="4904337"/>
            <a:ext cx="537115" cy="813806"/>
          </a:xfrm>
          <a:custGeom>
            <a:avLst/>
            <a:gdLst/>
            <a:ahLst/>
            <a:cxnLst/>
            <a:rect r="r" b="b" t="t" l="l"/>
            <a:pathLst>
              <a:path h="813806" w="537115">
                <a:moveTo>
                  <a:pt x="0" y="0"/>
                </a:moveTo>
                <a:lnTo>
                  <a:pt x="537114" y="0"/>
                </a:lnTo>
                <a:lnTo>
                  <a:pt x="537114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211" t="0" r="-21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772090" y="678237"/>
            <a:ext cx="5359194" cy="80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6063" b="true">
                <a:solidFill>
                  <a:srgbClr val="10101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Background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9794" y="8244926"/>
            <a:ext cx="9004697" cy="5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</a:pPr>
            <a:r>
              <a:rPr lang="en-US" sz="2744" b="true">
                <a:solidFill>
                  <a:srgbClr val="1D131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83% of the revenue generation from USA market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65616" y="2118027"/>
            <a:ext cx="6650641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Accelarting adoption of crypto currency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13333" y="2183120"/>
            <a:ext cx="113610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32302" y="2880446"/>
            <a:ext cx="665064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 Financial systems for the world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82533" y="2934424"/>
            <a:ext cx="139259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75127" y="3937092"/>
            <a:ext cx="375230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0A3D8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Capitalisation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37359" y="3841842"/>
            <a:ext cx="6650641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A3D82"/>
                </a:solidFill>
                <a:latin typeface="Open Sauce"/>
                <a:ea typeface="Open Sauce"/>
                <a:cs typeface="Open Sauce"/>
                <a:sym typeface="Open Sauce"/>
              </a:rPr>
              <a:t>72.43 Billion USD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47470" y="5156168"/>
            <a:ext cx="523994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0A3D8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Revenuev Breakdown by Region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1828" y="9854698"/>
            <a:ext cx="8130483" cy="29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Source : Coinbase Global, Inc. Financial Statements – NASDAQ:COIN – TradingView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17" y="-11466443"/>
            <a:ext cx="1720910" cy="16581911"/>
          </a:xfrm>
          <a:custGeom>
            <a:avLst/>
            <a:gdLst/>
            <a:ahLst/>
            <a:cxnLst/>
            <a:rect r="r" b="b" t="t" l="l"/>
            <a:pathLst>
              <a:path h="16581911" w="1720910">
                <a:moveTo>
                  <a:pt x="0" y="0"/>
                </a:moveTo>
                <a:lnTo>
                  <a:pt x="1720910" y="0"/>
                </a:lnTo>
                <a:lnTo>
                  <a:pt x="1720910" y="16581911"/>
                </a:lnTo>
                <a:lnTo>
                  <a:pt x="0" y="1658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9095" y="9258300"/>
            <a:ext cx="1139219" cy="469925"/>
          </a:xfrm>
          <a:custGeom>
            <a:avLst/>
            <a:gdLst/>
            <a:ahLst/>
            <a:cxnLst/>
            <a:rect r="r" b="b" t="t" l="l"/>
            <a:pathLst>
              <a:path h="469925" w="1139219">
                <a:moveTo>
                  <a:pt x="1139219" y="0"/>
                </a:moveTo>
                <a:lnTo>
                  <a:pt x="0" y="0"/>
                </a:lnTo>
                <a:lnTo>
                  <a:pt x="0" y="469925"/>
                </a:lnTo>
                <a:lnTo>
                  <a:pt x="1139219" y="469925"/>
                </a:lnTo>
                <a:lnTo>
                  <a:pt x="11392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04" r="0" b="-50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8486" y="0"/>
            <a:ext cx="9144000" cy="5688378"/>
            <a:chOff x="0" y="0"/>
            <a:chExt cx="12192000" cy="7584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7584567"/>
            </a:xfrm>
            <a:custGeom>
              <a:avLst/>
              <a:gdLst/>
              <a:ahLst/>
              <a:cxnLst/>
              <a:rect r="r" b="b" t="t" l="l"/>
              <a:pathLst>
                <a:path h="758456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584567"/>
                  </a:lnTo>
                  <a:lnTo>
                    <a:pt x="0" y="758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718" r="0" b="-971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8305" y="4709074"/>
            <a:ext cx="8426491" cy="5064862"/>
            <a:chOff x="0" y="0"/>
            <a:chExt cx="11235322" cy="67531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5309" cy="6753098"/>
            </a:xfrm>
            <a:custGeom>
              <a:avLst/>
              <a:gdLst/>
              <a:ahLst/>
              <a:cxnLst/>
              <a:rect r="r" b="b" t="t" l="l"/>
              <a:pathLst>
                <a:path h="6753098" w="11235309">
                  <a:moveTo>
                    <a:pt x="0" y="0"/>
                  </a:moveTo>
                  <a:lnTo>
                    <a:pt x="11235309" y="0"/>
                  </a:lnTo>
                  <a:lnTo>
                    <a:pt x="11235309" y="6753098"/>
                  </a:lnTo>
                  <a:lnTo>
                    <a:pt x="0" y="6753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93417" y="1698974"/>
            <a:ext cx="4923072" cy="57150"/>
            <a:chOff x="0" y="0"/>
            <a:chExt cx="6564097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64122" cy="76200"/>
            </a:xfrm>
            <a:custGeom>
              <a:avLst/>
              <a:gdLst/>
              <a:ahLst/>
              <a:cxnLst/>
              <a:rect r="r" b="b" t="t" l="l"/>
              <a:pathLst>
                <a:path h="76200" w="6564122">
                  <a:moveTo>
                    <a:pt x="0" y="0"/>
                  </a:moveTo>
                  <a:lnTo>
                    <a:pt x="6564122" y="762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0" t="-1628499" r="0" b="-1628499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212391" y="186976"/>
            <a:ext cx="6536045" cy="151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4079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 MARKET STANDING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6127" y="2748944"/>
            <a:ext cx="4989566" cy="134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Coinbase hold the highest market share in USA (16%) 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535279" y="6739852"/>
            <a:ext cx="7088181" cy="90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Coinbase despite having high user base , have a growth lower than “Kraken”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2322" y="753561"/>
            <a:ext cx="14663347" cy="8504739"/>
          </a:xfrm>
          <a:custGeom>
            <a:avLst/>
            <a:gdLst/>
            <a:ahLst/>
            <a:cxnLst/>
            <a:rect r="r" b="b" t="t" l="l"/>
            <a:pathLst>
              <a:path h="8504739" w="14663347">
                <a:moveTo>
                  <a:pt x="0" y="0"/>
                </a:moveTo>
                <a:lnTo>
                  <a:pt x="14663347" y="0"/>
                </a:lnTo>
                <a:lnTo>
                  <a:pt x="14663347" y="8504739"/>
                </a:lnTo>
                <a:lnTo>
                  <a:pt x="0" y="8504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6" t="0" r="-7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3928" y="2927414"/>
            <a:ext cx="12692853" cy="141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9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 CONTEXT:  </a:t>
            </a:r>
          </a:p>
          <a:p>
            <a:pPr algn="l">
              <a:lnSpc>
                <a:spcPts val="3459"/>
              </a:lnSpc>
            </a:pPr>
            <a:r>
              <a:rPr lang="en-US" sz="2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 A Constant source of revenue outside of volatile cryptocurrency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83928" y="838200"/>
            <a:ext cx="12308119" cy="18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9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CHALLENGE:  </a:t>
            </a:r>
          </a:p>
          <a:p>
            <a:pPr algn="l">
              <a:lnSpc>
                <a:spcPts val="3598"/>
              </a:lnSpc>
            </a:pPr>
            <a:r>
              <a:rPr lang="en-US" sz="25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 THE MARKET DYNAMICS OF CRYPTOCURRENCY IS HIGHLY VOLATILE, FIRMS ARE IN CONSTANT SEARCH OF STRATEGIES TO ENHANCE THEIR PROFITABILITY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83928" y="4608738"/>
            <a:ext cx="13385378" cy="194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9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ANALYSIS:  </a:t>
            </a:r>
          </a:p>
          <a:p>
            <a:pPr algn="l">
              <a:lnSpc>
                <a:spcPts val="3879"/>
              </a:lnSpc>
            </a:pPr>
            <a:r>
              <a:rPr lang="en-US" sz="27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INCREASE IN CONSUMER BASE VERSUS THE MARKET DYNAMIC AFFECTING PROFITABILITY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05979" y="7220969"/>
            <a:ext cx="892492" cy="702840"/>
          </a:xfrm>
          <a:custGeom>
            <a:avLst/>
            <a:gdLst/>
            <a:ahLst/>
            <a:cxnLst/>
            <a:rect r="r" b="b" t="t" l="l"/>
            <a:pathLst>
              <a:path h="702840" w="892492">
                <a:moveTo>
                  <a:pt x="0" y="0"/>
                </a:moveTo>
                <a:lnTo>
                  <a:pt x="892492" y="0"/>
                </a:lnTo>
                <a:lnTo>
                  <a:pt x="892492" y="702840"/>
                </a:lnTo>
                <a:lnTo>
                  <a:pt x="0" y="70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" t="0" r="-1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89140" y="7103878"/>
            <a:ext cx="809492" cy="819931"/>
          </a:xfrm>
          <a:custGeom>
            <a:avLst/>
            <a:gdLst/>
            <a:ahLst/>
            <a:cxnLst/>
            <a:rect r="r" b="b" t="t" l="l"/>
            <a:pathLst>
              <a:path h="819931" w="809492">
                <a:moveTo>
                  <a:pt x="0" y="0"/>
                </a:moveTo>
                <a:lnTo>
                  <a:pt x="809492" y="0"/>
                </a:lnTo>
                <a:lnTo>
                  <a:pt x="809492" y="819931"/>
                </a:lnTo>
                <a:lnTo>
                  <a:pt x="0" y="819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08226" y="6784924"/>
            <a:ext cx="1340663" cy="1574930"/>
          </a:xfrm>
          <a:custGeom>
            <a:avLst/>
            <a:gdLst/>
            <a:ahLst/>
            <a:cxnLst/>
            <a:rect r="r" b="b" t="t" l="l"/>
            <a:pathLst>
              <a:path h="1574930" w="1340663">
                <a:moveTo>
                  <a:pt x="0" y="0"/>
                </a:moveTo>
                <a:lnTo>
                  <a:pt x="1340663" y="0"/>
                </a:lnTo>
                <a:lnTo>
                  <a:pt x="1340663" y="1574930"/>
                </a:lnTo>
                <a:lnTo>
                  <a:pt x="0" y="1574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8" r="0" b="-10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98304" y="7220969"/>
            <a:ext cx="1428731" cy="726872"/>
          </a:xfrm>
          <a:custGeom>
            <a:avLst/>
            <a:gdLst/>
            <a:ahLst/>
            <a:cxnLst/>
            <a:rect r="r" b="b" t="t" l="l"/>
            <a:pathLst>
              <a:path h="726872" w="1428731">
                <a:moveTo>
                  <a:pt x="0" y="0"/>
                </a:moveTo>
                <a:lnTo>
                  <a:pt x="1428731" y="0"/>
                </a:lnTo>
                <a:lnTo>
                  <a:pt x="1428731" y="726872"/>
                </a:lnTo>
                <a:lnTo>
                  <a:pt x="0" y="726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16" r="0" b="-11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91770" y="7923809"/>
            <a:ext cx="39209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Consumers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3441" y="7923809"/>
            <a:ext cx="39209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Revenue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954644" y="7150408"/>
            <a:ext cx="1428731" cy="726872"/>
          </a:xfrm>
          <a:custGeom>
            <a:avLst/>
            <a:gdLst/>
            <a:ahLst/>
            <a:cxnLst/>
            <a:rect r="r" b="b" t="t" l="l"/>
            <a:pathLst>
              <a:path h="726872" w="1428731">
                <a:moveTo>
                  <a:pt x="0" y="0"/>
                </a:moveTo>
                <a:lnTo>
                  <a:pt x="1428731" y="0"/>
                </a:lnTo>
                <a:lnTo>
                  <a:pt x="1428731" y="726872"/>
                </a:lnTo>
                <a:lnTo>
                  <a:pt x="0" y="726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16" r="0" b="-115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701" y="1994649"/>
            <a:ext cx="4923072" cy="57150"/>
            <a:chOff x="0" y="0"/>
            <a:chExt cx="6564097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64122" cy="76200"/>
            </a:xfrm>
            <a:custGeom>
              <a:avLst/>
              <a:gdLst/>
              <a:ahLst/>
              <a:cxnLst/>
              <a:rect r="r" b="b" t="t" l="l"/>
              <a:pathLst>
                <a:path h="76200" w="6564122">
                  <a:moveTo>
                    <a:pt x="0" y="0"/>
                  </a:moveTo>
                  <a:lnTo>
                    <a:pt x="6564122" y="762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28499" r="0" b="-1628499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23128" y="2252177"/>
            <a:ext cx="16672817" cy="7657614"/>
            <a:chOff x="0" y="0"/>
            <a:chExt cx="22230423" cy="10210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30462" cy="10210165"/>
            </a:xfrm>
            <a:custGeom>
              <a:avLst/>
              <a:gdLst/>
              <a:ahLst/>
              <a:cxnLst/>
              <a:rect r="r" b="b" t="t" l="l"/>
              <a:pathLst>
                <a:path h="10210165" w="22230462">
                  <a:moveTo>
                    <a:pt x="0" y="0"/>
                  </a:moveTo>
                  <a:lnTo>
                    <a:pt x="22230462" y="0"/>
                  </a:lnTo>
                  <a:lnTo>
                    <a:pt x="22230462" y="10210165"/>
                  </a:lnTo>
                  <a:lnTo>
                    <a:pt x="0" y="1021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236" r="0" b="-1123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81050"/>
            <a:ext cx="15309056" cy="121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9"/>
              </a:lnSpc>
            </a:pPr>
            <a:r>
              <a:rPr lang="en-US" sz="63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FINANCIAL HEALTH 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1947" y="122958"/>
            <a:ext cx="19728732" cy="9135342"/>
            <a:chOff x="0" y="0"/>
            <a:chExt cx="26304977" cy="12180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05002" cy="12180443"/>
            </a:xfrm>
            <a:custGeom>
              <a:avLst/>
              <a:gdLst/>
              <a:ahLst/>
              <a:cxnLst/>
              <a:rect r="r" b="b" t="t" l="l"/>
              <a:pathLst>
                <a:path h="12180443" w="26305002">
                  <a:moveTo>
                    <a:pt x="0" y="0"/>
                  </a:moveTo>
                  <a:lnTo>
                    <a:pt x="26305002" y="0"/>
                  </a:lnTo>
                  <a:lnTo>
                    <a:pt x="26305002" y="12180443"/>
                  </a:lnTo>
                  <a:lnTo>
                    <a:pt x="0" y="12180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738" r="0" b="-1073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185" y="195872"/>
            <a:ext cx="18088508" cy="9895256"/>
            <a:chOff x="0" y="0"/>
            <a:chExt cx="24118011" cy="13193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18063" cy="13193649"/>
            </a:xfrm>
            <a:custGeom>
              <a:avLst/>
              <a:gdLst/>
              <a:ahLst/>
              <a:cxnLst/>
              <a:rect r="r" b="b" t="t" l="l"/>
              <a:pathLst>
                <a:path h="13193649" w="24118063">
                  <a:moveTo>
                    <a:pt x="0" y="0"/>
                  </a:moveTo>
                  <a:lnTo>
                    <a:pt x="24118063" y="0"/>
                  </a:lnTo>
                  <a:lnTo>
                    <a:pt x="24118063" y="13193649"/>
                  </a:lnTo>
                  <a:lnTo>
                    <a:pt x="0" y="13193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12" r="0" b="-141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42659"/>
            <a:ext cx="18612164" cy="10035540"/>
            <a:chOff x="0" y="0"/>
            <a:chExt cx="24816219" cy="1338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16181" cy="13380720"/>
            </a:xfrm>
            <a:custGeom>
              <a:avLst/>
              <a:gdLst/>
              <a:ahLst/>
              <a:cxnLst/>
              <a:rect r="r" b="b" t="t" l="l"/>
              <a:pathLst>
                <a:path h="13380720" w="24816181">
                  <a:moveTo>
                    <a:pt x="0" y="0"/>
                  </a:moveTo>
                  <a:lnTo>
                    <a:pt x="24816181" y="0"/>
                  </a:lnTo>
                  <a:lnTo>
                    <a:pt x="24816181" y="13380720"/>
                  </a:lnTo>
                  <a:lnTo>
                    <a:pt x="0" y="1338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61" r="0" b="-216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971" y="112719"/>
            <a:ext cx="18840412" cy="9641319"/>
            <a:chOff x="0" y="0"/>
            <a:chExt cx="25120549" cy="12855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20600" cy="12855067"/>
            </a:xfrm>
            <a:custGeom>
              <a:avLst/>
              <a:gdLst/>
              <a:ahLst/>
              <a:cxnLst/>
              <a:rect r="r" b="b" t="t" l="l"/>
              <a:pathLst>
                <a:path h="12855067" w="25120600">
                  <a:moveTo>
                    <a:pt x="0" y="0"/>
                  </a:moveTo>
                  <a:lnTo>
                    <a:pt x="25120600" y="0"/>
                  </a:lnTo>
                  <a:lnTo>
                    <a:pt x="25120600" y="12855067"/>
                  </a:lnTo>
                  <a:lnTo>
                    <a:pt x="0" y="12855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59" r="0" b="-496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3002" y="-114652"/>
            <a:ext cx="19074003" cy="10516314"/>
            <a:chOff x="0" y="0"/>
            <a:chExt cx="25432004" cy="14021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32004" cy="14021688"/>
            </a:xfrm>
            <a:custGeom>
              <a:avLst/>
              <a:gdLst/>
              <a:ahLst/>
              <a:cxnLst/>
              <a:rect r="r" b="b" t="t" l="l"/>
              <a:pathLst>
                <a:path h="14021688" w="25432004">
                  <a:moveTo>
                    <a:pt x="0" y="0"/>
                  </a:moveTo>
                  <a:lnTo>
                    <a:pt x="25432004" y="0"/>
                  </a:lnTo>
                  <a:lnTo>
                    <a:pt x="25432004" y="14021688"/>
                  </a:lnTo>
                  <a:lnTo>
                    <a:pt x="0" y="14021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11" r="0" b="-101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052" y="1504436"/>
            <a:ext cx="17297905" cy="6911140"/>
            <a:chOff x="0" y="0"/>
            <a:chExt cx="23063873" cy="9214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3836" cy="9214866"/>
            </a:xfrm>
            <a:custGeom>
              <a:avLst/>
              <a:gdLst/>
              <a:ahLst/>
              <a:cxnLst/>
              <a:rect r="r" b="b" t="t" l="l"/>
              <a:pathLst>
                <a:path h="9214866" w="23063836">
                  <a:moveTo>
                    <a:pt x="0" y="0"/>
                  </a:moveTo>
                  <a:lnTo>
                    <a:pt x="23063836" y="0"/>
                  </a:lnTo>
                  <a:lnTo>
                    <a:pt x="23063836" y="9214866"/>
                  </a:lnTo>
                  <a:lnTo>
                    <a:pt x="0" y="9214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7" r="0" b="-33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9768" y="0"/>
            <a:ext cx="19257750" cy="9844783"/>
            <a:chOff x="0" y="0"/>
            <a:chExt cx="25677000" cy="1312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76988" cy="13126338"/>
            </a:xfrm>
            <a:custGeom>
              <a:avLst/>
              <a:gdLst/>
              <a:ahLst/>
              <a:cxnLst/>
              <a:rect r="r" b="b" t="t" l="l"/>
              <a:pathLst>
                <a:path h="13126338" w="25676988">
                  <a:moveTo>
                    <a:pt x="0" y="0"/>
                  </a:moveTo>
                  <a:lnTo>
                    <a:pt x="25676988" y="0"/>
                  </a:lnTo>
                  <a:lnTo>
                    <a:pt x="25676988" y="13126338"/>
                  </a:lnTo>
                  <a:lnTo>
                    <a:pt x="0" y="13126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016" r="0" b="-5016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2904" y="-398945"/>
            <a:ext cx="19423370" cy="9111091"/>
            <a:chOff x="0" y="0"/>
            <a:chExt cx="25897827" cy="121481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897839" cy="12148058"/>
            </a:xfrm>
            <a:custGeom>
              <a:avLst/>
              <a:gdLst/>
              <a:ahLst/>
              <a:cxnLst/>
              <a:rect r="r" b="b" t="t" l="l"/>
              <a:pathLst>
                <a:path h="12148058" w="25897839">
                  <a:moveTo>
                    <a:pt x="0" y="0"/>
                  </a:moveTo>
                  <a:lnTo>
                    <a:pt x="25897839" y="0"/>
                  </a:lnTo>
                  <a:lnTo>
                    <a:pt x="25897839" y="12148058"/>
                  </a:lnTo>
                  <a:lnTo>
                    <a:pt x="0" y="12148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957" r="0" b="-99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9982" y="9014917"/>
            <a:ext cx="98583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Growth in the balance sheet despite the 2022 crash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5978" y="832590"/>
            <a:ext cx="17449838" cy="6493469"/>
            <a:chOff x="0" y="0"/>
            <a:chExt cx="23266451" cy="8657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8657971"/>
            </a:xfrm>
            <a:custGeom>
              <a:avLst/>
              <a:gdLst/>
              <a:ahLst/>
              <a:cxnLst/>
              <a:rect r="r" b="b" t="t" l="l"/>
              <a:pathLst>
                <a:path h="8657971" w="23266400">
                  <a:moveTo>
                    <a:pt x="0" y="0"/>
                  </a:moveTo>
                  <a:lnTo>
                    <a:pt x="23266400" y="0"/>
                  </a:lnTo>
                  <a:lnTo>
                    <a:pt x="23266400" y="8657971"/>
                  </a:lnTo>
                  <a:lnTo>
                    <a:pt x="0" y="865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882" r="0" b="-188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5978" y="7211758"/>
            <a:ext cx="1744983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Coinbase has a steady rising free cashflow to invest which is showing a stable growth since the 2022 crash, but as the crypto market is volatile it poses a threat to continous growth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4820" y="2079288"/>
            <a:ext cx="10498350" cy="6128414"/>
            <a:chOff x="0" y="0"/>
            <a:chExt cx="13997800" cy="81712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97812" cy="8171180"/>
            </a:xfrm>
            <a:custGeom>
              <a:avLst/>
              <a:gdLst/>
              <a:ahLst/>
              <a:cxnLst/>
              <a:rect r="r" b="b" t="t" l="l"/>
              <a:pathLst>
                <a:path h="8171180" w="13997812">
                  <a:moveTo>
                    <a:pt x="0" y="0"/>
                  </a:moveTo>
                  <a:lnTo>
                    <a:pt x="13997812" y="0"/>
                  </a:lnTo>
                  <a:lnTo>
                    <a:pt x="13997812" y="8171180"/>
                  </a:lnTo>
                  <a:lnTo>
                    <a:pt x="0" y="817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" r="0" b="-15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3370" y="1965017"/>
            <a:ext cx="11301260" cy="6356956"/>
            <a:chOff x="0" y="0"/>
            <a:chExt cx="15068347" cy="8475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8296" cy="8475980"/>
            </a:xfrm>
            <a:custGeom>
              <a:avLst/>
              <a:gdLst/>
              <a:ahLst/>
              <a:cxnLst/>
              <a:rect r="r" b="b" t="t" l="l"/>
              <a:pathLst>
                <a:path h="8475980" w="15068296">
                  <a:moveTo>
                    <a:pt x="0" y="0"/>
                  </a:moveTo>
                  <a:lnTo>
                    <a:pt x="15068296" y="0"/>
                  </a:lnTo>
                  <a:lnTo>
                    <a:pt x="15068296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" t="0" r="-1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2652" y="1817703"/>
            <a:ext cx="11202695" cy="6651603"/>
            <a:chOff x="0" y="0"/>
            <a:chExt cx="14936927" cy="8868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6978" cy="8868791"/>
            </a:xfrm>
            <a:custGeom>
              <a:avLst/>
              <a:gdLst/>
              <a:ahLst/>
              <a:cxnLst/>
              <a:rect r="r" b="b" t="t" l="l"/>
              <a:pathLst>
                <a:path h="8868791" w="14936978">
                  <a:moveTo>
                    <a:pt x="0" y="0"/>
                  </a:moveTo>
                  <a:lnTo>
                    <a:pt x="14936978" y="0"/>
                  </a:lnTo>
                  <a:lnTo>
                    <a:pt x="14936978" y="8868791"/>
                  </a:lnTo>
                  <a:lnTo>
                    <a:pt x="0" y="8868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0" y="2000250"/>
            <a:ext cx="3143250" cy="3143250"/>
            <a:chOff x="0" y="0"/>
            <a:chExt cx="4191000" cy="419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2C92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50" y="1349273"/>
            <a:ext cx="3143250" cy="3794227"/>
            <a:chOff x="0" y="0"/>
            <a:chExt cx="4191000" cy="50589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5058966"/>
            </a:xfrm>
            <a:custGeom>
              <a:avLst/>
              <a:gdLst/>
              <a:ahLst/>
              <a:cxnLst/>
              <a:rect r="r" b="b" t="t" l="l"/>
              <a:pathLst>
                <a:path h="5058966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058966"/>
                  </a:lnTo>
                  <a:lnTo>
                    <a:pt x="0" y="50589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75" t="0" r="-1048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71450"/>
              <a:ext cx="4191000" cy="523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318"/>
                </a:lnSpc>
              </a:pPr>
              <a:r>
                <a:rPr lang="en-US" sz="8799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6039698" y="4480189"/>
            <a:ext cx="624364" cy="702250"/>
          </a:xfrm>
          <a:custGeom>
            <a:avLst/>
            <a:gdLst/>
            <a:ahLst/>
            <a:cxnLst/>
            <a:rect r="r" b="b" t="t" l="l"/>
            <a:pathLst>
              <a:path h="702250" w="624364">
                <a:moveTo>
                  <a:pt x="0" y="0"/>
                </a:moveTo>
                <a:lnTo>
                  <a:pt x="624363" y="0"/>
                </a:lnTo>
                <a:lnTo>
                  <a:pt x="624363" y="702249"/>
                </a:lnTo>
                <a:lnTo>
                  <a:pt x="0" y="702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7" t="0" r="-15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81902"/>
            <a:ext cx="4191000" cy="47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799" spc="83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STRENGTHS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77376"/>
            <a:ext cx="4529328" cy="235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Institutional growth +122% QoQ.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Regulatory licenses in 3 key emerging markets.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44.7% EBITDA margin enables self-funded growth.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5400" y="2391908"/>
            <a:ext cx="4191000" cy="47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799" spc="83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WEAKNESSES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25400" y="3182645"/>
            <a:ext cx="4952228" cy="157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Still heavily reliant on USA market for core LTV ($56.5K).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Institutional onboarding friction vs retail simplicity.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00938"/>
            <a:ext cx="4191000" cy="47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799" spc="83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OPPORTUNITIES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96413"/>
            <a:ext cx="4191000" cy="235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700M Population in SE Asia uncaptured.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Expanding "Subscription" mix beyond 42%.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Path to $9.2B Revenue in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3816" y="5991463"/>
            <a:ext cx="4191000" cy="47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799" spc="83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THREATS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3816" y="6586938"/>
            <a:ext cx="4191000" cy="157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Regulatory shifts in non-partnered regions.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 spc="32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Low-cost unregulated offshore exchanges.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00750" y="5143500"/>
            <a:ext cx="3143250" cy="3143250"/>
            <a:chOff x="0" y="0"/>
            <a:chExt cx="4191000" cy="419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37C9E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00750" y="4492523"/>
            <a:ext cx="3143250" cy="3794227"/>
            <a:chOff x="0" y="0"/>
            <a:chExt cx="4191000" cy="50589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91000" cy="5058966"/>
            </a:xfrm>
            <a:custGeom>
              <a:avLst/>
              <a:gdLst/>
              <a:ahLst/>
              <a:cxnLst/>
              <a:rect r="r" b="b" t="t" l="l"/>
              <a:pathLst>
                <a:path h="5058966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058966"/>
                  </a:lnTo>
                  <a:lnTo>
                    <a:pt x="0" y="50589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75" t="0" r="-10487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71450"/>
              <a:ext cx="4191000" cy="523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318"/>
                </a:lnSpc>
              </a:pPr>
              <a:r>
                <a:rPr lang="en-US" sz="8799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10800000">
            <a:off x="8519636" y="7584500"/>
            <a:ext cx="624364" cy="702250"/>
          </a:xfrm>
          <a:custGeom>
            <a:avLst/>
            <a:gdLst/>
            <a:ahLst/>
            <a:cxnLst/>
            <a:rect r="r" b="b" t="t" l="l"/>
            <a:pathLst>
              <a:path h="702250" w="624364">
                <a:moveTo>
                  <a:pt x="0" y="0"/>
                </a:moveTo>
                <a:lnTo>
                  <a:pt x="624364" y="0"/>
                </a:lnTo>
                <a:lnTo>
                  <a:pt x="624364" y="702250"/>
                </a:lnTo>
                <a:lnTo>
                  <a:pt x="0" y="70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7" t="0" r="-158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2000250"/>
            <a:ext cx="3143250" cy="3143250"/>
            <a:chOff x="0" y="0"/>
            <a:chExt cx="4191000" cy="419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37C9E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0" y="1349273"/>
            <a:ext cx="3143250" cy="3794227"/>
            <a:chOff x="0" y="0"/>
            <a:chExt cx="4191000" cy="50589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91000" cy="5058966"/>
            </a:xfrm>
            <a:custGeom>
              <a:avLst/>
              <a:gdLst/>
              <a:ahLst/>
              <a:cxnLst/>
              <a:rect r="r" b="b" t="t" l="l"/>
              <a:pathLst>
                <a:path h="5058966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058966"/>
                  </a:lnTo>
                  <a:lnTo>
                    <a:pt x="0" y="50589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75" t="0" r="-10487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71450"/>
              <a:ext cx="4191000" cy="523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318"/>
                </a:lnSpc>
              </a:pPr>
              <a:r>
                <a:rPr lang="en-US" sz="8799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144000" y="2000250"/>
            <a:ext cx="624364" cy="702250"/>
          </a:xfrm>
          <a:custGeom>
            <a:avLst/>
            <a:gdLst/>
            <a:ahLst/>
            <a:cxnLst/>
            <a:rect r="r" b="b" t="t" l="l"/>
            <a:pathLst>
              <a:path h="702250" w="624364">
                <a:moveTo>
                  <a:pt x="0" y="0"/>
                </a:moveTo>
                <a:lnTo>
                  <a:pt x="624364" y="0"/>
                </a:lnTo>
                <a:lnTo>
                  <a:pt x="624364" y="702250"/>
                </a:lnTo>
                <a:lnTo>
                  <a:pt x="0" y="70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7" t="0" r="-158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144000" y="5143500"/>
            <a:ext cx="3143250" cy="3143250"/>
            <a:chOff x="0" y="0"/>
            <a:chExt cx="4191000" cy="419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2C92D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4492523"/>
            <a:ext cx="3143250" cy="3794227"/>
            <a:chOff x="0" y="0"/>
            <a:chExt cx="4191000" cy="50589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91000" cy="5058966"/>
            </a:xfrm>
            <a:custGeom>
              <a:avLst/>
              <a:gdLst/>
              <a:ahLst/>
              <a:cxnLst/>
              <a:rect r="r" b="b" t="t" l="l"/>
              <a:pathLst>
                <a:path h="5058966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058966"/>
                  </a:lnTo>
                  <a:lnTo>
                    <a:pt x="0" y="50589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75" t="0" r="-10487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71450"/>
              <a:ext cx="4191000" cy="523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318"/>
                </a:lnSpc>
              </a:pPr>
              <a:r>
                <a:rPr lang="en-US" sz="8799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5400000">
            <a:off x="11623939" y="5104552"/>
            <a:ext cx="624364" cy="702250"/>
          </a:xfrm>
          <a:custGeom>
            <a:avLst/>
            <a:gdLst/>
            <a:ahLst/>
            <a:cxnLst/>
            <a:rect r="r" b="b" t="t" l="l"/>
            <a:pathLst>
              <a:path h="702250" w="624364">
                <a:moveTo>
                  <a:pt x="0" y="0"/>
                </a:moveTo>
                <a:lnTo>
                  <a:pt x="624363" y="0"/>
                </a:lnTo>
                <a:lnTo>
                  <a:pt x="624363" y="702250"/>
                </a:lnTo>
                <a:lnTo>
                  <a:pt x="0" y="70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7" t="0" r="-158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043058" y="299980"/>
            <a:ext cx="10826258" cy="120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</a:pPr>
            <a:r>
              <a:rPr lang="en-US" sz="63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SWOT ANALYSIS 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84026" y="1452620"/>
            <a:ext cx="4923072" cy="57150"/>
            <a:chOff x="0" y="0"/>
            <a:chExt cx="6564097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64122" cy="76200"/>
            </a:xfrm>
            <a:custGeom>
              <a:avLst/>
              <a:gdLst/>
              <a:ahLst/>
              <a:cxnLst/>
              <a:rect r="r" b="b" t="t" l="l"/>
              <a:pathLst>
                <a:path h="76200" w="6564122">
                  <a:moveTo>
                    <a:pt x="0" y="0"/>
                  </a:moveTo>
                  <a:lnTo>
                    <a:pt x="6564122" y="762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28499" r="0" b="-1628499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830" y="2956141"/>
            <a:ext cx="2247719" cy="1609935"/>
          </a:xfrm>
          <a:custGeom>
            <a:avLst/>
            <a:gdLst/>
            <a:ahLst/>
            <a:cxnLst/>
            <a:rect r="r" b="b" t="t" l="l"/>
            <a:pathLst>
              <a:path h="1609935" w="2247719">
                <a:moveTo>
                  <a:pt x="0" y="0"/>
                </a:moveTo>
                <a:lnTo>
                  <a:pt x="2247719" y="0"/>
                </a:lnTo>
                <a:lnTo>
                  <a:pt x="2247719" y="1609934"/>
                </a:lnTo>
                <a:lnTo>
                  <a:pt x="0" y="1609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3" r="0" b="-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1673" y="1028700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0" y="0"/>
                </a:lnTo>
                <a:lnTo>
                  <a:pt x="508520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55933" y="1061885"/>
            <a:ext cx="10010175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298" b="true">
                <a:solidFill>
                  <a:srgbClr val="C050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Geographic expansion in emerging markets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739820">
            <a:off x="16354454" y="931993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0" y="0"/>
                </a:lnTo>
                <a:lnTo>
                  <a:pt x="508520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2173" y="5626732"/>
            <a:ext cx="14022105" cy="5380977"/>
          </a:xfrm>
          <a:custGeom>
            <a:avLst/>
            <a:gdLst/>
            <a:ahLst/>
            <a:cxnLst/>
            <a:rect r="r" b="b" t="t" l="l"/>
            <a:pathLst>
              <a:path h="5380977" w="14022105">
                <a:moveTo>
                  <a:pt x="0" y="0"/>
                </a:moveTo>
                <a:lnTo>
                  <a:pt x="14022105" y="0"/>
                </a:lnTo>
                <a:lnTo>
                  <a:pt x="14022105" y="5380977"/>
                </a:lnTo>
                <a:lnTo>
                  <a:pt x="0" y="5380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5" r="0" b="-6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6566" y="432330"/>
            <a:ext cx="4162692" cy="167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45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8634" y="4444365"/>
            <a:ext cx="3019025" cy="49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b="true" sz="2900" spc="87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LATIN AMERICA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0184" y="3870646"/>
            <a:ext cx="1289518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b="true" sz="2999">
                <a:solidFill>
                  <a:srgbClr val="10101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165M crypto users with a very fragmented exchange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1815" y="2841841"/>
            <a:ext cx="195848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0403" y="3646808"/>
            <a:ext cx="395979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SOUTHEAST ASIA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0184" y="2675249"/>
            <a:ext cx="1117781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b="true" sz="2999">
                <a:solidFill>
                  <a:srgbClr val="10101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Has 300 M+ population and minimal coinbase presence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10184" y="4361183"/>
            <a:ext cx="1117781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b="true" sz="2999">
                <a:solidFill>
                  <a:srgbClr val="10101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Hyperinflation driving crypto adoptio 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12549" y="6875012"/>
            <a:ext cx="1206024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10101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Leverage on Coinbase’s  compliance and product offerings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9499" y="8202930"/>
            <a:ext cx="1306744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Impact: 50-80M new addressable users within 12 months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842173" y="8136064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1" y="0"/>
                </a:lnTo>
                <a:lnTo>
                  <a:pt x="508521" y="362322"/>
                </a:lnTo>
                <a:lnTo>
                  <a:pt x="0" y="362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739820">
            <a:off x="15132682" y="8131645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1" y="0"/>
                </a:lnTo>
                <a:lnTo>
                  <a:pt x="508521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39257" y="6290939"/>
            <a:ext cx="632646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C050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CAMPAIGN DELIVERABLES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1128" y="486089"/>
            <a:ext cx="4162692" cy="167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4570">
                <a:solidFill>
                  <a:srgbClr val="0A3D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 STRATEGY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13820" y="1589008"/>
            <a:ext cx="12700235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 are 3x more likely than women to invest in crypto</a:t>
            </a:r>
          </a:p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Research state 30% increase in participation among women after training on crypto currency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3820" y="3991870"/>
            <a:ext cx="1270023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competitor has targeted women-specific marketing, this way we can create a new niche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8837" y="2643730"/>
            <a:ext cx="2579456" cy="1847536"/>
          </a:xfrm>
          <a:custGeom>
            <a:avLst/>
            <a:gdLst/>
            <a:ahLst/>
            <a:cxnLst/>
            <a:rect r="r" b="b" t="t" l="l"/>
            <a:pathLst>
              <a:path h="1847536" w="2579456">
                <a:moveTo>
                  <a:pt x="0" y="0"/>
                </a:moveTo>
                <a:lnTo>
                  <a:pt x="2579456" y="0"/>
                </a:lnTo>
                <a:lnTo>
                  <a:pt x="2579456" y="1847536"/>
                </a:lnTo>
                <a:lnTo>
                  <a:pt x="0" y="184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6" t="0" r="-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39105" y="646747"/>
            <a:ext cx="10010175" cy="64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C050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Women Centric Campaign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14213" y="674637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1" y="0"/>
                </a:lnTo>
                <a:lnTo>
                  <a:pt x="508521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739820">
            <a:off x="13586622" y="661959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1" y="0"/>
                </a:lnTo>
                <a:lnTo>
                  <a:pt x="508521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337077"/>
            <a:ext cx="16785346" cy="6441376"/>
          </a:xfrm>
          <a:custGeom>
            <a:avLst/>
            <a:gdLst/>
            <a:ahLst/>
            <a:cxnLst/>
            <a:rect r="r" b="b" t="t" l="l"/>
            <a:pathLst>
              <a:path h="6441376" w="16785346">
                <a:moveTo>
                  <a:pt x="0" y="0"/>
                </a:moveTo>
                <a:lnTo>
                  <a:pt x="16785346" y="0"/>
                </a:lnTo>
                <a:lnTo>
                  <a:pt x="16785346" y="6441376"/>
                </a:lnTo>
                <a:lnTo>
                  <a:pt x="0" y="6441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3" r="0" b="-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7074" y="9144000"/>
            <a:ext cx="1039386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Impact: 2–3M women users within 12 months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4238" y="6161742"/>
            <a:ext cx="1314270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Dedicated education + community partnerships + referral incentives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7074" y="6740928"/>
            <a:ext cx="879564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YouTube/TikTok channel: "Women in Crypto"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7074" y="7314276"/>
            <a:ext cx="1237920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Topics: "Investing 101 for Women," "Staking Explained," "How to Spot Scams," "Generational Wealth with Bitcoin"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79781" y="8933193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1" y="0"/>
                </a:lnTo>
                <a:lnTo>
                  <a:pt x="508521" y="362321"/>
                </a:lnTo>
                <a:lnTo>
                  <a:pt x="0" y="362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739820">
            <a:off x="14523349" y="9015698"/>
            <a:ext cx="508521" cy="362321"/>
          </a:xfrm>
          <a:custGeom>
            <a:avLst/>
            <a:gdLst/>
            <a:ahLst/>
            <a:cxnLst/>
            <a:rect r="r" b="b" t="t" l="l"/>
            <a:pathLst>
              <a:path h="362321" w="508521">
                <a:moveTo>
                  <a:pt x="0" y="0"/>
                </a:moveTo>
                <a:lnTo>
                  <a:pt x="508520" y="0"/>
                </a:lnTo>
                <a:lnTo>
                  <a:pt x="508520" y="362322"/>
                </a:lnTo>
                <a:lnTo>
                  <a:pt x="0" y="362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3" r="0" b="-68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6609417"/>
            <a:ext cx="32797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 b="true">
                <a:solidFill>
                  <a:srgbClr val="C050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CAMPAIGN DELIVERABLES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3820" y="3217793"/>
            <a:ext cx="1157775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76" indent="-228559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campaign creates a differentiation for Coinbase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7022" y="4301138"/>
            <a:ext cx="13422278" cy="176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0"/>
              </a:lnSpc>
            </a:pPr>
            <a:r>
              <a:rPr lang="en-US" b="true" sz="26014" i="true" spc="-3850">
                <a:solidFill>
                  <a:srgbClr val="7F8F9D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70226" y="5768711"/>
            <a:ext cx="11320605" cy="166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4"/>
              </a:lnSpc>
            </a:pPr>
            <a:r>
              <a:rPr lang="en-US" sz="14900" i="true" spc="-670">
                <a:solidFill>
                  <a:srgbClr val="142144"/>
                </a:solidFill>
                <a:latin typeface="ITC Benguiat Italics"/>
                <a:ea typeface="ITC Benguiat Italics"/>
                <a:cs typeface="ITC Benguiat Italics"/>
                <a:sym typeface="ITC Benguiat Italics"/>
              </a:rPr>
              <a:t>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DAHK_-gULf0</dc:identifier>
  <dcterms:modified xsi:type="dcterms:W3CDTF">2011-08-01T06:04:30Z</dcterms:modified>
  <cp:revision>1</cp:revision>
  <dc:title>Coinbase Financial Performance Analysis | TCS ELL</dc:title>
</cp:coreProperties>
</file>