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1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Arimo Bold" charset="1" panose="020B0704020202020204"/>
      <p:regular r:id="rId24"/>
    </p:embeddedFont>
    <p:embeddedFont>
      <p:font typeface="Open Sans Bold" charset="1" panose="00000000000000000000"/>
      <p:regular r:id="rId25"/>
    </p:embeddedFont>
    <p:embeddedFont>
      <p:font typeface="Open Sans" charset="1" panose="00000000000000000000"/>
      <p:regular r:id="rId26"/>
    </p:embeddedFont>
    <p:embeddedFont>
      <p:font typeface="Arimo" charset="1" panose="020B0604020202020204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notesMasters/notesMaster1.xml" Type="http://schemas.openxmlformats.org/officeDocument/2006/relationships/notesMaster"/><Relationship Id="rId22" Target="theme/theme2.xml" Type="http://schemas.openxmlformats.org/officeDocument/2006/relationships/theme"/><Relationship Id="rId23" Target="notesSlides/notesSlide1.xml" Type="http://schemas.openxmlformats.org/officeDocument/2006/relationships/notes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notesSlides/notesSlide2.xml" Type="http://schemas.openxmlformats.org/officeDocument/2006/relationships/notesSlide"/><Relationship Id="rId28" Target="notesSlides/notesSlide3.xml" Type="http://schemas.openxmlformats.org/officeDocument/2006/relationships/notesSlide"/><Relationship Id="rId29" Target="notesSlides/notesSlide4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5.xml" Type="http://schemas.openxmlformats.org/officeDocument/2006/relationships/notesSlide"/><Relationship Id="rId31" Target="fonts/font31.fntdata" Type="http://schemas.openxmlformats.org/officeDocument/2006/relationships/font"/><Relationship Id="rId32" Target="notesSlides/notesSlide6.xml" Type="http://schemas.openxmlformats.org/officeDocument/2006/relationships/notesSlide"/><Relationship Id="rId33" Target="notesSlides/notesSlide7.xml" Type="http://schemas.openxmlformats.org/officeDocument/2006/relationships/notesSlide"/><Relationship Id="rId34" Target="notesSlides/notesSlide8.xml" Type="http://schemas.openxmlformats.org/officeDocument/2006/relationships/notesSlide"/><Relationship Id="rId35" Target="notesSlides/notesSlide9.xml" Type="http://schemas.openxmlformats.org/officeDocument/2006/relationships/notesSlide"/><Relationship Id="rId36" Target="notesSlides/notesSlide10.xml" Type="http://schemas.openxmlformats.org/officeDocument/2006/relationships/notesSlide"/><Relationship Id="rId37" Target="notesSlides/notesSlide11.xml" Type="http://schemas.openxmlformats.org/officeDocument/2006/relationships/notesSlide"/><Relationship Id="rId38" Target="notesSlides/notesSlide12.xml" Type="http://schemas.openxmlformats.org/officeDocument/2006/relationships/notesSlide"/><Relationship Id="rId39" Target="notesSlides/notesSlide13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14.xml" Type="http://schemas.openxmlformats.org/officeDocument/2006/relationships/notesSlide"/><Relationship Id="rId41" Target="notesSlides/notesSlide15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svg" Type="http://schemas.openxmlformats.org/officeDocument/2006/relationships/image"/><Relationship Id="rId11" Target="../media/image9.png" Type="http://schemas.openxmlformats.org/officeDocument/2006/relationships/image"/><Relationship Id="rId12" Target="../media/image10.svg" Type="http://schemas.openxmlformats.org/officeDocument/2006/relationships/image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svg" Type="http://schemas.openxmlformats.org/officeDocument/2006/relationships/image"/><Relationship Id="rId11" Target="../media/image19.png" Type="http://schemas.openxmlformats.org/officeDocument/2006/relationships/image"/><Relationship Id="rId12" Target="../media/image20.svg" Type="http://schemas.openxmlformats.org/officeDocument/2006/relationships/image"/><Relationship Id="rId2" Target="../notesSlides/notesSlide2.xml" Type="http://schemas.openxmlformats.org/officeDocument/2006/relationships/notesSlid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15.png" Type="http://schemas.openxmlformats.org/officeDocument/2006/relationships/image"/><Relationship Id="rId8" Target="../media/image16.sv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7.png" Type="http://schemas.openxmlformats.org/officeDocument/2006/relationships/image"/><Relationship Id="rId4" Target="../media/image18.svg" Type="http://schemas.openxmlformats.org/officeDocument/2006/relationships/image"/><Relationship Id="rId5" Target="../media/image21.png" Type="http://schemas.openxmlformats.org/officeDocument/2006/relationships/image"/><Relationship Id="rId6" Target="../media/image22.svg" Type="http://schemas.openxmlformats.org/officeDocument/2006/relationships/image"/><Relationship Id="rId7" Target="../media/image2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24.png" Type="http://schemas.openxmlformats.org/officeDocument/2006/relationships/image"/><Relationship Id="rId4" Target="../media/image25.svg" Type="http://schemas.openxmlformats.org/officeDocument/2006/relationships/image"/><Relationship Id="rId5" Target="../media/image26.png" Type="http://schemas.openxmlformats.org/officeDocument/2006/relationships/image"/><Relationship Id="rId6" Target="../media/image2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24.png" Type="http://schemas.openxmlformats.org/officeDocument/2006/relationships/image"/><Relationship Id="rId4" Target="../media/image25.svg" Type="http://schemas.openxmlformats.org/officeDocument/2006/relationships/image"/><Relationship Id="rId5" Target="../media/image26.png" Type="http://schemas.openxmlformats.org/officeDocument/2006/relationships/image"/><Relationship Id="rId6" Target="../media/image27.svg" Type="http://schemas.openxmlformats.org/officeDocument/2006/relationships/image"/><Relationship Id="rId7" Target="../media/image2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4.png" Type="http://schemas.openxmlformats.org/officeDocument/2006/relationships/image"/><Relationship Id="rId4" Target="../media/image25.svg" Type="http://schemas.openxmlformats.org/officeDocument/2006/relationships/image"/><Relationship Id="rId5" Target="../media/image26.png" Type="http://schemas.openxmlformats.org/officeDocument/2006/relationships/image"/><Relationship Id="rId6" Target="../media/image27.svg" Type="http://schemas.openxmlformats.org/officeDocument/2006/relationships/image"/><Relationship Id="rId7" Target="../media/image2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4.png" Type="http://schemas.openxmlformats.org/officeDocument/2006/relationships/image"/><Relationship Id="rId4" Target="../media/image25.svg" Type="http://schemas.openxmlformats.org/officeDocument/2006/relationships/image"/><Relationship Id="rId5" Target="../media/image26.png" Type="http://schemas.openxmlformats.org/officeDocument/2006/relationships/image"/><Relationship Id="rId6" Target="../media/image27.svg" Type="http://schemas.openxmlformats.org/officeDocument/2006/relationships/image"/><Relationship Id="rId7" Target="../media/image3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31.png" Type="http://schemas.openxmlformats.org/officeDocument/2006/relationships/image"/><Relationship Id="rId4" Target="../media/image32.svg" Type="http://schemas.openxmlformats.org/officeDocument/2006/relationships/image"/><Relationship Id="rId5" Target="../media/image33.png" Type="http://schemas.openxmlformats.org/officeDocument/2006/relationships/image"/><Relationship Id="rId6" Target="../media/image34.svg" Type="http://schemas.openxmlformats.org/officeDocument/2006/relationships/image"/><Relationship Id="rId7" Target="../media/image35.png" Type="http://schemas.openxmlformats.org/officeDocument/2006/relationships/image"/><Relationship Id="rId8" Target="../media/image3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37.png" Type="http://schemas.openxmlformats.org/officeDocument/2006/relationships/image"/><Relationship Id="rId4" Target="../media/image38.svg" Type="http://schemas.openxmlformats.org/officeDocument/2006/relationships/image"/><Relationship Id="rId5" Target="../media/image39.png" Type="http://schemas.openxmlformats.org/officeDocument/2006/relationships/image"/><Relationship Id="rId6" Target="../media/image40.svg" Type="http://schemas.openxmlformats.org/officeDocument/2006/relationships/image"/><Relationship Id="rId7" Target="../media/image41.png" Type="http://schemas.openxmlformats.org/officeDocument/2006/relationships/image"/><Relationship Id="rId8" Target="../media/image4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0.svg" Type="http://schemas.openxmlformats.org/officeDocument/2006/relationships/image"/><Relationship Id="rId2" Target="../notesSlides/notesSlide10.xml" Type="http://schemas.openxmlformats.org/officeDocument/2006/relationships/notesSlide"/><Relationship Id="rId3" Target="../media/image43.png" Type="http://schemas.openxmlformats.org/officeDocument/2006/relationships/image"/><Relationship Id="rId4" Target="../media/image44.svg" Type="http://schemas.openxmlformats.org/officeDocument/2006/relationships/image"/><Relationship Id="rId5" Target="../media/image45.png" Type="http://schemas.openxmlformats.org/officeDocument/2006/relationships/image"/><Relationship Id="rId6" Target="../media/image46.svg" Type="http://schemas.openxmlformats.org/officeDocument/2006/relationships/image"/><Relationship Id="rId7" Target="../media/image47.png" Type="http://schemas.openxmlformats.org/officeDocument/2006/relationships/image"/><Relationship Id="rId8" Target="../media/image48.svg" Type="http://schemas.openxmlformats.org/officeDocument/2006/relationships/image"/><Relationship Id="rId9" Target="../media/image4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7.png" Type="http://schemas.openxmlformats.org/officeDocument/2006/relationships/image"/><Relationship Id="rId4" Target="../media/image18.svg" Type="http://schemas.openxmlformats.org/officeDocument/2006/relationships/image"/><Relationship Id="rId5" Target="../media/image21.png" Type="http://schemas.openxmlformats.org/officeDocument/2006/relationships/image"/><Relationship Id="rId6" Target="../media/image2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4.svg" Type="http://schemas.openxmlformats.org/officeDocument/2006/relationships/image"/><Relationship Id="rId11" Target="../media/image55.png" Type="http://schemas.openxmlformats.org/officeDocument/2006/relationships/image"/><Relationship Id="rId12" Target="../media/image56.svg" Type="http://schemas.openxmlformats.org/officeDocument/2006/relationships/image"/><Relationship Id="rId2" Target="../notesSlides/notesSlide12.xml" Type="http://schemas.openxmlformats.org/officeDocument/2006/relationships/notesSlide"/><Relationship Id="rId3" Target="../media/image51.png" Type="http://schemas.openxmlformats.org/officeDocument/2006/relationships/image"/><Relationship Id="rId4" Target="../media/image52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41.png" Type="http://schemas.openxmlformats.org/officeDocument/2006/relationships/image"/><Relationship Id="rId8" Target="../media/image42.svg" Type="http://schemas.openxmlformats.org/officeDocument/2006/relationships/image"/><Relationship Id="rId9" Target="../media/image5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2.svg" Type="http://schemas.openxmlformats.org/officeDocument/2006/relationships/image"/><Relationship Id="rId2" Target="../notesSlides/notesSlide13.xml" Type="http://schemas.openxmlformats.org/officeDocument/2006/relationships/notesSlide"/><Relationship Id="rId3" Target="../media/image57.png" Type="http://schemas.openxmlformats.org/officeDocument/2006/relationships/image"/><Relationship Id="rId4" Target="../media/image58.svg" Type="http://schemas.openxmlformats.org/officeDocument/2006/relationships/image"/><Relationship Id="rId5" Target="../media/image59.png" Type="http://schemas.openxmlformats.org/officeDocument/2006/relationships/image"/><Relationship Id="rId6" Target="../media/image60.svg" Type="http://schemas.openxmlformats.org/officeDocument/2006/relationships/image"/><Relationship Id="rId7" Target="../media/image41.png" Type="http://schemas.openxmlformats.org/officeDocument/2006/relationships/image"/><Relationship Id="rId8" Target="../media/image42.svg" Type="http://schemas.openxmlformats.org/officeDocument/2006/relationships/image"/><Relationship Id="rId9" Target="../media/image6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8.svg" Type="http://schemas.openxmlformats.org/officeDocument/2006/relationships/image"/><Relationship Id="rId11" Target="../media/image9.png" Type="http://schemas.openxmlformats.org/officeDocument/2006/relationships/image"/><Relationship Id="rId12" Target="../media/image10.svg" Type="http://schemas.openxmlformats.org/officeDocument/2006/relationships/image"/><Relationship Id="rId2" Target="../notesSlides/notesSlide14.xml" Type="http://schemas.openxmlformats.org/officeDocument/2006/relationships/notesSlide"/><Relationship Id="rId3" Target="../media/image63.png" Type="http://schemas.openxmlformats.org/officeDocument/2006/relationships/image"/><Relationship Id="rId4" Target="../media/image64.svg" Type="http://schemas.openxmlformats.org/officeDocument/2006/relationships/image"/><Relationship Id="rId5" Target="../media/image59.png" Type="http://schemas.openxmlformats.org/officeDocument/2006/relationships/image"/><Relationship Id="rId6" Target="../media/image60.svg" Type="http://schemas.openxmlformats.org/officeDocument/2006/relationships/image"/><Relationship Id="rId7" Target="../media/image65.png" Type="http://schemas.openxmlformats.org/officeDocument/2006/relationships/image"/><Relationship Id="rId8" Target="../media/image66.svg" Type="http://schemas.openxmlformats.org/officeDocument/2006/relationships/image"/><Relationship Id="rId9" Target="../media/image67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35.png" Type="http://schemas.openxmlformats.org/officeDocument/2006/relationships/image"/><Relationship Id="rId4" Target="../media/image36.svg" Type="http://schemas.openxmlformats.org/officeDocument/2006/relationships/image"/><Relationship Id="rId5" Target="../media/image69.png" Type="http://schemas.openxmlformats.org/officeDocument/2006/relationships/image"/><Relationship Id="rId6" Target="../media/image70.svg" Type="http://schemas.openxmlformats.org/officeDocument/2006/relationships/image"/><Relationship Id="rId7" Target="../media/image71.png" Type="http://schemas.openxmlformats.org/officeDocument/2006/relationships/image"/><Relationship Id="rId8" Target="../media/image7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0" y="9208000"/>
            <a:ext cx="18288034" cy="1164614"/>
            <a:chOff x="0" y="0"/>
            <a:chExt cx="24384045" cy="1552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552829"/>
            </a:xfrm>
            <a:custGeom>
              <a:avLst/>
              <a:gdLst/>
              <a:ahLst/>
              <a:cxnLst/>
              <a:rect r="r" b="b" t="t" l="l"/>
              <a:pathLst>
                <a:path h="1552829" w="24384000">
                  <a:moveTo>
                    <a:pt x="0" y="0"/>
                  </a:moveTo>
                  <a:lnTo>
                    <a:pt x="0" y="1552829"/>
                  </a:lnTo>
                  <a:lnTo>
                    <a:pt x="24384000" y="1552829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CFE2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283350" y="9380908"/>
            <a:ext cx="10340502" cy="1578358"/>
            <a:chOff x="0" y="0"/>
            <a:chExt cx="13787336" cy="210447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254" y="254"/>
              <a:ext cx="13786866" cy="2104009"/>
            </a:xfrm>
            <a:custGeom>
              <a:avLst/>
              <a:gdLst/>
              <a:ahLst/>
              <a:cxnLst/>
              <a:rect r="r" b="b" t="t" l="l"/>
              <a:pathLst>
                <a:path h="2104009" w="13786866">
                  <a:moveTo>
                    <a:pt x="6865239" y="0"/>
                  </a:moveTo>
                  <a:cubicBezTo>
                    <a:pt x="3055366" y="0"/>
                    <a:pt x="0" y="463931"/>
                    <a:pt x="0" y="1049782"/>
                  </a:cubicBezTo>
                  <a:cubicBezTo>
                    <a:pt x="0" y="1630934"/>
                    <a:pt x="3088132" y="2104009"/>
                    <a:pt x="6893433" y="2104009"/>
                  </a:cubicBezTo>
                  <a:cubicBezTo>
                    <a:pt x="10698607" y="2104009"/>
                    <a:pt x="13786866" y="1630807"/>
                    <a:pt x="13786866" y="1049782"/>
                  </a:cubicBezTo>
                  <a:cubicBezTo>
                    <a:pt x="13786866" y="463931"/>
                    <a:pt x="10670540" y="0"/>
                    <a:pt x="6865239" y="0"/>
                  </a:cubicBezTo>
                  <a:close/>
                </a:path>
              </a:pathLst>
            </a:custGeom>
            <a:solidFill>
              <a:srgbClr val="191919">
                <a:alpha val="2745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2145775" y="1573917"/>
            <a:ext cx="13996350" cy="2445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16"/>
              </a:lnSpc>
            </a:pPr>
            <a:r>
              <a:rPr lang="en-US" b="true" sz="9600">
                <a:solidFill>
                  <a:srgbClr val="3B4F8D"/>
                </a:solidFill>
                <a:latin typeface="Arimo Bold"/>
                <a:ea typeface="Arimo Bold"/>
                <a:cs typeface="Arimo Bold"/>
                <a:sym typeface="Arimo Bold"/>
              </a:rPr>
              <a:t>OATH Conflict Resolution Program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706575" y="4187346"/>
            <a:ext cx="8874750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b="true" sz="3200">
                <a:solidFill>
                  <a:srgbClr val="19191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Data-Driv</a:t>
            </a:r>
            <a:r>
              <a:rPr lang="en-US" b="true" sz="3200">
                <a:solidFill>
                  <a:srgbClr val="19191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 Insights, ROI, and Strategic Recommendations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1282731" y="5608014"/>
            <a:ext cx="2949605" cy="4743550"/>
          </a:xfrm>
          <a:custGeom>
            <a:avLst/>
            <a:gdLst/>
            <a:ahLst/>
            <a:cxnLst/>
            <a:rect r="r" b="b" t="t" l="l"/>
            <a:pathLst>
              <a:path h="4743550" w="2949605">
                <a:moveTo>
                  <a:pt x="0" y="0"/>
                </a:moveTo>
                <a:lnTo>
                  <a:pt x="2949605" y="0"/>
                </a:lnTo>
                <a:lnTo>
                  <a:pt x="2949605" y="4743550"/>
                </a:lnTo>
                <a:lnTo>
                  <a:pt x="0" y="47435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139170" y="5426292"/>
            <a:ext cx="2186180" cy="4852584"/>
          </a:xfrm>
          <a:custGeom>
            <a:avLst/>
            <a:gdLst/>
            <a:ahLst/>
            <a:cxnLst/>
            <a:rect r="r" b="b" t="t" l="l"/>
            <a:pathLst>
              <a:path h="4852584" w="2186180">
                <a:moveTo>
                  <a:pt x="0" y="0"/>
                </a:moveTo>
                <a:lnTo>
                  <a:pt x="2186180" y="0"/>
                </a:lnTo>
                <a:lnTo>
                  <a:pt x="2186180" y="4852584"/>
                </a:lnTo>
                <a:lnTo>
                  <a:pt x="0" y="485258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281456" y="5608014"/>
            <a:ext cx="2857682" cy="4743550"/>
          </a:xfrm>
          <a:custGeom>
            <a:avLst/>
            <a:gdLst/>
            <a:ahLst/>
            <a:cxnLst/>
            <a:rect r="r" b="b" t="t" l="l"/>
            <a:pathLst>
              <a:path h="4743550" w="2857682">
                <a:moveTo>
                  <a:pt x="0" y="0"/>
                </a:moveTo>
                <a:lnTo>
                  <a:pt x="2857682" y="0"/>
                </a:lnTo>
                <a:lnTo>
                  <a:pt x="2857682" y="4743550"/>
                </a:lnTo>
                <a:lnTo>
                  <a:pt x="0" y="47435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147848" y="5421284"/>
            <a:ext cx="2485016" cy="4830294"/>
          </a:xfrm>
          <a:custGeom>
            <a:avLst/>
            <a:gdLst/>
            <a:ahLst/>
            <a:cxnLst/>
            <a:rect r="r" b="b" t="t" l="l"/>
            <a:pathLst>
              <a:path h="4830294" w="2485016">
                <a:moveTo>
                  <a:pt x="0" y="0"/>
                </a:moveTo>
                <a:lnTo>
                  <a:pt x="2485016" y="0"/>
                </a:lnTo>
                <a:lnTo>
                  <a:pt x="2485016" y="4830294"/>
                </a:lnTo>
                <a:lnTo>
                  <a:pt x="0" y="483029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715540" y="7588880"/>
            <a:ext cx="7019018" cy="2808446"/>
          </a:xfrm>
          <a:custGeom>
            <a:avLst/>
            <a:gdLst/>
            <a:ahLst/>
            <a:cxnLst/>
            <a:rect r="r" b="b" t="t" l="l"/>
            <a:pathLst>
              <a:path h="2808446" w="7019018">
                <a:moveTo>
                  <a:pt x="0" y="0"/>
                </a:moveTo>
                <a:lnTo>
                  <a:pt x="7019018" y="0"/>
                </a:lnTo>
                <a:lnTo>
                  <a:pt x="7019018" y="2808446"/>
                </a:lnTo>
                <a:lnTo>
                  <a:pt x="0" y="280844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706575" y="785812"/>
            <a:ext cx="8874750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Team 3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0" y="9190750"/>
            <a:ext cx="18288034" cy="1181932"/>
            <a:chOff x="0" y="0"/>
            <a:chExt cx="24384045" cy="15759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575816"/>
            </a:xfrm>
            <a:custGeom>
              <a:avLst/>
              <a:gdLst/>
              <a:ahLst/>
              <a:cxnLst/>
              <a:rect r="r" b="b" t="t" l="l"/>
              <a:pathLst>
                <a:path h="1575816" w="24384000">
                  <a:moveTo>
                    <a:pt x="0" y="0"/>
                  </a:moveTo>
                  <a:lnTo>
                    <a:pt x="0" y="1575816"/>
                  </a:lnTo>
                  <a:lnTo>
                    <a:pt x="24384000" y="1575816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CFE2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15000" y="9380908"/>
            <a:ext cx="10340502" cy="1578358"/>
            <a:chOff x="0" y="0"/>
            <a:chExt cx="13787336" cy="210447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254" y="254"/>
              <a:ext cx="13786866" cy="2104009"/>
            </a:xfrm>
            <a:custGeom>
              <a:avLst/>
              <a:gdLst/>
              <a:ahLst/>
              <a:cxnLst/>
              <a:rect r="r" b="b" t="t" l="l"/>
              <a:pathLst>
                <a:path h="2104009" w="13786866">
                  <a:moveTo>
                    <a:pt x="6865239" y="0"/>
                  </a:moveTo>
                  <a:cubicBezTo>
                    <a:pt x="3055366" y="0"/>
                    <a:pt x="0" y="463931"/>
                    <a:pt x="0" y="1049782"/>
                  </a:cubicBezTo>
                  <a:cubicBezTo>
                    <a:pt x="0" y="1630934"/>
                    <a:pt x="3088132" y="2104009"/>
                    <a:pt x="6893433" y="2104009"/>
                  </a:cubicBezTo>
                  <a:cubicBezTo>
                    <a:pt x="10698607" y="2104009"/>
                    <a:pt x="13786866" y="1630807"/>
                    <a:pt x="13786866" y="1049782"/>
                  </a:cubicBezTo>
                  <a:cubicBezTo>
                    <a:pt x="13786866" y="463931"/>
                    <a:pt x="10670540" y="0"/>
                    <a:pt x="6865239" y="0"/>
                  </a:cubicBezTo>
                  <a:close/>
                </a:path>
              </a:pathLst>
            </a:custGeom>
            <a:solidFill>
              <a:srgbClr val="191919">
                <a:alpha val="2745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495125" y="3884501"/>
            <a:ext cx="6093186" cy="3705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00"/>
              </a:lnSpc>
            </a:pPr>
            <a:r>
              <a:rPr lang="en-US" b="true" sz="12000">
                <a:solidFill>
                  <a:srgbClr val="191919"/>
                </a:solidFill>
                <a:latin typeface="Arimo Bold"/>
                <a:ea typeface="Arimo Bold"/>
                <a:cs typeface="Arimo Bold"/>
                <a:sym typeface="Arimo Bold"/>
              </a:rPr>
              <a:t>OATH Persona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95125" y="1915850"/>
            <a:ext cx="2713950" cy="1548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00"/>
              </a:lnSpc>
            </a:pPr>
            <a:r>
              <a:rPr lang="en-US" b="true" sz="12000">
                <a:solidFill>
                  <a:srgbClr val="191919"/>
                </a:solidFill>
                <a:latin typeface="Arimo Bold"/>
                <a:ea typeface="Arimo Bold"/>
                <a:cs typeface="Arimo Bold"/>
                <a:sym typeface="Arimo Bold"/>
              </a:rPr>
              <a:t>01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7560536" y="6369944"/>
            <a:ext cx="1545558" cy="3633006"/>
          </a:xfrm>
          <a:custGeom>
            <a:avLst/>
            <a:gdLst/>
            <a:ahLst/>
            <a:cxnLst/>
            <a:rect r="r" b="b" t="t" l="l"/>
            <a:pathLst>
              <a:path h="3633006" w="1545558">
                <a:moveTo>
                  <a:pt x="0" y="0"/>
                </a:moveTo>
                <a:lnTo>
                  <a:pt x="1545558" y="0"/>
                </a:lnTo>
                <a:lnTo>
                  <a:pt x="1545558" y="3633006"/>
                </a:lnTo>
                <a:lnTo>
                  <a:pt x="0" y="36330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929966" y="4899050"/>
            <a:ext cx="2805104" cy="5385386"/>
          </a:xfrm>
          <a:custGeom>
            <a:avLst/>
            <a:gdLst/>
            <a:ahLst/>
            <a:cxnLst/>
            <a:rect r="r" b="b" t="t" l="l"/>
            <a:pathLst>
              <a:path h="5385386" w="2805104">
                <a:moveTo>
                  <a:pt x="0" y="0"/>
                </a:moveTo>
                <a:lnTo>
                  <a:pt x="2805104" y="0"/>
                </a:lnTo>
                <a:lnTo>
                  <a:pt x="2805104" y="5385386"/>
                </a:lnTo>
                <a:lnTo>
                  <a:pt x="0" y="538538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147708" y="4896022"/>
            <a:ext cx="2045866" cy="5387408"/>
          </a:xfrm>
          <a:custGeom>
            <a:avLst/>
            <a:gdLst/>
            <a:ahLst/>
            <a:cxnLst/>
            <a:rect r="r" b="b" t="t" l="l"/>
            <a:pathLst>
              <a:path h="5387408" w="2045866">
                <a:moveTo>
                  <a:pt x="0" y="0"/>
                </a:moveTo>
                <a:lnTo>
                  <a:pt x="2045866" y="0"/>
                </a:lnTo>
                <a:lnTo>
                  <a:pt x="2045866" y="5387408"/>
                </a:lnTo>
                <a:lnTo>
                  <a:pt x="0" y="538740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64350" y="6216200"/>
            <a:ext cx="1600122" cy="3789998"/>
          </a:xfrm>
          <a:custGeom>
            <a:avLst/>
            <a:gdLst/>
            <a:ahLst/>
            <a:cxnLst/>
            <a:rect r="r" b="b" t="t" l="l"/>
            <a:pathLst>
              <a:path h="3789998" w="1600122">
                <a:moveTo>
                  <a:pt x="0" y="0"/>
                </a:moveTo>
                <a:lnTo>
                  <a:pt x="1600122" y="0"/>
                </a:lnTo>
                <a:lnTo>
                  <a:pt x="1600122" y="3789998"/>
                </a:lnTo>
                <a:lnTo>
                  <a:pt x="0" y="378999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969834" y="7598480"/>
            <a:ext cx="2679606" cy="2689124"/>
          </a:xfrm>
          <a:custGeom>
            <a:avLst/>
            <a:gdLst/>
            <a:ahLst/>
            <a:cxnLst/>
            <a:rect r="r" b="b" t="t" l="l"/>
            <a:pathLst>
              <a:path h="2689124" w="2679606">
                <a:moveTo>
                  <a:pt x="0" y="0"/>
                </a:moveTo>
                <a:lnTo>
                  <a:pt x="2679606" y="0"/>
                </a:lnTo>
                <a:lnTo>
                  <a:pt x="2679606" y="2689124"/>
                </a:lnTo>
                <a:lnTo>
                  <a:pt x="0" y="268912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0" y="9190750"/>
            <a:ext cx="18288034" cy="1181932"/>
            <a:chOff x="0" y="0"/>
            <a:chExt cx="24384045" cy="15759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575816"/>
            </a:xfrm>
            <a:custGeom>
              <a:avLst/>
              <a:gdLst/>
              <a:ahLst/>
              <a:cxnLst/>
              <a:rect r="r" b="b" t="t" l="l"/>
              <a:pathLst>
                <a:path h="1575816" w="24384000">
                  <a:moveTo>
                    <a:pt x="0" y="0"/>
                  </a:moveTo>
                  <a:lnTo>
                    <a:pt x="0" y="1575816"/>
                  </a:lnTo>
                  <a:lnTo>
                    <a:pt x="24384000" y="1575816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CFE2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748642" y="9622950"/>
            <a:ext cx="3255112" cy="923408"/>
            <a:chOff x="0" y="0"/>
            <a:chExt cx="4340149" cy="123121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27" y="127"/>
              <a:ext cx="4339971" cy="1231011"/>
            </a:xfrm>
            <a:custGeom>
              <a:avLst/>
              <a:gdLst/>
              <a:ahLst/>
              <a:cxnLst/>
              <a:rect r="r" b="b" t="t" l="l"/>
              <a:pathLst>
                <a:path h="1231011" w="4339971">
                  <a:moveTo>
                    <a:pt x="2178812" y="0"/>
                  </a:moveTo>
                  <a:cubicBezTo>
                    <a:pt x="3378073" y="0"/>
                    <a:pt x="4339971" y="271399"/>
                    <a:pt x="4339971" y="614172"/>
                  </a:cubicBezTo>
                  <a:cubicBezTo>
                    <a:pt x="4339971" y="954151"/>
                    <a:pt x="3367913" y="1231011"/>
                    <a:pt x="2169922" y="1231011"/>
                  </a:cubicBezTo>
                  <a:cubicBezTo>
                    <a:pt x="971931" y="1231011"/>
                    <a:pt x="0" y="954151"/>
                    <a:pt x="0" y="614172"/>
                  </a:cubicBezTo>
                  <a:cubicBezTo>
                    <a:pt x="0" y="271399"/>
                    <a:pt x="980948" y="0"/>
                    <a:pt x="2178812" y="0"/>
                  </a:cubicBezTo>
                  <a:close/>
                </a:path>
              </a:pathLst>
            </a:custGeom>
            <a:solidFill>
              <a:srgbClr val="191919">
                <a:alpha val="2745"/>
              </a:srgbClr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458550" y="6216200"/>
            <a:ext cx="1600122" cy="3789998"/>
          </a:xfrm>
          <a:custGeom>
            <a:avLst/>
            <a:gdLst/>
            <a:ahLst/>
            <a:cxnLst/>
            <a:rect r="r" b="b" t="t" l="l"/>
            <a:pathLst>
              <a:path h="3789998" w="1600122">
                <a:moveTo>
                  <a:pt x="0" y="0"/>
                </a:moveTo>
                <a:lnTo>
                  <a:pt x="1600122" y="0"/>
                </a:lnTo>
                <a:lnTo>
                  <a:pt x="1600122" y="3789998"/>
                </a:lnTo>
                <a:lnTo>
                  <a:pt x="0" y="37899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6102358" y="9622950"/>
            <a:ext cx="3255112" cy="923408"/>
            <a:chOff x="0" y="0"/>
            <a:chExt cx="4340149" cy="123121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27" y="127"/>
              <a:ext cx="4340098" cy="1231011"/>
            </a:xfrm>
            <a:custGeom>
              <a:avLst/>
              <a:gdLst/>
              <a:ahLst/>
              <a:cxnLst/>
              <a:rect r="r" b="b" t="t" l="l"/>
              <a:pathLst>
                <a:path h="1231011" w="4340098">
                  <a:moveTo>
                    <a:pt x="2161032" y="0"/>
                  </a:moveTo>
                  <a:cubicBezTo>
                    <a:pt x="961771" y="0"/>
                    <a:pt x="0" y="271399"/>
                    <a:pt x="0" y="614172"/>
                  </a:cubicBezTo>
                  <a:cubicBezTo>
                    <a:pt x="0" y="954151"/>
                    <a:pt x="972058" y="1231011"/>
                    <a:pt x="2170049" y="1231011"/>
                  </a:cubicBezTo>
                  <a:cubicBezTo>
                    <a:pt x="3368040" y="1231011"/>
                    <a:pt x="4340098" y="954151"/>
                    <a:pt x="4340098" y="614172"/>
                  </a:cubicBezTo>
                  <a:cubicBezTo>
                    <a:pt x="4339971" y="271399"/>
                    <a:pt x="3358896" y="0"/>
                    <a:pt x="2161032" y="0"/>
                  </a:cubicBezTo>
                  <a:close/>
                </a:path>
              </a:pathLst>
            </a:custGeom>
            <a:solidFill>
              <a:srgbClr val="191919">
                <a:alpha val="2745"/>
              </a:srgbClr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6861650" y="4501954"/>
            <a:ext cx="1736540" cy="5785046"/>
          </a:xfrm>
          <a:custGeom>
            <a:avLst/>
            <a:gdLst/>
            <a:ahLst/>
            <a:cxnLst/>
            <a:rect r="r" b="b" t="t" l="l"/>
            <a:pathLst>
              <a:path h="5785046" w="1736540">
                <a:moveTo>
                  <a:pt x="0" y="0"/>
                </a:moveTo>
                <a:lnTo>
                  <a:pt x="1736540" y="0"/>
                </a:lnTo>
                <a:lnTo>
                  <a:pt x="1736540" y="5785046"/>
                </a:lnTo>
                <a:lnTo>
                  <a:pt x="0" y="57850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49766" y="1028700"/>
            <a:ext cx="17388403" cy="7563955"/>
          </a:xfrm>
          <a:custGeom>
            <a:avLst/>
            <a:gdLst/>
            <a:ahLst/>
            <a:cxnLst/>
            <a:rect r="r" b="b" t="t" l="l"/>
            <a:pathLst>
              <a:path h="7563955" w="17388403">
                <a:moveTo>
                  <a:pt x="0" y="0"/>
                </a:moveTo>
                <a:lnTo>
                  <a:pt x="17388402" y="0"/>
                </a:lnTo>
                <a:lnTo>
                  <a:pt x="17388402" y="7563955"/>
                </a:lnTo>
                <a:lnTo>
                  <a:pt x="0" y="756395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0" y="9190750"/>
            <a:ext cx="18288034" cy="1181932"/>
            <a:chOff x="0" y="0"/>
            <a:chExt cx="24384045" cy="15759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575816"/>
            </a:xfrm>
            <a:custGeom>
              <a:avLst/>
              <a:gdLst/>
              <a:ahLst/>
              <a:cxnLst/>
              <a:rect r="r" b="b" t="t" l="l"/>
              <a:pathLst>
                <a:path h="1575816" w="24384000">
                  <a:moveTo>
                    <a:pt x="0" y="0"/>
                  </a:moveTo>
                  <a:lnTo>
                    <a:pt x="0" y="1575816"/>
                  </a:lnTo>
                  <a:lnTo>
                    <a:pt x="24384000" y="1575816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CFE2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102358" y="9622950"/>
            <a:ext cx="3255112" cy="923408"/>
            <a:chOff x="0" y="0"/>
            <a:chExt cx="4340149" cy="123121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27" y="127"/>
              <a:ext cx="4340098" cy="1231011"/>
            </a:xfrm>
            <a:custGeom>
              <a:avLst/>
              <a:gdLst/>
              <a:ahLst/>
              <a:cxnLst/>
              <a:rect r="r" b="b" t="t" l="l"/>
              <a:pathLst>
                <a:path h="1231011" w="4340098">
                  <a:moveTo>
                    <a:pt x="2161032" y="0"/>
                  </a:moveTo>
                  <a:cubicBezTo>
                    <a:pt x="961771" y="0"/>
                    <a:pt x="0" y="271399"/>
                    <a:pt x="0" y="614172"/>
                  </a:cubicBezTo>
                  <a:cubicBezTo>
                    <a:pt x="0" y="954151"/>
                    <a:pt x="972058" y="1231011"/>
                    <a:pt x="2170049" y="1231011"/>
                  </a:cubicBezTo>
                  <a:cubicBezTo>
                    <a:pt x="3368040" y="1231011"/>
                    <a:pt x="4340098" y="954151"/>
                    <a:pt x="4340098" y="614172"/>
                  </a:cubicBezTo>
                  <a:cubicBezTo>
                    <a:pt x="4339971" y="271399"/>
                    <a:pt x="3358896" y="0"/>
                    <a:pt x="2161032" y="0"/>
                  </a:cubicBezTo>
                  <a:close/>
                </a:path>
              </a:pathLst>
            </a:custGeom>
            <a:solidFill>
              <a:srgbClr val="191919">
                <a:alpha val="2745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1156366" y="9622950"/>
            <a:ext cx="3255112" cy="923408"/>
            <a:chOff x="0" y="0"/>
            <a:chExt cx="4340149" cy="123121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27" y="127"/>
              <a:ext cx="4340098" cy="1231011"/>
            </a:xfrm>
            <a:custGeom>
              <a:avLst/>
              <a:gdLst/>
              <a:ahLst/>
              <a:cxnLst/>
              <a:rect r="r" b="b" t="t" l="l"/>
              <a:pathLst>
                <a:path h="1231011" w="4340098">
                  <a:moveTo>
                    <a:pt x="2161032" y="0"/>
                  </a:moveTo>
                  <a:cubicBezTo>
                    <a:pt x="961771" y="0"/>
                    <a:pt x="0" y="271399"/>
                    <a:pt x="0" y="614172"/>
                  </a:cubicBezTo>
                  <a:cubicBezTo>
                    <a:pt x="0" y="954151"/>
                    <a:pt x="972058" y="1231011"/>
                    <a:pt x="2170049" y="1231011"/>
                  </a:cubicBezTo>
                  <a:cubicBezTo>
                    <a:pt x="3368040" y="1231011"/>
                    <a:pt x="4340098" y="954151"/>
                    <a:pt x="4340098" y="614172"/>
                  </a:cubicBezTo>
                  <a:cubicBezTo>
                    <a:pt x="4339971" y="271399"/>
                    <a:pt x="3358896" y="0"/>
                    <a:pt x="2161032" y="0"/>
                  </a:cubicBezTo>
                  <a:close/>
                </a:path>
              </a:pathLst>
            </a:custGeom>
            <a:solidFill>
              <a:srgbClr val="191919">
                <a:alpha val="2745"/>
              </a:srgbClr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6861650" y="4501954"/>
            <a:ext cx="1736540" cy="5785046"/>
          </a:xfrm>
          <a:custGeom>
            <a:avLst/>
            <a:gdLst/>
            <a:ahLst/>
            <a:cxnLst/>
            <a:rect r="r" b="b" t="t" l="l"/>
            <a:pathLst>
              <a:path h="5785046" w="1736540">
                <a:moveTo>
                  <a:pt x="0" y="0"/>
                </a:moveTo>
                <a:lnTo>
                  <a:pt x="1736540" y="0"/>
                </a:lnTo>
                <a:lnTo>
                  <a:pt x="1736540" y="5785046"/>
                </a:lnTo>
                <a:lnTo>
                  <a:pt x="0" y="57850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27450" y="4501950"/>
            <a:ext cx="1597228" cy="5785048"/>
          </a:xfrm>
          <a:custGeom>
            <a:avLst/>
            <a:gdLst/>
            <a:ahLst/>
            <a:cxnLst/>
            <a:rect r="r" b="b" t="t" l="l"/>
            <a:pathLst>
              <a:path h="5785048" w="1597228">
                <a:moveTo>
                  <a:pt x="0" y="0"/>
                </a:moveTo>
                <a:lnTo>
                  <a:pt x="1597228" y="0"/>
                </a:lnTo>
                <a:lnTo>
                  <a:pt x="1597228" y="5785048"/>
                </a:lnTo>
                <a:lnTo>
                  <a:pt x="0" y="578504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357647" y="3150934"/>
            <a:ext cx="13258260" cy="3705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00"/>
              </a:lnSpc>
            </a:pPr>
            <a:r>
              <a:rPr lang="en-US" b="true" sz="12000">
                <a:solidFill>
                  <a:srgbClr val="191919"/>
                </a:solidFill>
                <a:latin typeface="Arimo Bold"/>
                <a:ea typeface="Arimo Bold"/>
                <a:cs typeface="Arimo Bold"/>
                <a:sym typeface="Arimo Bold"/>
              </a:rPr>
              <a:t>Dashboard &amp; Metrics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357647" y="1322134"/>
            <a:ext cx="2713950" cy="187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00"/>
              </a:lnSpc>
            </a:pPr>
            <a:r>
              <a:rPr lang="en-US" b="true" sz="12000">
                <a:solidFill>
                  <a:srgbClr val="191919"/>
                </a:solidFill>
                <a:latin typeface="Arimo Bold"/>
                <a:ea typeface="Arimo Bold"/>
                <a:cs typeface="Arimo Bold"/>
                <a:sym typeface="Arimo Bold"/>
              </a:rPr>
              <a:t>02</a:t>
            </a:r>
          </a:p>
        </p:txBody>
      </p:sp>
    </p:spTree>
  </p:cSld>
  <p:clrMapOvr>
    <a:masterClrMapping/>
  </p:clrMapOvr>
  <p:transition spd="slow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0" y="9190750"/>
            <a:ext cx="18288034" cy="1181932"/>
            <a:chOff x="0" y="0"/>
            <a:chExt cx="24384045" cy="15759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575816"/>
            </a:xfrm>
            <a:custGeom>
              <a:avLst/>
              <a:gdLst/>
              <a:ahLst/>
              <a:cxnLst/>
              <a:rect r="r" b="b" t="t" l="l"/>
              <a:pathLst>
                <a:path h="1575816" w="24384000">
                  <a:moveTo>
                    <a:pt x="0" y="0"/>
                  </a:moveTo>
                  <a:lnTo>
                    <a:pt x="0" y="1575816"/>
                  </a:lnTo>
                  <a:lnTo>
                    <a:pt x="24384000" y="1575816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CFE2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102358" y="9622950"/>
            <a:ext cx="3255112" cy="923408"/>
            <a:chOff x="0" y="0"/>
            <a:chExt cx="4340149" cy="123121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27" y="127"/>
              <a:ext cx="4340098" cy="1231011"/>
            </a:xfrm>
            <a:custGeom>
              <a:avLst/>
              <a:gdLst/>
              <a:ahLst/>
              <a:cxnLst/>
              <a:rect r="r" b="b" t="t" l="l"/>
              <a:pathLst>
                <a:path h="1231011" w="4340098">
                  <a:moveTo>
                    <a:pt x="2161032" y="0"/>
                  </a:moveTo>
                  <a:cubicBezTo>
                    <a:pt x="961771" y="0"/>
                    <a:pt x="0" y="271399"/>
                    <a:pt x="0" y="614172"/>
                  </a:cubicBezTo>
                  <a:cubicBezTo>
                    <a:pt x="0" y="954151"/>
                    <a:pt x="972058" y="1231011"/>
                    <a:pt x="2170049" y="1231011"/>
                  </a:cubicBezTo>
                  <a:cubicBezTo>
                    <a:pt x="3368040" y="1231011"/>
                    <a:pt x="4340098" y="954151"/>
                    <a:pt x="4340098" y="614172"/>
                  </a:cubicBezTo>
                  <a:cubicBezTo>
                    <a:pt x="4339971" y="271399"/>
                    <a:pt x="3358896" y="0"/>
                    <a:pt x="2161032" y="0"/>
                  </a:cubicBezTo>
                  <a:close/>
                </a:path>
              </a:pathLst>
            </a:custGeom>
            <a:solidFill>
              <a:srgbClr val="191919">
                <a:alpha val="2745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1156366" y="9622950"/>
            <a:ext cx="3255112" cy="923408"/>
            <a:chOff x="0" y="0"/>
            <a:chExt cx="4340149" cy="123121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27" y="127"/>
              <a:ext cx="4340098" cy="1231011"/>
            </a:xfrm>
            <a:custGeom>
              <a:avLst/>
              <a:gdLst/>
              <a:ahLst/>
              <a:cxnLst/>
              <a:rect r="r" b="b" t="t" l="l"/>
              <a:pathLst>
                <a:path h="1231011" w="4340098">
                  <a:moveTo>
                    <a:pt x="2161032" y="0"/>
                  </a:moveTo>
                  <a:cubicBezTo>
                    <a:pt x="961771" y="0"/>
                    <a:pt x="0" y="271399"/>
                    <a:pt x="0" y="614172"/>
                  </a:cubicBezTo>
                  <a:cubicBezTo>
                    <a:pt x="0" y="954151"/>
                    <a:pt x="972058" y="1231011"/>
                    <a:pt x="2170049" y="1231011"/>
                  </a:cubicBezTo>
                  <a:cubicBezTo>
                    <a:pt x="3368040" y="1231011"/>
                    <a:pt x="4340098" y="954151"/>
                    <a:pt x="4340098" y="614172"/>
                  </a:cubicBezTo>
                  <a:cubicBezTo>
                    <a:pt x="4339971" y="271399"/>
                    <a:pt x="3358896" y="0"/>
                    <a:pt x="2161032" y="0"/>
                  </a:cubicBezTo>
                  <a:close/>
                </a:path>
              </a:pathLst>
            </a:custGeom>
            <a:solidFill>
              <a:srgbClr val="191919">
                <a:alpha val="2745"/>
              </a:srgbClr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6861650" y="4501954"/>
            <a:ext cx="1736540" cy="5785046"/>
          </a:xfrm>
          <a:custGeom>
            <a:avLst/>
            <a:gdLst/>
            <a:ahLst/>
            <a:cxnLst/>
            <a:rect r="r" b="b" t="t" l="l"/>
            <a:pathLst>
              <a:path h="5785046" w="1736540">
                <a:moveTo>
                  <a:pt x="0" y="0"/>
                </a:moveTo>
                <a:lnTo>
                  <a:pt x="1736540" y="0"/>
                </a:lnTo>
                <a:lnTo>
                  <a:pt x="1736540" y="5785046"/>
                </a:lnTo>
                <a:lnTo>
                  <a:pt x="0" y="57850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27450" y="4501950"/>
            <a:ext cx="1597228" cy="5785048"/>
          </a:xfrm>
          <a:custGeom>
            <a:avLst/>
            <a:gdLst/>
            <a:ahLst/>
            <a:cxnLst/>
            <a:rect r="r" b="b" t="t" l="l"/>
            <a:pathLst>
              <a:path h="5785048" w="1597228">
                <a:moveTo>
                  <a:pt x="0" y="0"/>
                </a:moveTo>
                <a:lnTo>
                  <a:pt x="1597228" y="0"/>
                </a:lnTo>
                <a:lnTo>
                  <a:pt x="1597228" y="5785048"/>
                </a:lnTo>
                <a:lnTo>
                  <a:pt x="0" y="578504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69778" y="1028700"/>
            <a:ext cx="10955623" cy="7122964"/>
          </a:xfrm>
          <a:custGeom>
            <a:avLst/>
            <a:gdLst/>
            <a:ahLst/>
            <a:cxnLst/>
            <a:rect r="r" b="b" t="t" l="l"/>
            <a:pathLst>
              <a:path h="7122964" w="10955623">
                <a:moveTo>
                  <a:pt x="0" y="0"/>
                </a:moveTo>
                <a:lnTo>
                  <a:pt x="10955623" y="0"/>
                </a:lnTo>
                <a:lnTo>
                  <a:pt x="10955623" y="7122964"/>
                </a:lnTo>
                <a:lnTo>
                  <a:pt x="0" y="712296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4501" t="0" r="-2301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2402370" y="1120579"/>
            <a:ext cx="5631230" cy="234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6"/>
              </a:lnSpc>
            </a:pPr>
            <a:r>
              <a:rPr lang="en-US" sz="2247">
                <a:solidFill>
                  <a:srgbClr val="191919"/>
                </a:solidFill>
                <a:latin typeface="Arimo"/>
                <a:ea typeface="Arimo"/>
                <a:cs typeface="Arimo"/>
                <a:sym typeface="Arimo"/>
              </a:rPr>
              <a:t>EXAMPLES:</a:t>
            </a:r>
          </a:p>
          <a:p>
            <a:pPr algn="l" marL="485202" indent="-242601" lvl="1">
              <a:lnSpc>
                <a:spcPts val="2696"/>
              </a:lnSpc>
              <a:buFont typeface="Arial"/>
              <a:buChar char="•"/>
            </a:pPr>
            <a:r>
              <a:rPr lang="en-US" sz="2247">
                <a:solidFill>
                  <a:srgbClr val="191919"/>
                </a:solidFill>
                <a:latin typeface="Arimo"/>
                <a:ea typeface="Arimo"/>
                <a:cs typeface="Arimo"/>
                <a:sym typeface="Arimo"/>
              </a:rPr>
              <a:t>Coaching: “I felt heard and understood.”</a:t>
            </a:r>
          </a:p>
          <a:p>
            <a:pPr algn="l" marL="485202" indent="-242601" lvl="1">
              <a:lnSpc>
                <a:spcPts val="2696"/>
              </a:lnSpc>
              <a:buFont typeface="Arial"/>
              <a:buChar char="•"/>
            </a:pPr>
            <a:r>
              <a:rPr lang="en-US" sz="2247">
                <a:solidFill>
                  <a:srgbClr val="191919"/>
                </a:solidFill>
                <a:latin typeface="Arimo"/>
                <a:ea typeface="Arimo"/>
                <a:cs typeface="Arimo"/>
                <a:sym typeface="Arimo"/>
              </a:rPr>
              <a:t>Group Work: “I was invited to speak openly and felt heard.”</a:t>
            </a:r>
          </a:p>
          <a:p>
            <a:pPr algn="l" marL="485202" indent="-242601" lvl="1">
              <a:lnSpc>
                <a:spcPts val="2696"/>
              </a:lnSpc>
              <a:buFont typeface="Arial"/>
              <a:buChar char="•"/>
            </a:pPr>
            <a:r>
              <a:rPr lang="en-US" sz="2247">
                <a:solidFill>
                  <a:srgbClr val="191919"/>
                </a:solidFill>
                <a:latin typeface="Arimo"/>
                <a:ea typeface="Arimo"/>
                <a:cs typeface="Arimo"/>
                <a:sym typeface="Arimo"/>
              </a:rPr>
              <a:t>Mediation: closest proxy available = “Mediator(s) listened attentively</a:t>
            </a:r>
          </a:p>
          <a:p>
            <a:pPr algn="l">
              <a:lnSpc>
                <a:spcPts val="2696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3279392" y="4226013"/>
            <a:ext cx="3126558" cy="2762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true">
                <a:solidFill>
                  <a:srgbClr val="3B4F8D"/>
                </a:solidFill>
                <a:latin typeface="Arimo Bold"/>
                <a:ea typeface="Arimo Bold"/>
                <a:cs typeface="Arimo Bold"/>
                <a:sym typeface="Arimo Bold"/>
              </a:rPr>
              <a:t>“Low”</a:t>
            </a:r>
          </a:p>
          <a:p>
            <a:pPr algn="ctr">
              <a:lnSpc>
                <a:spcPts val="3600"/>
              </a:lnSpc>
            </a:pPr>
            <a:r>
              <a:rPr lang="en-US" sz="3000" b="true">
                <a:solidFill>
                  <a:srgbClr val="3B4F8D"/>
                </a:solidFill>
                <a:latin typeface="Arimo Bold"/>
                <a:ea typeface="Arimo Bold"/>
                <a:cs typeface="Arimo Bold"/>
                <a:sym typeface="Arimo Bold"/>
              </a:rPr>
              <a:t> =</a:t>
            </a:r>
          </a:p>
          <a:p>
            <a:pPr algn="ctr">
              <a:lnSpc>
                <a:spcPts val="3600"/>
              </a:lnSpc>
            </a:pPr>
            <a:r>
              <a:rPr lang="en-US" b="true" sz="3000">
                <a:solidFill>
                  <a:srgbClr val="3B4F8D"/>
                </a:solidFill>
                <a:latin typeface="Arimo Bold"/>
                <a:ea typeface="Arimo Bold"/>
                <a:cs typeface="Arimo Bold"/>
                <a:sym typeface="Arimo Bold"/>
              </a:rPr>
              <a:t>Disagre</a:t>
            </a:r>
            <a:r>
              <a:rPr lang="en-US" b="true" sz="3000">
                <a:solidFill>
                  <a:srgbClr val="3B4F8D"/>
                </a:solidFill>
                <a:latin typeface="Arimo Bold"/>
                <a:ea typeface="Arimo Bold"/>
                <a:cs typeface="Arimo Bold"/>
                <a:sym typeface="Arimo Bold"/>
              </a:rPr>
              <a:t>e </a:t>
            </a:r>
          </a:p>
          <a:p>
            <a:pPr algn="ctr">
              <a:lnSpc>
                <a:spcPts val="3600"/>
              </a:lnSpc>
            </a:pPr>
            <a:r>
              <a:rPr lang="en-US" b="true" sz="3000">
                <a:solidFill>
                  <a:srgbClr val="3B4F8D"/>
                </a:solidFill>
                <a:latin typeface="Arimo Bold"/>
                <a:ea typeface="Arimo Bold"/>
                <a:cs typeface="Arimo Bold"/>
                <a:sym typeface="Arimo Bold"/>
              </a:rPr>
              <a:t>+ </a:t>
            </a:r>
          </a:p>
          <a:p>
            <a:pPr algn="ctr">
              <a:lnSpc>
                <a:spcPts val="3600"/>
              </a:lnSpc>
            </a:pPr>
            <a:r>
              <a:rPr lang="en-US" b="true" sz="3000">
                <a:solidFill>
                  <a:srgbClr val="3B4F8D"/>
                </a:solidFill>
                <a:latin typeface="Arimo Bold"/>
                <a:ea typeface="Arimo Bold"/>
                <a:cs typeface="Arimo Bold"/>
                <a:sym typeface="Arimo Bold"/>
              </a:rPr>
              <a:t>Strongly disagree</a:t>
            </a:r>
          </a:p>
        </p:txBody>
      </p:sp>
    </p:spTree>
  </p:cSld>
  <p:clrMapOvr>
    <a:masterClrMapping/>
  </p:clrMapOvr>
  <p:transition spd="slow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0" y="9190750"/>
            <a:ext cx="18288034" cy="1181932"/>
            <a:chOff x="0" y="0"/>
            <a:chExt cx="24384045" cy="15759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575816"/>
            </a:xfrm>
            <a:custGeom>
              <a:avLst/>
              <a:gdLst/>
              <a:ahLst/>
              <a:cxnLst/>
              <a:rect r="r" b="b" t="t" l="l"/>
              <a:pathLst>
                <a:path h="1575816" w="24384000">
                  <a:moveTo>
                    <a:pt x="0" y="0"/>
                  </a:moveTo>
                  <a:lnTo>
                    <a:pt x="0" y="1575816"/>
                  </a:lnTo>
                  <a:lnTo>
                    <a:pt x="24384000" y="1575816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CFE2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102358" y="9622950"/>
            <a:ext cx="3255112" cy="923408"/>
            <a:chOff x="0" y="0"/>
            <a:chExt cx="4340149" cy="123121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27" y="127"/>
              <a:ext cx="4340098" cy="1231011"/>
            </a:xfrm>
            <a:custGeom>
              <a:avLst/>
              <a:gdLst/>
              <a:ahLst/>
              <a:cxnLst/>
              <a:rect r="r" b="b" t="t" l="l"/>
              <a:pathLst>
                <a:path h="1231011" w="4340098">
                  <a:moveTo>
                    <a:pt x="2161032" y="0"/>
                  </a:moveTo>
                  <a:cubicBezTo>
                    <a:pt x="961771" y="0"/>
                    <a:pt x="0" y="271399"/>
                    <a:pt x="0" y="614172"/>
                  </a:cubicBezTo>
                  <a:cubicBezTo>
                    <a:pt x="0" y="954151"/>
                    <a:pt x="972058" y="1231011"/>
                    <a:pt x="2170049" y="1231011"/>
                  </a:cubicBezTo>
                  <a:cubicBezTo>
                    <a:pt x="3368040" y="1231011"/>
                    <a:pt x="4340098" y="954151"/>
                    <a:pt x="4340098" y="614172"/>
                  </a:cubicBezTo>
                  <a:cubicBezTo>
                    <a:pt x="4339971" y="271399"/>
                    <a:pt x="3358896" y="0"/>
                    <a:pt x="2161032" y="0"/>
                  </a:cubicBezTo>
                  <a:close/>
                </a:path>
              </a:pathLst>
            </a:custGeom>
            <a:solidFill>
              <a:srgbClr val="191919">
                <a:alpha val="2745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1156366" y="9622950"/>
            <a:ext cx="3255112" cy="923408"/>
            <a:chOff x="0" y="0"/>
            <a:chExt cx="4340149" cy="123121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27" y="127"/>
              <a:ext cx="4340098" cy="1231011"/>
            </a:xfrm>
            <a:custGeom>
              <a:avLst/>
              <a:gdLst/>
              <a:ahLst/>
              <a:cxnLst/>
              <a:rect r="r" b="b" t="t" l="l"/>
              <a:pathLst>
                <a:path h="1231011" w="4340098">
                  <a:moveTo>
                    <a:pt x="2161032" y="0"/>
                  </a:moveTo>
                  <a:cubicBezTo>
                    <a:pt x="961771" y="0"/>
                    <a:pt x="0" y="271399"/>
                    <a:pt x="0" y="614172"/>
                  </a:cubicBezTo>
                  <a:cubicBezTo>
                    <a:pt x="0" y="954151"/>
                    <a:pt x="972058" y="1231011"/>
                    <a:pt x="2170049" y="1231011"/>
                  </a:cubicBezTo>
                  <a:cubicBezTo>
                    <a:pt x="3368040" y="1231011"/>
                    <a:pt x="4340098" y="954151"/>
                    <a:pt x="4340098" y="614172"/>
                  </a:cubicBezTo>
                  <a:cubicBezTo>
                    <a:pt x="4339971" y="271399"/>
                    <a:pt x="3358896" y="0"/>
                    <a:pt x="2161032" y="0"/>
                  </a:cubicBezTo>
                  <a:close/>
                </a:path>
              </a:pathLst>
            </a:custGeom>
            <a:solidFill>
              <a:srgbClr val="191919">
                <a:alpha val="2745"/>
              </a:srgbClr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6861650" y="4501954"/>
            <a:ext cx="1736540" cy="5785046"/>
          </a:xfrm>
          <a:custGeom>
            <a:avLst/>
            <a:gdLst/>
            <a:ahLst/>
            <a:cxnLst/>
            <a:rect r="r" b="b" t="t" l="l"/>
            <a:pathLst>
              <a:path h="5785046" w="1736540">
                <a:moveTo>
                  <a:pt x="0" y="0"/>
                </a:moveTo>
                <a:lnTo>
                  <a:pt x="1736540" y="0"/>
                </a:lnTo>
                <a:lnTo>
                  <a:pt x="1736540" y="5785046"/>
                </a:lnTo>
                <a:lnTo>
                  <a:pt x="0" y="57850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27450" y="4501950"/>
            <a:ext cx="1597228" cy="5785048"/>
          </a:xfrm>
          <a:custGeom>
            <a:avLst/>
            <a:gdLst/>
            <a:ahLst/>
            <a:cxnLst/>
            <a:rect r="r" b="b" t="t" l="l"/>
            <a:pathLst>
              <a:path h="5785048" w="1597228">
                <a:moveTo>
                  <a:pt x="0" y="0"/>
                </a:moveTo>
                <a:lnTo>
                  <a:pt x="1597228" y="0"/>
                </a:lnTo>
                <a:lnTo>
                  <a:pt x="1597228" y="5785048"/>
                </a:lnTo>
                <a:lnTo>
                  <a:pt x="0" y="578504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457768" y="415885"/>
            <a:ext cx="8756612" cy="7517040"/>
          </a:xfrm>
          <a:custGeom>
            <a:avLst/>
            <a:gdLst/>
            <a:ahLst/>
            <a:cxnLst/>
            <a:rect r="r" b="b" t="t" l="l"/>
            <a:pathLst>
              <a:path h="7517040" w="8756612">
                <a:moveTo>
                  <a:pt x="0" y="0"/>
                </a:moveTo>
                <a:lnTo>
                  <a:pt x="8756612" y="0"/>
                </a:lnTo>
                <a:lnTo>
                  <a:pt x="8756612" y="7517040"/>
                </a:lnTo>
                <a:lnTo>
                  <a:pt x="0" y="75170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1934487" y="3526705"/>
            <a:ext cx="5018395" cy="1276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37"/>
              </a:lnSpc>
            </a:pPr>
            <a:r>
              <a:rPr lang="en-US" b="true" sz="2781">
                <a:solidFill>
                  <a:srgbClr val="3B4F8D"/>
                </a:solidFill>
                <a:latin typeface="Arimo Bold"/>
                <a:ea typeface="Arimo Bold"/>
                <a:cs typeface="Arimo Bold"/>
                <a:sym typeface="Arimo Bold"/>
              </a:rPr>
              <a:t>Negative open-text </a:t>
            </a:r>
            <a:r>
              <a:rPr lang="en-US" b="true" sz="2781">
                <a:solidFill>
                  <a:srgbClr val="3B4F8D"/>
                </a:solidFill>
                <a:latin typeface="Arimo Bold"/>
                <a:ea typeface="Arimo Bold"/>
                <a:cs typeface="Arimo Bold"/>
                <a:sym typeface="Arimo Bold"/>
              </a:rPr>
              <a:t>sentim</a:t>
            </a:r>
            <a:r>
              <a:rPr lang="en-US" b="true" sz="2781">
                <a:solidFill>
                  <a:srgbClr val="3B4F8D"/>
                </a:solidFill>
                <a:latin typeface="Arimo Bold"/>
                <a:ea typeface="Arimo Bold"/>
                <a:cs typeface="Arimo Bold"/>
                <a:sym typeface="Arimo Bold"/>
              </a:rPr>
              <a:t>ent = % of comments classified negative via keyword scoring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628070" y="396835"/>
            <a:ext cx="5631230" cy="2705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6"/>
              </a:lnSpc>
            </a:pPr>
            <a:r>
              <a:rPr lang="en-US" sz="2947">
                <a:solidFill>
                  <a:srgbClr val="191919"/>
                </a:solidFill>
                <a:latin typeface="Arimo"/>
                <a:ea typeface="Arimo"/>
                <a:cs typeface="Arimo"/>
                <a:sym typeface="Arimo"/>
              </a:rPr>
              <a:t>EXAMPLES:</a:t>
            </a:r>
          </a:p>
          <a:p>
            <a:pPr algn="l" marL="636328" indent="-318164" lvl="1">
              <a:lnSpc>
                <a:spcPts val="3536"/>
              </a:lnSpc>
              <a:buFont typeface="Arial"/>
              <a:buChar char="•"/>
            </a:pPr>
            <a:r>
              <a:rPr lang="en-US" sz="2947">
                <a:solidFill>
                  <a:srgbClr val="191919"/>
                </a:solidFill>
                <a:latin typeface="Arimo"/>
                <a:ea typeface="Arimo"/>
                <a:cs typeface="Arimo"/>
                <a:sym typeface="Arimo"/>
              </a:rPr>
              <a:t>felt ignored</a:t>
            </a:r>
          </a:p>
          <a:p>
            <a:pPr algn="l" marL="636328" indent="-318164" lvl="1">
              <a:lnSpc>
                <a:spcPts val="3536"/>
              </a:lnSpc>
              <a:buFont typeface="Arial"/>
              <a:buChar char="•"/>
            </a:pPr>
            <a:r>
              <a:rPr lang="en-US" sz="2947">
                <a:solidFill>
                  <a:srgbClr val="191919"/>
                </a:solidFill>
                <a:latin typeface="Arimo"/>
                <a:ea typeface="Arimo"/>
                <a:cs typeface="Arimo"/>
                <a:sym typeface="Arimo"/>
              </a:rPr>
              <a:t>di</a:t>
            </a:r>
            <a:r>
              <a:rPr lang="en-US" sz="2947">
                <a:solidFill>
                  <a:srgbClr val="191919"/>
                </a:solidFill>
                <a:latin typeface="Arimo"/>
                <a:ea typeface="Arimo"/>
                <a:cs typeface="Arimo"/>
                <a:sym typeface="Arimo"/>
              </a:rPr>
              <a:t>smissed</a:t>
            </a:r>
          </a:p>
          <a:p>
            <a:pPr algn="l" marL="636328" indent="-318164" lvl="1">
              <a:lnSpc>
                <a:spcPts val="3536"/>
              </a:lnSpc>
              <a:buFont typeface="Arial"/>
              <a:buChar char="•"/>
            </a:pPr>
            <a:r>
              <a:rPr lang="en-US" sz="2947">
                <a:solidFill>
                  <a:srgbClr val="191919"/>
                </a:solidFill>
                <a:latin typeface="Arimo"/>
                <a:ea typeface="Arimo"/>
                <a:cs typeface="Arimo"/>
                <a:sym typeface="Arimo"/>
              </a:rPr>
              <a:t>talked over</a:t>
            </a:r>
          </a:p>
          <a:p>
            <a:pPr algn="l" marL="636328" indent="-318164" lvl="1">
              <a:lnSpc>
                <a:spcPts val="3536"/>
              </a:lnSpc>
              <a:buFont typeface="Arial"/>
              <a:buChar char="•"/>
            </a:pPr>
            <a:r>
              <a:rPr lang="en-US" sz="2947">
                <a:solidFill>
                  <a:srgbClr val="191919"/>
                </a:solidFill>
                <a:latin typeface="Arimo"/>
                <a:ea typeface="Arimo"/>
                <a:cs typeface="Arimo"/>
                <a:sym typeface="Arimo"/>
              </a:rPr>
              <a:t>no one listened</a:t>
            </a:r>
          </a:p>
          <a:p>
            <a:pPr algn="l">
              <a:lnSpc>
                <a:spcPts val="3536"/>
              </a:lnSpc>
            </a:pPr>
          </a:p>
        </p:txBody>
      </p:sp>
    </p:spTree>
  </p:cSld>
  <p:clrMapOvr>
    <a:masterClrMapping/>
  </p:clrMapOvr>
  <p:transition spd="slow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0" y="9190750"/>
            <a:ext cx="18288034" cy="1181932"/>
            <a:chOff x="0" y="0"/>
            <a:chExt cx="24384045" cy="15759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575816"/>
            </a:xfrm>
            <a:custGeom>
              <a:avLst/>
              <a:gdLst/>
              <a:ahLst/>
              <a:cxnLst/>
              <a:rect r="r" b="b" t="t" l="l"/>
              <a:pathLst>
                <a:path h="1575816" w="24384000">
                  <a:moveTo>
                    <a:pt x="0" y="0"/>
                  </a:moveTo>
                  <a:lnTo>
                    <a:pt x="0" y="1575816"/>
                  </a:lnTo>
                  <a:lnTo>
                    <a:pt x="24384000" y="1575816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CFE2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102358" y="9622950"/>
            <a:ext cx="3255112" cy="923408"/>
            <a:chOff x="0" y="0"/>
            <a:chExt cx="4340149" cy="123121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27" y="127"/>
              <a:ext cx="4340098" cy="1231011"/>
            </a:xfrm>
            <a:custGeom>
              <a:avLst/>
              <a:gdLst/>
              <a:ahLst/>
              <a:cxnLst/>
              <a:rect r="r" b="b" t="t" l="l"/>
              <a:pathLst>
                <a:path h="1231011" w="4340098">
                  <a:moveTo>
                    <a:pt x="2161032" y="0"/>
                  </a:moveTo>
                  <a:cubicBezTo>
                    <a:pt x="961771" y="0"/>
                    <a:pt x="0" y="271399"/>
                    <a:pt x="0" y="614172"/>
                  </a:cubicBezTo>
                  <a:cubicBezTo>
                    <a:pt x="0" y="954151"/>
                    <a:pt x="972058" y="1231011"/>
                    <a:pt x="2170049" y="1231011"/>
                  </a:cubicBezTo>
                  <a:cubicBezTo>
                    <a:pt x="3368040" y="1231011"/>
                    <a:pt x="4340098" y="954151"/>
                    <a:pt x="4340098" y="614172"/>
                  </a:cubicBezTo>
                  <a:cubicBezTo>
                    <a:pt x="4339971" y="271399"/>
                    <a:pt x="3358896" y="0"/>
                    <a:pt x="2161032" y="0"/>
                  </a:cubicBezTo>
                  <a:close/>
                </a:path>
              </a:pathLst>
            </a:custGeom>
            <a:solidFill>
              <a:srgbClr val="191919">
                <a:alpha val="2745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1156366" y="9622950"/>
            <a:ext cx="3255112" cy="923408"/>
            <a:chOff x="0" y="0"/>
            <a:chExt cx="4340149" cy="123121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27" y="127"/>
              <a:ext cx="4340098" cy="1231011"/>
            </a:xfrm>
            <a:custGeom>
              <a:avLst/>
              <a:gdLst/>
              <a:ahLst/>
              <a:cxnLst/>
              <a:rect r="r" b="b" t="t" l="l"/>
              <a:pathLst>
                <a:path h="1231011" w="4340098">
                  <a:moveTo>
                    <a:pt x="2161032" y="0"/>
                  </a:moveTo>
                  <a:cubicBezTo>
                    <a:pt x="961771" y="0"/>
                    <a:pt x="0" y="271399"/>
                    <a:pt x="0" y="614172"/>
                  </a:cubicBezTo>
                  <a:cubicBezTo>
                    <a:pt x="0" y="954151"/>
                    <a:pt x="972058" y="1231011"/>
                    <a:pt x="2170049" y="1231011"/>
                  </a:cubicBezTo>
                  <a:cubicBezTo>
                    <a:pt x="3368040" y="1231011"/>
                    <a:pt x="4340098" y="954151"/>
                    <a:pt x="4340098" y="614172"/>
                  </a:cubicBezTo>
                  <a:cubicBezTo>
                    <a:pt x="4339971" y="271399"/>
                    <a:pt x="3358896" y="0"/>
                    <a:pt x="2161032" y="0"/>
                  </a:cubicBezTo>
                  <a:close/>
                </a:path>
              </a:pathLst>
            </a:custGeom>
            <a:solidFill>
              <a:srgbClr val="191919">
                <a:alpha val="2745"/>
              </a:srgbClr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6861650" y="4501954"/>
            <a:ext cx="1736540" cy="5785046"/>
          </a:xfrm>
          <a:custGeom>
            <a:avLst/>
            <a:gdLst/>
            <a:ahLst/>
            <a:cxnLst/>
            <a:rect r="r" b="b" t="t" l="l"/>
            <a:pathLst>
              <a:path h="5785046" w="1736540">
                <a:moveTo>
                  <a:pt x="0" y="0"/>
                </a:moveTo>
                <a:lnTo>
                  <a:pt x="1736540" y="0"/>
                </a:lnTo>
                <a:lnTo>
                  <a:pt x="1736540" y="5785046"/>
                </a:lnTo>
                <a:lnTo>
                  <a:pt x="0" y="57850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27450" y="4501950"/>
            <a:ext cx="1597228" cy="5785048"/>
          </a:xfrm>
          <a:custGeom>
            <a:avLst/>
            <a:gdLst/>
            <a:ahLst/>
            <a:cxnLst/>
            <a:rect r="r" b="b" t="t" l="l"/>
            <a:pathLst>
              <a:path h="5785048" w="1597228">
                <a:moveTo>
                  <a:pt x="0" y="0"/>
                </a:moveTo>
                <a:lnTo>
                  <a:pt x="1597228" y="0"/>
                </a:lnTo>
                <a:lnTo>
                  <a:pt x="1597228" y="5785048"/>
                </a:lnTo>
                <a:lnTo>
                  <a:pt x="0" y="578504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48062" y="582806"/>
            <a:ext cx="10399055" cy="7838287"/>
          </a:xfrm>
          <a:custGeom>
            <a:avLst/>
            <a:gdLst/>
            <a:ahLst/>
            <a:cxnLst/>
            <a:rect r="r" b="b" t="t" l="l"/>
            <a:pathLst>
              <a:path h="7838287" w="10399055">
                <a:moveTo>
                  <a:pt x="0" y="0"/>
                </a:moveTo>
                <a:lnTo>
                  <a:pt x="10399055" y="0"/>
                </a:lnTo>
                <a:lnTo>
                  <a:pt x="10399055" y="7838288"/>
                </a:lnTo>
                <a:lnTo>
                  <a:pt x="0" y="783828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2225401" y="7218214"/>
            <a:ext cx="5412558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b="true" sz="3000">
                <a:solidFill>
                  <a:srgbClr val="3B4F8D"/>
                </a:solidFill>
                <a:latin typeface="Arimo Bold"/>
                <a:ea typeface="Arimo Bold"/>
                <a:cs typeface="Arimo Bold"/>
                <a:sym typeface="Arimo Bold"/>
              </a:rPr>
              <a:t>Recommend = Agre</a:t>
            </a:r>
            <a:r>
              <a:rPr lang="en-US" b="true" sz="3000">
                <a:solidFill>
                  <a:srgbClr val="3B4F8D"/>
                </a:solidFill>
                <a:latin typeface="Arimo Bold"/>
                <a:ea typeface="Arimo Bold"/>
                <a:cs typeface="Arimo Bold"/>
                <a:sym typeface="Arimo Bold"/>
              </a:rPr>
              <a:t>e + Strongly Agree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656754" y="1009650"/>
            <a:ext cx="5631230" cy="404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6"/>
              </a:lnSpc>
            </a:pPr>
            <a:r>
              <a:rPr lang="en-US" sz="2947">
                <a:solidFill>
                  <a:srgbClr val="191919"/>
                </a:solidFill>
                <a:latin typeface="Arimo"/>
                <a:ea typeface="Arimo"/>
                <a:cs typeface="Arimo"/>
                <a:sym typeface="Arimo"/>
              </a:rPr>
              <a:t>EXAMPLES:</a:t>
            </a:r>
          </a:p>
          <a:p>
            <a:pPr algn="l" marL="636328" indent="-318164" lvl="1">
              <a:lnSpc>
                <a:spcPts val="3536"/>
              </a:lnSpc>
              <a:buFont typeface="Arial"/>
              <a:buChar char="•"/>
            </a:pPr>
            <a:r>
              <a:rPr lang="en-US" sz="2947">
                <a:solidFill>
                  <a:srgbClr val="191919"/>
                </a:solidFill>
                <a:latin typeface="Arimo"/>
                <a:ea typeface="Arimo"/>
                <a:cs typeface="Arimo"/>
                <a:sym typeface="Arimo"/>
              </a:rPr>
              <a:t>highly recommend</a:t>
            </a:r>
          </a:p>
          <a:p>
            <a:pPr algn="l" marL="636328" indent="-318164" lvl="1">
              <a:lnSpc>
                <a:spcPts val="3536"/>
              </a:lnSpc>
              <a:buFont typeface="Arial"/>
              <a:buChar char="•"/>
            </a:pPr>
            <a:r>
              <a:rPr lang="en-US" sz="2947">
                <a:solidFill>
                  <a:srgbClr val="191919"/>
                </a:solidFill>
                <a:latin typeface="Arimo"/>
                <a:ea typeface="Arimo"/>
                <a:cs typeface="Arimo"/>
                <a:sym typeface="Arimo"/>
              </a:rPr>
              <a:t>would ab</a:t>
            </a:r>
            <a:r>
              <a:rPr lang="en-US" sz="2947">
                <a:solidFill>
                  <a:srgbClr val="191919"/>
                </a:solidFill>
                <a:latin typeface="Arimo"/>
                <a:ea typeface="Arimo"/>
                <a:cs typeface="Arimo"/>
                <a:sym typeface="Arimo"/>
              </a:rPr>
              <a:t>solutely recommend</a:t>
            </a:r>
          </a:p>
          <a:p>
            <a:pPr algn="l" marL="636328" indent="-318164" lvl="1">
              <a:lnSpc>
                <a:spcPts val="3536"/>
              </a:lnSpc>
              <a:buFont typeface="Arial"/>
              <a:buChar char="•"/>
            </a:pPr>
            <a:r>
              <a:rPr lang="en-US" sz="2947">
                <a:solidFill>
                  <a:srgbClr val="191919"/>
                </a:solidFill>
                <a:latin typeface="Arimo"/>
                <a:ea typeface="Arimo"/>
                <a:cs typeface="Arimo"/>
                <a:sym typeface="Arimo"/>
              </a:rPr>
              <a:t>s</a:t>
            </a:r>
            <a:r>
              <a:rPr lang="en-US" sz="2947">
                <a:solidFill>
                  <a:srgbClr val="191919"/>
                </a:solidFill>
                <a:latin typeface="Arimo"/>
                <a:ea typeface="Arimo"/>
                <a:cs typeface="Arimo"/>
                <a:sym typeface="Arimo"/>
              </a:rPr>
              <a:t>trongly recommend</a:t>
            </a:r>
          </a:p>
          <a:p>
            <a:pPr algn="l" marL="636328" indent="-318164" lvl="1">
              <a:lnSpc>
                <a:spcPts val="3536"/>
              </a:lnSpc>
              <a:buFont typeface="Arial"/>
              <a:buChar char="•"/>
            </a:pPr>
            <a:r>
              <a:rPr lang="en-US" sz="2947">
                <a:solidFill>
                  <a:srgbClr val="191919"/>
                </a:solidFill>
                <a:latin typeface="Arimo"/>
                <a:ea typeface="Arimo"/>
                <a:cs typeface="Arimo"/>
                <a:sym typeface="Arimo"/>
              </a:rPr>
              <a:t>can</a:t>
            </a:r>
            <a:r>
              <a:rPr lang="en-US" sz="2947">
                <a:solidFill>
                  <a:srgbClr val="191919"/>
                </a:solidFill>
                <a:latin typeface="Arimo"/>
                <a:ea typeface="Arimo"/>
                <a:cs typeface="Arimo"/>
                <a:sym typeface="Arimo"/>
              </a:rPr>
              <a:t>not recommend enough</a:t>
            </a:r>
          </a:p>
          <a:p>
            <a:pPr algn="l" marL="636328" indent="-318164" lvl="1">
              <a:lnSpc>
                <a:spcPts val="3536"/>
              </a:lnSpc>
              <a:buFont typeface="Arial"/>
              <a:buChar char="•"/>
            </a:pPr>
            <a:r>
              <a:rPr lang="en-US" sz="2947">
                <a:solidFill>
                  <a:srgbClr val="191919"/>
                </a:solidFill>
                <a:latin typeface="Arimo"/>
                <a:ea typeface="Arimo"/>
                <a:cs typeface="Arimo"/>
                <a:sym typeface="Arimo"/>
              </a:rPr>
              <a:t>life-changing</a:t>
            </a:r>
          </a:p>
          <a:p>
            <a:pPr algn="l" marL="636328" indent="-318164" lvl="1">
              <a:lnSpc>
                <a:spcPts val="3536"/>
              </a:lnSpc>
              <a:buFont typeface="Arial"/>
              <a:buChar char="•"/>
            </a:pPr>
            <a:r>
              <a:rPr lang="en-US" sz="2947">
                <a:solidFill>
                  <a:srgbClr val="191919"/>
                </a:solidFill>
                <a:latin typeface="Arimo"/>
                <a:ea typeface="Arimo"/>
                <a:cs typeface="Arimo"/>
                <a:sym typeface="Arimo"/>
              </a:rPr>
              <a:t>transformative</a:t>
            </a:r>
          </a:p>
          <a:p>
            <a:pPr algn="l" marL="636328" indent="-318164" lvl="1">
              <a:lnSpc>
                <a:spcPts val="3536"/>
              </a:lnSpc>
              <a:buFont typeface="Arial"/>
              <a:buChar char="•"/>
            </a:pPr>
            <a:r>
              <a:rPr lang="en-US" sz="2947">
                <a:solidFill>
                  <a:srgbClr val="191919"/>
                </a:solidFill>
                <a:latin typeface="Arimo"/>
                <a:ea typeface="Arimo"/>
                <a:cs typeface="Arimo"/>
                <a:sym typeface="Arimo"/>
              </a:rPr>
              <a:t>invaluable</a:t>
            </a:r>
          </a:p>
          <a:p>
            <a:pPr algn="l">
              <a:lnSpc>
                <a:spcPts val="3536"/>
              </a:lnSpc>
            </a:pPr>
          </a:p>
        </p:txBody>
      </p:sp>
    </p:spTree>
  </p:cSld>
  <p:clrMapOvr>
    <a:masterClrMapping/>
  </p:clrMapOvr>
  <p:transition spd="slow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0" y="9190750"/>
            <a:ext cx="18288034" cy="1181932"/>
            <a:chOff x="0" y="0"/>
            <a:chExt cx="24384045" cy="15759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575816"/>
            </a:xfrm>
            <a:custGeom>
              <a:avLst/>
              <a:gdLst/>
              <a:ahLst/>
              <a:cxnLst/>
              <a:rect r="r" b="b" t="t" l="l"/>
              <a:pathLst>
                <a:path h="1575816" w="24384000">
                  <a:moveTo>
                    <a:pt x="0" y="0"/>
                  </a:moveTo>
                  <a:lnTo>
                    <a:pt x="0" y="1575816"/>
                  </a:lnTo>
                  <a:lnTo>
                    <a:pt x="24384000" y="1575816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CFE2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953600" y="9378550"/>
            <a:ext cx="7334404" cy="1578358"/>
            <a:chOff x="0" y="0"/>
            <a:chExt cx="9779205" cy="210447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27" y="254"/>
              <a:ext cx="9779000" cy="2104009"/>
            </a:xfrm>
            <a:custGeom>
              <a:avLst/>
              <a:gdLst/>
              <a:ahLst/>
              <a:cxnLst/>
              <a:rect r="r" b="b" t="t" l="l"/>
              <a:pathLst>
                <a:path h="2104009" w="9779000">
                  <a:moveTo>
                    <a:pt x="4869434" y="0"/>
                  </a:moveTo>
                  <a:cubicBezTo>
                    <a:pt x="2167128" y="0"/>
                    <a:pt x="0" y="463931"/>
                    <a:pt x="0" y="1049782"/>
                  </a:cubicBezTo>
                  <a:cubicBezTo>
                    <a:pt x="0" y="1630934"/>
                    <a:pt x="2190369" y="2104009"/>
                    <a:pt x="4889500" y="2104009"/>
                  </a:cubicBezTo>
                  <a:cubicBezTo>
                    <a:pt x="7588377" y="2104009"/>
                    <a:pt x="9779000" y="1630807"/>
                    <a:pt x="9779000" y="1049782"/>
                  </a:cubicBezTo>
                  <a:cubicBezTo>
                    <a:pt x="9778873" y="463931"/>
                    <a:pt x="7568565" y="0"/>
                    <a:pt x="4869434" y="0"/>
                  </a:cubicBezTo>
                  <a:close/>
                </a:path>
              </a:pathLst>
            </a:custGeom>
            <a:solidFill>
              <a:srgbClr val="191919">
                <a:alpha val="2745"/>
              </a:srgbClr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5768444" y="5773164"/>
            <a:ext cx="2178862" cy="4513578"/>
          </a:xfrm>
          <a:custGeom>
            <a:avLst/>
            <a:gdLst/>
            <a:ahLst/>
            <a:cxnLst/>
            <a:rect r="r" b="b" t="t" l="l"/>
            <a:pathLst>
              <a:path h="4513578" w="2178862">
                <a:moveTo>
                  <a:pt x="0" y="0"/>
                </a:moveTo>
                <a:lnTo>
                  <a:pt x="2178862" y="0"/>
                </a:lnTo>
                <a:lnTo>
                  <a:pt x="2178862" y="4513578"/>
                </a:lnTo>
                <a:lnTo>
                  <a:pt x="0" y="45135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06082" y="7589700"/>
            <a:ext cx="15996636" cy="2808426"/>
          </a:xfrm>
          <a:custGeom>
            <a:avLst/>
            <a:gdLst/>
            <a:ahLst/>
            <a:cxnLst/>
            <a:rect r="r" b="b" t="t" l="l"/>
            <a:pathLst>
              <a:path h="2808426" w="15996636">
                <a:moveTo>
                  <a:pt x="0" y="0"/>
                </a:moveTo>
                <a:lnTo>
                  <a:pt x="15996636" y="0"/>
                </a:lnTo>
                <a:lnTo>
                  <a:pt x="15996636" y="2808426"/>
                </a:lnTo>
                <a:lnTo>
                  <a:pt x="0" y="28084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514986" y="4415060"/>
            <a:ext cx="1747272" cy="5697670"/>
          </a:xfrm>
          <a:custGeom>
            <a:avLst/>
            <a:gdLst/>
            <a:ahLst/>
            <a:cxnLst/>
            <a:rect r="r" b="b" t="t" l="l"/>
            <a:pathLst>
              <a:path h="5697670" w="1747272">
                <a:moveTo>
                  <a:pt x="0" y="0"/>
                </a:moveTo>
                <a:lnTo>
                  <a:pt x="1747272" y="0"/>
                </a:lnTo>
                <a:lnTo>
                  <a:pt x="1747272" y="5697670"/>
                </a:lnTo>
                <a:lnTo>
                  <a:pt x="0" y="569767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91215" y="3935680"/>
            <a:ext cx="6093186" cy="3705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00"/>
              </a:lnSpc>
            </a:pPr>
            <a:r>
              <a:rPr lang="en-US" b="true" sz="12000">
                <a:solidFill>
                  <a:srgbClr val="191919"/>
                </a:solidFill>
                <a:latin typeface="Arimo Bold"/>
                <a:ea typeface="Arimo Bold"/>
                <a:cs typeface="Arimo Bold"/>
                <a:sym typeface="Arimo Bold"/>
              </a:rPr>
              <a:t>Data Insights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091215" y="1803004"/>
            <a:ext cx="2713950" cy="187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00"/>
              </a:lnSpc>
            </a:pPr>
            <a:r>
              <a:rPr lang="en-US" b="true" sz="12000">
                <a:solidFill>
                  <a:srgbClr val="191919"/>
                </a:solidFill>
                <a:latin typeface="Arimo Bold"/>
                <a:ea typeface="Arimo Bold"/>
                <a:cs typeface="Arimo Bold"/>
                <a:sym typeface="Arimo Bold"/>
              </a:rPr>
              <a:t>03</a:t>
            </a:r>
          </a:p>
        </p:txBody>
      </p:sp>
    </p:spTree>
  </p:cSld>
  <p:clrMapOvr>
    <a:masterClrMapping/>
  </p:clrMapOvr>
  <p:transition spd="slow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0" y="9190750"/>
            <a:ext cx="18288034" cy="1181932"/>
            <a:chOff x="0" y="0"/>
            <a:chExt cx="24384045" cy="15759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575816"/>
            </a:xfrm>
            <a:custGeom>
              <a:avLst/>
              <a:gdLst/>
              <a:ahLst/>
              <a:cxnLst/>
              <a:rect r="r" b="b" t="t" l="l"/>
              <a:pathLst>
                <a:path h="1575816" w="24384000">
                  <a:moveTo>
                    <a:pt x="0" y="0"/>
                  </a:moveTo>
                  <a:lnTo>
                    <a:pt x="0" y="1575816"/>
                  </a:lnTo>
                  <a:lnTo>
                    <a:pt x="24384000" y="1575816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CFE2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934900" y="9477600"/>
            <a:ext cx="7334404" cy="1578358"/>
            <a:chOff x="0" y="0"/>
            <a:chExt cx="9779205" cy="210447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27" y="254"/>
              <a:ext cx="9779000" cy="2104009"/>
            </a:xfrm>
            <a:custGeom>
              <a:avLst/>
              <a:gdLst/>
              <a:ahLst/>
              <a:cxnLst/>
              <a:rect r="r" b="b" t="t" l="l"/>
              <a:pathLst>
                <a:path h="2104009" w="9779000">
                  <a:moveTo>
                    <a:pt x="4869434" y="0"/>
                  </a:moveTo>
                  <a:cubicBezTo>
                    <a:pt x="2167128" y="0"/>
                    <a:pt x="0" y="463931"/>
                    <a:pt x="0" y="1049782"/>
                  </a:cubicBezTo>
                  <a:cubicBezTo>
                    <a:pt x="0" y="1630934"/>
                    <a:pt x="2190369" y="2104009"/>
                    <a:pt x="4889500" y="2104009"/>
                  </a:cubicBezTo>
                  <a:cubicBezTo>
                    <a:pt x="7588377" y="2104009"/>
                    <a:pt x="9779000" y="1630807"/>
                    <a:pt x="9779000" y="1049782"/>
                  </a:cubicBezTo>
                  <a:cubicBezTo>
                    <a:pt x="9778873" y="463931"/>
                    <a:pt x="7568565" y="0"/>
                    <a:pt x="4869434" y="0"/>
                  </a:cubicBezTo>
                  <a:close/>
                </a:path>
              </a:pathLst>
            </a:custGeom>
            <a:solidFill>
              <a:srgbClr val="191919">
                <a:alpha val="2745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1564000" y="9477600"/>
            <a:ext cx="7334404" cy="1578358"/>
            <a:chOff x="0" y="0"/>
            <a:chExt cx="9779205" cy="210447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27" y="254"/>
              <a:ext cx="9779000" cy="2104009"/>
            </a:xfrm>
            <a:custGeom>
              <a:avLst/>
              <a:gdLst/>
              <a:ahLst/>
              <a:cxnLst/>
              <a:rect r="r" b="b" t="t" l="l"/>
              <a:pathLst>
                <a:path h="2104009" w="9779000">
                  <a:moveTo>
                    <a:pt x="4869434" y="0"/>
                  </a:moveTo>
                  <a:cubicBezTo>
                    <a:pt x="2167128" y="0"/>
                    <a:pt x="0" y="463931"/>
                    <a:pt x="0" y="1049782"/>
                  </a:cubicBezTo>
                  <a:cubicBezTo>
                    <a:pt x="0" y="1630934"/>
                    <a:pt x="2190369" y="2104009"/>
                    <a:pt x="4889500" y="2104009"/>
                  </a:cubicBezTo>
                  <a:cubicBezTo>
                    <a:pt x="7588377" y="2104009"/>
                    <a:pt x="9779000" y="1630807"/>
                    <a:pt x="9779000" y="1049782"/>
                  </a:cubicBezTo>
                  <a:cubicBezTo>
                    <a:pt x="9778873" y="463931"/>
                    <a:pt x="7568565" y="0"/>
                    <a:pt x="4869434" y="0"/>
                  </a:cubicBezTo>
                  <a:close/>
                </a:path>
              </a:pathLst>
            </a:custGeom>
            <a:solidFill>
              <a:srgbClr val="191919">
                <a:alpha val="2745"/>
              </a:srgbClr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5565941" y="5909660"/>
            <a:ext cx="2591229" cy="4167210"/>
          </a:xfrm>
          <a:custGeom>
            <a:avLst/>
            <a:gdLst/>
            <a:ahLst/>
            <a:cxnLst/>
            <a:rect r="r" b="b" t="t" l="l"/>
            <a:pathLst>
              <a:path h="4167210" w="2591229">
                <a:moveTo>
                  <a:pt x="0" y="0"/>
                </a:moveTo>
                <a:lnTo>
                  <a:pt x="2591229" y="0"/>
                </a:lnTo>
                <a:lnTo>
                  <a:pt x="2591229" y="4167210"/>
                </a:lnTo>
                <a:lnTo>
                  <a:pt x="0" y="41672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966675" y="1626445"/>
            <a:ext cx="4167750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b="true" sz="4800">
                <a:solidFill>
                  <a:srgbClr val="3B4F8D"/>
                </a:solidFill>
                <a:latin typeface="Arimo Bold"/>
                <a:ea typeface="Arimo Bold"/>
                <a:cs typeface="Arimo Bold"/>
                <a:sym typeface="Arimo Bold"/>
              </a:rPr>
              <a:t>Mediation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060125" y="1626445"/>
            <a:ext cx="4167750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b="true" sz="4800">
                <a:solidFill>
                  <a:srgbClr val="3B4F8D"/>
                </a:solidFill>
                <a:latin typeface="Arimo Bold"/>
                <a:ea typeface="Arimo Bold"/>
                <a:cs typeface="Arimo Bold"/>
                <a:sym typeface="Arimo Bold"/>
              </a:rPr>
              <a:t>Coaching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66675" y="3226645"/>
            <a:ext cx="4167750" cy="3133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9"/>
              </a:lnSpc>
            </a:pPr>
            <a:r>
              <a:rPr lang="en-US" sz="2599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91%</a:t>
            </a:r>
            <a:r>
              <a:rPr lang="en-US" sz="2599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 satisfaction with the mediation process, showing the program’s effectiveness in resolving interpersonal conflicts. This is a strong indicator of cost savings in avoiding HR/legal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060119" y="3226645"/>
            <a:ext cx="4167750" cy="3133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9"/>
              </a:lnSpc>
            </a:pPr>
            <a:r>
              <a:rPr lang="en-US" sz="2599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85%</a:t>
            </a:r>
            <a:r>
              <a:rPr lang="en-US" sz="2599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 of participants reported feeling more equipped to handle conflict, demonstrating improved conflict resolution skills and reducing future HR involvement.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153575" y="3226645"/>
            <a:ext cx="4167750" cy="2352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9"/>
              </a:lnSpc>
            </a:pPr>
            <a:r>
              <a:rPr lang="en-US" sz="2599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81.4% imp</a:t>
            </a:r>
            <a:r>
              <a:rPr lang="en-US" sz="2599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rovement in team collaboration and morale, indicating positive workplace culture and enhanced teamwork post-intervention.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153575" y="1626445"/>
            <a:ext cx="4167750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b="true" sz="4800">
                <a:solidFill>
                  <a:srgbClr val="3B4F8D"/>
                </a:solidFill>
                <a:latin typeface="Arimo Bold"/>
                <a:ea typeface="Arimo Bold"/>
                <a:cs typeface="Arimo Bold"/>
                <a:sym typeface="Arimo Bold"/>
              </a:rPr>
              <a:t>Group Work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-133718" y="5909642"/>
            <a:ext cx="2510474" cy="4167210"/>
          </a:xfrm>
          <a:custGeom>
            <a:avLst/>
            <a:gdLst/>
            <a:ahLst/>
            <a:cxnLst/>
            <a:rect r="r" b="b" t="t" l="l"/>
            <a:pathLst>
              <a:path h="4167210" w="2510474">
                <a:moveTo>
                  <a:pt x="0" y="0"/>
                </a:moveTo>
                <a:lnTo>
                  <a:pt x="2510474" y="0"/>
                </a:lnTo>
                <a:lnTo>
                  <a:pt x="2510474" y="4167210"/>
                </a:lnTo>
                <a:lnTo>
                  <a:pt x="0" y="41672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806100" y="7589700"/>
            <a:ext cx="16675574" cy="2808436"/>
          </a:xfrm>
          <a:custGeom>
            <a:avLst/>
            <a:gdLst/>
            <a:ahLst/>
            <a:cxnLst/>
            <a:rect r="r" b="b" t="t" l="l"/>
            <a:pathLst>
              <a:path h="2808436" w="16675574">
                <a:moveTo>
                  <a:pt x="0" y="0"/>
                </a:moveTo>
                <a:lnTo>
                  <a:pt x="16675574" y="0"/>
                </a:lnTo>
                <a:lnTo>
                  <a:pt x="16675574" y="2808436"/>
                </a:lnTo>
                <a:lnTo>
                  <a:pt x="0" y="280843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0" y="9190750"/>
            <a:ext cx="18288034" cy="1181932"/>
            <a:chOff x="0" y="0"/>
            <a:chExt cx="24384045" cy="15759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575816"/>
            </a:xfrm>
            <a:custGeom>
              <a:avLst/>
              <a:gdLst/>
              <a:ahLst/>
              <a:cxnLst/>
              <a:rect r="r" b="b" t="t" l="l"/>
              <a:pathLst>
                <a:path h="1575816" w="24384000">
                  <a:moveTo>
                    <a:pt x="0" y="0"/>
                  </a:moveTo>
                  <a:lnTo>
                    <a:pt x="0" y="1575816"/>
                  </a:lnTo>
                  <a:lnTo>
                    <a:pt x="24384000" y="1575816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CFE2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301708" y="9622950"/>
            <a:ext cx="3255112" cy="923408"/>
            <a:chOff x="0" y="0"/>
            <a:chExt cx="4340149" cy="123121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27" y="127"/>
              <a:ext cx="4340098" cy="1231011"/>
            </a:xfrm>
            <a:custGeom>
              <a:avLst/>
              <a:gdLst/>
              <a:ahLst/>
              <a:cxnLst/>
              <a:rect r="r" b="b" t="t" l="l"/>
              <a:pathLst>
                <a:path h="1231011" w="4340098">
                  <a:moveTo>
                    <a:pt x="2161032" y="0"/>
                  </a:moveTo>
                  <a:cubicBezTo>
                    <a:pt x="961771" y="0"/>
                    <a:pt x="0" y="271399"/>
                    <a:pt x="0" y="614172"/>
                  </a:cubicBezTo>
                  <a:cubicBezTo>
                    <a:pt x="0" y="954151"/>
                    <a:pt x="972058" y="1231011"/>
                    <a:pt x="2170049" y="1231011"/>
                  </a:cubicBezTo>
                  <a:cubicBezTo>
                    <a:pt x="3368040" y="1231011"/>
                    <a:pt x="4340098" y="954151"/>
                    <a:pt x="4340098" y="614172"/>
                  </a:cubicBezTo>
                  <a:cubicBezTo>
                    <a:pt x="4339971" y="271399"/>
                    <a:pt x="3358896" y="0"/>
                    <a:pt x="2161032" y="0"/>
                  </a:cubicBezTo>
                  <a:close/>
                </a:path>
              </a:pathLst>
            </a:custGeom>
            <a:solidFill>
              <a:srgbClr val="191919">
                <a:alpha val="2745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1156366" y="9622950"/>
            <a:ext cx="3255112" cy="923408"/>
            <a:chOff x="0" y="0"/>
            <a:chExt cx="4340149" cy="123121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27" y="127"/>
              <a:ext cx="4340098" cy="1231011"/>
            </a:xfrm>
            <a:custGeom>
              <a:avLst/>
              <a:gdLst/>
              <a:ahLst/>
              <a:cxnLst/>
              <a:rect r="r" b="b" t="t" l="l"/>
              <a:pathLst>
                <a:path h="1231011" w="4340098">
                  <a:moveTo>
                    <a:pt x="2161032" y="0"/>
                  </a:moveTo>
                  <a:cubicBezTo>
                    <a:pt x="961771" y="0"/>
                    <a:pt x="0" y="271399"/>
                    <a:pt x="0" y="614172"/>
                  </a:cubicBezTo>
                  <a:cubicBezTo>
                    <a:pt x="0" y="954151"/>
                    <a:pt x="972058" y="1231011"/>
                    <a:pt x="2170049" y="1231011"/>
                  </a:cubicBezTo>
                  <a:cubicBezTo>
                    <a:pt x="3368040" y="1231011"/>
                    <a:pt x="4340098" y="954151"/>
                    <a:pt x="4340098" y="614172"/>
                  </a:cubicBezTo>
                  <a:cubicBezTo>
                    <a:pt x="4339971" y="271399"/>
                    <a:pt x="3358896" y="0"/>
                    <a:pt x="2161032" y="0"/>
                  </a:cubicBezTo>
                  <a:close/>
                </a:path>
              </a:pathLst>
            </a:custGeom>
            <a:solidFill>
              <a:srgbClr val="191919">
                <a:alpha val="2745"/>
              </a:srgbClr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-738076" y="4489998"/>
            <a:ext cx="2046892" cy="5727550"/>
          </a:xfrm>
          <a:custGeom>
            <a:avLst/>
            <a:gdLst/>
            <a:ahLst/>
            <a:cxnLst/>
            <a:rect r="r" b="b" t="t" l="l"/>
            <a:pathLst>
              <a:path h="5727550" w="2046892">
                <a:moveTo>
                  <a:pt x="0" y="0"/>
                </a:moveTo>
                <a:lnTo>
                  <a:pt x="2046892" y="0"/>
                </a:lnTo>
                <a:lnTo>
                  <a:pt x="2046892" y="5727550"/>
                </a:lnTo>
                <a:lnTo>
                  <a:pt x="0" y="57275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848000" y="4488450"/>
            <a:ext cx="2394858" cy="5654196"/>
          </a:xfrm>
          <a:custGeom>
            <a:avLst/>
            <a:gdLst/>
            <a:ahLst/>
            <a:cxnLst/>
            <a:rect r="r" b="b" t="t" l="l"/>
            <a:pathLst>
              <a:path h="5654196" w="2394858">
                <a:moveTo>
                  <a:pt x="0" y="0"/>
                </a:moveTo>
                <a:lnTo>
                  <a:pt x="2394858" y="0"/>
                </a:lnTo>
                <a:lnTo>
                  <a:pt x="2394858" y="5654196"/>
                </a:lnTo>
                <a:lnTo>
                  <a:pt x="0" y="565419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401008" y="4499700"/>
            <a:ext cx="3582290" cy="5631708"/>
          </a:xfrm>
          <a:custGeom>
            <a:avLst/>
            <a:gdLst/>
            <a:ahLst/>
            <a:cxnLst/>
            <a:rect r="r" b="b" t="t" l="l"/>
            <a:pathLst>
              <a:path h="5631708" w="3582290">
                <a:moveTo>
                  <a:pt x="0" y="0"/>
                </a:moveTo>
                <a:lnTo>
                  <a:pt x="3582290" y="0"/>
                </a:lnTo>
                <a:lnTo>
                  <a:pt x="3582290" y="5631708"/>
                </a:lnTo>
                <a:lnTo>
                  <a:pt x="0" y="563170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350616" y="4959800"/>
            <a:ext cx="5476980" cy="5413906"/>
          </a:xfrm>
          <a:custGeom>
            <a:avLst/>
            <a:gdLst/>
            <a:ahLst/>
            <a:cxnLst/>
            <a:rect r="r" b="b" t="t" l="l"/>
            <a:pathLst>
              <a:path h="5413906" w="5476980">
                <a:moveTo>
                  <a:pt x="0" y="0"/>
                </a:moveTo>
                <a:lnTo>
                  <a:pt x="5476980" y="0"/>
                </a:lnTo>
                <a:lnTo>
                  <a:pt x="5476980" y="5413906"/>
                </a:lnTo>
                <a:lnTo>
                  <a:pt x="0" y="541390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487603" y="2315008"/>
            <a:ext cx="12670650" cy="3705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00"/>
              </a:lnSpc>
            </a:pPr>
            <a:r>
              <a:rPr lang="en-US" b="true" sz="12000">
                <a:solidFill>
                  <a:srgbClr val="191919"/>
                </a:solidFill>
                <a:latin typeface="Arimo Bold"/>
                <a:ea typeface="Arimo Bold"/>
                <a:cs typeface="Arimo Bold"/>
                <a:sym typeface="Arimo Bold"/>
              </a:rPr>
              <a:t>The Cost-Benefit Analysis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89961" y="486208"/>
            <a:ext cx="2713950" cy="187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00"/>
              </a:lnSpc>
            </a:pPr>
            <a:r>
              <a:rPr lang="en-US" b="true" sz="12000">
                <a:solidFill>
                  <a:srgbClr val="191919"/>
                </a:solidFill>
                <a:latin typeface="Arimo Bold"/>
                <a:ea typeface="Arimo Bold"/>
                <a:cs typeface="Arimo Bold"/>
                <a:sym typeface="Arimo Bold"/>
              </a:rPr>
              <a:t>04</a:t>
            </a:r>
          </a:p>
        </p:txBody>
      </p:sp>
    </p:spTree>
  </p:cSld>
  <p:clrMapOvr>
    <a:masterClrMapping/>
  </p:clrMapOvr>
  <p:transition spd="slow">
    <p:push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0" y="9190750"/>
            <a:ext cx="18288034" cy="1181932"/>
            <a:chOff x="0" y="0"/>
            <a:chExt cx="24384045" cy="15759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575816"/>
            </a:xfrm>
            <a:custGeom>
              <a:avLst/>
              <a:gdLst/>
              <a:ahLst/>
              <a:cxnLst/>
              <a:rect r="r" b="b" t="t" l="l"/>
              <a:pathLst>
                <a:path h="1575816" w="24384000">
                  <a:moveTo>
                    <a:pt x="0" y="0"/>
                  </a:moveTo>
                  <a:lnTo>
                    <a:pt x="0" y="1575816"/>
                  </a:lnTo>
                  <a:lnTo>
                    <a:pt x="24384000" y="1575816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CFE2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748642" y="9622950"/>
            <a:ext cx="3255112" cy="923408"/>
            <a:chOff x="0" y="0"/>
            <a:chExt cx="4340149" cy="123121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27" y="127"/>
              <a:ext cx="4339971" cy="1231011"/>
            </a:xfrm>
            <a:custGeom>
              <a:avLst/>
              <a:gdLst/>
              <a:ahLst/>
              <a:cxnLst/>
              <a:rect r="r" b="b" t="t" l="l"/>
              <a:pathLst>
                <a:path h="1231011" w="4339971">
                  <a:moveTo>
                    <a:pt x="2178812" y="0"/>
                  </a:moveTo>
                  <a:cubicBezTo>
                    <a:pt x="3378073" y="0"/>
                    <a:pt x="4339971" y="271399"/>
                    <a:pt x="4339971" y="614172"/>
                  </a:cubicBezTo>
                  <a:cubicBezTo>
                    <a:pt x="4339971" y="954151"/>
                    <a:pt x="3367913" y="1231011"/>
                    <a:pt x="2169922" y="1231011"/>
                  </a:cubicBezTo>
                  <a:cubicBezTo>
                    <a:pt x="971931" y="1231011"/>
                    <a:pt x="0" y="954151"/>
                    <a:pt x="0" y="614172"/>
                  </a:cubicBezTo>
                  <a:cubicBezTo>
                    <a:pt x="0" y="271399"/>
                    <a:pt x="980948" y="0"/>
                    <a:pt x="2178812" y="0"/>
                  </a:cubicBezTo>
                  <a:close/>
                </a:path>
              </a:pathLst>
            </a:custGeom>
            <a:solidFill>
              <a:srgbClr val="191919">
                <a:alpha val="2745"/>
              </a:srgbClr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458550" y="6216200"/>
            <a:ext cx="1600122" cy="3789998"/>
          </a:xfrm>
          <a:custGeom>
            <a:avLst/>
            <a:gdLst/>
            <a:ahLst/>
            <a:cxnLst/>
            <a:rect r="r" b="b" t="t" l="l"/>
            <a:pathLst>
              <a:path h="3789998" w="1600122">
                <a:moveTo>
                  <a:pt x="0" y="0"/>
                </a:moveTo>
                <a:lnTo>
                  <a:pt x="1600122" y="0"/>
                </a:lnTo>
                <a:lnTo>
                  <a:pt x="1600122" y="3789998"/>
                </a:lnTo>
                <a:lnTo>
                  <a:pt x="0" y="37899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6102358" y="9622950"/>
            <a:ext cx="3255112" cy="923408"/>
            <a:chOff x="0" y="0"/>
            <a:chExt cx="4340149" cy="123121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27" y="127"/>
              <a:ext cx="4340098" cy="1231011"/>
            </a:xfrm>
            <a:custGeom>
              <a:avLst/>
              <a:gdLst/>
              <a:ahLst/>
              <a:cxnLst/>
              <a:rect r="r" b="b" t="t" l="l"/>
              <a:pathLst>
                <a:path h="1231011" w="4340098">
                  <a:moveTo>
                    <a:pt x="2161032" y="0"/>
                  </a:moveTo>
                  <a:cubicBezTo>
                    <a:pt x="961771" y="0"/>
                    <a:pt x="0" y="271399"/>
                    <a:pt x="0" y="614172"/>
                  </a:cubicBezTo>
                  <a:cubicBezTo>
                    <a:pt x="0" y="954151"/>
                    <a:pt x="972058" y="1231011"/>
                    <a:pt x="2170049" y="1231011"/>
                  </a:cubicBezTo>
                  <a:cubicBezTo>
                    <a:pt x="3368040" y="1231011"/>
                    <a:pt x="4340098" y="954151"/>
                    <a:pt x="4340098" y="614172"/>
                  </a:cubicBezTo>
                  <a:cubicBezTo>
                    <a:pt x="4339971" y="271399"/>
                    <a:pt x="3358896" y="0"/>
                    <a:pt x="2161032" y="0"/>
                  </a:cubicBezTo>
                  <a:close/>
                </a:path>
              </a:pathLst>
            </a:custGeom>
            <a:solidFill>
              <a:srgbClr val="191919">
                <a:alpha val="2745"/>
              </a:srgbClr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6861650" y="4501954"/>
            <a:ext cx="1736540" cy="5785046"/>
          </a:xfrm>
          <a:custGeom>
            <a:avLst/>
            <a:gdLst/>
            <a:ahLst/>
            <a:cxnLst/>
            <a:rect r="r" b="b" t="t" l="l"/>
            <a:pathLst>
              <a:path h="5785046" w="1736540">
                <a:moveTo>
                  <a:pt x="0" y="0"/>
                </a:moveTo>
                <a:lnTo>
                  <a:pt x="1736540" y="0"/>
                </a:lnTo>
                <a:lnTo>
                  <a:pt x="1736540" y="5785046"/>
                </a:lnTo>
                <a:lnTo>
                  <a:pt x="0" y="57850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531428" y="4985383"/>
            <a:ext cx="3789150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100 ca</a:t>
            </a:r>
            <a:r>
              <a:rPr lang="en-US" sz="2499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ses × 10,000 average cost </a:t>
            </a:r>
          </a:p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= 1,000,000 in savings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879765" y="4985383"/>
            <a:ext cx="4147404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1% r</a:t>
            </a:r>
            <a:r>
              <a:rPr lang="en-US" sz="2499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eduction × 50,000 cost per employee</a:t>
            </a:r>
          </a:p>
          <a:p>
            <a:pPr algn="ctr">
              <a:lnSpc>
                <a:spcPts val="2999"/>
              </a:lnSpc>
            </a:pPr>
            <a:r>
              <a:rPr lang="en-US" sz="2499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= 50,000 saved annually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39228" y="2185193"/>
            <a:ext cx="3773550" cy="219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b="true" sz="4800">
                <a:solidFill>
                  <a:srgbClr val="3B4F8D"/>
                </a:solidFill>
                <a:latin typeface="Arimo Bold"/>
                <a:ea typeface="Arimo Bold"/>
                <a:cs typeface="Arimo Bold"/>
                <a:sym typeface="Arimo Bold"/>
              </a:rPr>
              <a:t>Avoided HR/Leg</a:t>
            </a:r>
            <a:r>
              <a:rPr lang="en-US" b="true" sz="4800">
                <a:solidFill>
                  <a:srgbClr val="3B4F8D"/>
                </a:solidFill>
                <a:latin typeface="Arimo Bold"/>
                <a:ea typeface="Arimo Bold"/>
                <a:cs typeface="Arimo Bold"/>
                <a:sym typeface="Arimo Bold"/>
              </a:rPr>
              <a:t>al Costs: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946440" y="2185193"/>
            <a:ext cx="3773550" cy="219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b="true" sz="4800">
                <a:solidFill>
                  <a:srgbClr val="3B4F8D"/>
                </a:solidFill>
                <a:latin typeface="Arimo Bold"/>
                <a:ea typeface="Arimo Bold"/>
                <a:cs typeface="Arimo Bold"/>
                <a:sym typeface="Arimo Bold"/>
              </a:rPr>
              <a:t>Avoid</a:t>
            </a:r>
            <a:r>
              <a:rPr lang="en-US" b="true" sz="4800">
                <a:solidFill>
                  <a:srgbClr val="3B4F8D"/>
                </a:solidFill>
                <a:latin typeface="Arimo Bold"/>
                <a:ea typeface="Arimo Bold"/>
                <a:cs typeface="Arimo Bold"/>
                <a:sym typeface="Arimo Bold"/>
              </a:rPr>
              <a:t>ed Turnover Costs: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455309" y="2185193"/>
            <a:ext cx="4148863" cy="219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b="true" sz="4800">
                <a:solidFill>
                  <a:srgbClr val="3B4F8D"/>
                </a:solidFill>
                <a:latin typeface="Arimo Bold"/>
                <a:ea typeface="Arimo Bold"/>
                <a:cs typeface="Arimo Bold"/>
                <a:sym typeface="Arimo Bold"/>
              </a:rPr>
              <a:t>Avoid</a:t>
            </a:r>
            <a:r>
              <a:rPr lang="en-US" b="true" sz="4800">
                <a:solidFill>
                  <a:srgbClr val="3B4F8D"/>
                </a:solidFill>
                <a:latin typeface="Arimo Bold"/>
                <a:ea typeface="Arimo Bold"/>
                <a:cs typeface="Arimo Bold"/>
                <a:sym typeface="Arimo Bold"/>
              </a:rPr>
              <a:t>ed Absenteeism Costs: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063258" y="5069717"/>
            <a:ext cx="4693314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100 </a:t>
            </a:r>
            <a:r>
              <a:rPr lang="en-US" sz="2499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employees × 1,000 × 10%</a:t>
            </a:r>
          </a:p>
          <a:p>
            <a:pPr algn="ctr">
              <a:lnSpc>
                <a:spcPts val="2999"/>
              </a:lnSpc>
            </a:pPr>
            <a:r>
              <a:rPr lang="en-US" sz="2499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= 10,000 saved annually</a:t>
            </a:r>
          </a:p>
        </p:txBody>
      </p:sp>
    </p:spTree>
  </p:cSld>
  <p:clrMapOvr>
    <a:masterClrMapping/>
  </p:clrMapOvr>
  <p:transition spd="slow">
    <p:push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0" y="9190750"/>
            <a:ext cx="18288034" cy="1181932"/>
            <a:chOff x="0" y="0"/>
            <a:chExt cx="24384045" cy="15759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575816"/>
            </a:xfrm>
            <a:custGeom>
              <a:avLst/>
              <a:gdLst/>
              <a:ahLst/>
              <a:cxnLst/>
              <a:rect r="r" b="b" t="t" l="l"/>
              <a:pathLst>
                <a:path h="1575816" w="24384000">
                  <a:moveTo>
                    <a:pt x="0" y="0"/>
                  </a:moveTo>
                  <a:lnTo>
                    <a:pt x="0" y="1575816"/>
                  </a:lnTo>
                  <a:lnTo>
                    <a:pt x="24384000" y="1575816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CFE2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20500" y="9378550"/>
            <a:ext cx="10184308" cy="1063818"/>
            <a:chOff x="0" y="0"/>
            <a:chExt cx="13579077" cy="141842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254" y="127"/>
              <a:ext cx="13578587" cy="1418082"/>
            </a:xfrm>
            <a:custGeom>
              <a:avLst/>
              <a:gdLst/>
              <a:ahLst/>
              <a:cxnLst/>
              <a:rect r="r" b="b" t="t" l="l"/>
              <a:pathLst>
                <a:path h="1418082" w="13578587">
                  <a:moveTo>
                    <a:pt x="6761480" y="0"/>
                  </a:moveTo>
                  <a:cubicBezTo>
                    <a:pt x="3009138" y="0"/>
                    <a:pt x="0" y="312674"/>
                    <a:pt x="0" y="707517"/>
                  </a:cubicBezTo>
                  <a:cubicBezTo>
                    <a:pt x="0" y="1099185"/>
                    <a:pt x="3041523" y="1418082"/>
                    <a:pt x="6789294" y="1418082"/>
                  </a:cubicBezTo>
                  <a:cubicBezTo>
                    <a:pt x="10536936" y="1418082"/>
                    <a:pt x="13578587" y="1099185"/>
                    <a:pt x="13578587" y="707517"/>
                  </a:cubicBezTo>
                  <a:cubicBezTo>
                    <a:pt x="13578585" y="312674"/>
                    <a:pt x="10509377" y="0"/>
                    <a:pt x="6761480" y="0"/>
                  </a:cubicBezTo>
                  <a:close/>
                </a:path>
              </a:pathLst>
            </a:custGeom>
            <a:solidFill>
              <a:srgbClr val="191919">
                <a:alpha val="2745"/>
              </a:srgbClr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2414220" y="5426292"/>
            <a:ext cx="1989442" cy="4852584"/>
          </a:xfrm>
          <a:custGeom>
            <a:avLst/>
            <a:gdLst/>
            <a:ahLst/>
            <a:cxnLst/>
            <a:rect r="r" b="b" t="t" l="l"/>
            <a:pathLst>
              <a:path h="4852584" w="1989442">
                <a:moveTo>
                  <a:pt x="0" y="0"/>
                </a:moveTo>
                <a:lnTo>
                  <a:pt x="1989442" y="0"/>
                </a:lnTo>
                <a:lnTo>
                  <a:pt x="1989442" y="4852584"/>
                </a:lnTo>
                <a:lnTo>
                  <a:pt x="0" y="48525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196498" y="5421284"/>
            <a:ext cx="2485016" cy="4830294"/>
          </a:xfrm>
          <a:custGeom>
            <a:avLst/>
            <a:gdLst/>
            <a:ahLst/>
            <a:cxnLst/>
            <a:rect r="r" b="b" t="t" l="l"/>
            <a:pathLst>
              <a:path h="4830294" w="2485016">
                <a:moveTo>
                  <a:pt x="0" y="0"/>
                </a:moveTo>
                <a:lnTo>
                  <a:pt x="2485016" y="0"/>
                </a:lnTo>
                <a:lnTo>
                  <a:pt x="2485016" y="4830294"/>
                </a:lnTo>
                <a:lnTo>
                  <a:pt x="0" y="483029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095223" y="3792728"/>
            <a:ext cx="6802350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79"/>
              </a:lnSpc>
            </a:pPr>
            <a:r>
              <a:rPr lang="en-US" sz="2400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Sa</a:t>
            </a:r>
            <a:r>
              <a:rPr lang="en-US" sz="2400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tisfaction &amp; Engagement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095199" y="2370280"/>
            <a:ext cx="6802350" cy="1409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800"/>
              </a:lnSpc>
            </a:pPr>
            <a:r>
              <a:rPr lang="en-US" b="true" sz="9000">
                <a:solidFill>
                  <a:srgbClr val="191919"/>
                </a:solidFill>
                <a:latin typeface="Arimo Bold"/>
                <a:ea typeface="Arimo Bold"/>
                <a:cs typeface="Arimo Bold"/>
                <a:sym typeface="Arimo Bold"/>
              </a:rPr>
              <a:t>90.3%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46103" y="721121"/>
            <a:ext cx="6802350" cy="1409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800"/>
              </a:lnSpc>
            </a:pPr>
            <a:r>
              <a:rPr lang="en-US" b="true" sz="9000">
                <a:solidFill>
                  <a:srgbClr val="191919"/>
                </a:solidFill>
                <a:latin typeface="Arimo Bold"/>
                <a:ea typeface="Arimo Bold"/>
                <a:cs typeface="Arimo Bold"/>
                <a:sym typeface="Arimo Bold"/>
              </a:rPr>
              <a:t>85.1%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46103" y="2155643"/>
            <a:ext cx="6802350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79"/>
              </a:lnSpc>
            </a:pPr>
            <a:r>
              <a:rPr lang="en-US" sz="2400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Co</a:t>
            </a:r>
            <a:r>
              <a:rPr lang="en-US" sz="2400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nflict Resolution Effectiveness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67751" y="5389200"/>
            <a:ext cx="6802350" cy="1409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800"/>
              </a:lnSpc>
            </a:pPr>
            <a:r>
              <a:rPr lang="en-US" b="true" sz="9000">
                <a:solidFill>
                  <a:srgbClr val="191919"/>
                </a:solidFill>
                <a:latin typeface="Arimo Bold"/>
                <a:ea typeface="Arimo Bold"/>
                <a:cs typeface="Arimo Bold"/>
                <a:sym typeface="Arimo Bold"/>
              </a:rPr>
              <a:t>81.4%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67775" y="6811648"/>
            <a:ext cx="6802350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79"/>
              </a:lnSpc>
            </a:pPr>
            <a:r>
              <a:rPr lang="en-US" sz="2400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Te</a:t>
            </a:r>
            <a:r>
              <a:rPr lang="en-US" sz="2400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am Collaboration &amp; Morale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806100" y="7589700"/>
            <a:ext cx="16675574" cy="2808436"/>
          </a:xfrm>
          <a:custGeom>
            <a:avLst/>
            <a:gdLst/>
            <a:ahLst/>
            <a:cxnLst/>
            <a:rect r="r" b="b" t="t" l="l"/>
            <a:pathLst>
              <a:path h="2808436" w="16675574">
                <a:moveTo>
                  <a:pt x="0" y="0"/>
                </a:moveTo>
                <a:lnTo>
                  <a:pt x="16675574" y="0"/>
                </a:lnTo>
                <a:lnTo>
                  <a:pt x="16675574" y="2808436"/>
                </a:lnTo>
                <a:lnTo>
                  <a:pt x="0" y="280843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165176" y="4865380"/>
            <a:ext cx="2277592" cy="5433864"/>
          </a:xfrm>
          <a:custGeom>
            <a:avLst/>
            <a:gdLst/>
            <a:ahLst/>
            <a:cxnLst/>
            <a:rect r="r" b="b" t="t" l="l"/>
            <a:pathLst>
              <a:path h="5433864" w="2277592">
                <a:moveTo>
                  <a:pt x="0" y="0"/>
                </a:moveTo>
                <a:lnTo>
                  <a:pt x="2277592" y="0"/>
                </a:lnTo>
                <a:lnTo>
                  <a:pt x="2277592" y="5433864"/>
                </a:lnTo>
                <a:lnTo>
                  <a:pt x="0" y="543386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211306" y="5608014"/>
            <a:ext cx="2857682" cy="4743550"/>
          </a:xfrm>
          <a:custGeom>
            <a:avLst/>
            <a:gdLst/>
            <a:ahLst/>
            <a:cxnLst/>
            <a:rect r="r" b="b" t="t" l="l"/>
            <a:pathLst>
              <a:path h="4743550" w="2857682">
                <a:moveTo>
                  <a:pt x="0" y="0"/>
                </a:moveTo>
                <a:lnTo>
                  <a:pt x="2857682" y="0"/>
                </a:lnTo>
                <a:lnTo>
                  <a:pt x="2857682" y="4743550"/>
                </a:lnTo>
                <a:lnTo>
                  <a:pt x="0" y="474355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0" y="9190750"/>
            <a:ext cx="18288034" cy="1181932"/>
            <a:chOff x="0" y="0"/>
            <a:chExt cx="24384045" cy="15759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575816"/>
            </a:xfrm>
            <a:custGeom>
              <a:avLst/>
              <a:gdLst/>
              <a:ahLst/>
              <a:cxnLst/>
              <a:rect r="r" b="b" t="t" l="l"/>
              <a:pathLst>
                <a:path h="1575816" w="24384000">
                  <a:moveTo>
                    <a:pt x="0" y="0"/>
                  </a:moveTo>
                  <a:lnTo>
                    <a:pt x="0" y="1575816"/>
                  </a:lnTo>
                  <a:lnTo>
                    <a:pt x="24384000" y="1575816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CFE2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20500" y="9378550"/>
            <a:ext cx="10184308" cy="1063818"/>
            <a:chOff x="0" y="0"/>
            <a:chExt cx="13579077" cy="141842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254" y="127"/>
              <a:ext cx="13578587" cy="1418082"/>
            </a:xfrm>
            <a:custGeom>
              <a:avLst/>
              <a:gdLst/>
              <a:ahLst/>
              <a:cxnLst/>
              <a:rect r="r" b="b" t="t" l="l"/>
              <a:pathLst>
                <a:path h="1418082" w="13578587">
                  <a:moveTo>
                    <a:pt x="6761480" y="0"/>
                  </a:moveTo>
                  <a:cubicBezTo>
                    <a:pt x="3009138" y="0"/>
                    <a:pt x="0" y="312674"/>
                    <a:pt x="0" y="707517"/>
                  </a:cubicBezTo>
                  <a:cubicBezTo>
                    <a:pt x="0" y="1099185"/>
                    <a:pt x="3041523" y="1418082"/>
                    <a:pt x="6789294" y="1418082"/>
                  </a:cubicBezTo>
                  <a:cubicBezTo>
                    <a:pt x="10536936" y="1418082"/>
                    <a:pt x="13578587" y="1099185"/>
                    <a:pt x="13578587" y="707517"/>
                  </a:cubicBezTo>
                  <a:cubicBezTo>
                    <a:pt x="13578585" y="312674"/>
                    <a:pt x="10509377" y="0"/>
                    <a:pt x="6761480" y="0"/>
                  </a:cubicBezTo>
                  <a:close/>
                </a:path>
              </a:pathLst>
            </a:custGeom>
            <a:solidFill>
              <a:srgbClr val="191919">
                <a:alpha val="2745"/>
              </a:srgbClr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6102620" y="5426292"/>
            <a:ext cx="2186180" cy="4852584"/>
          </a:xfrm>
          <a:custGeom>
            <a:avLst/>
            <a:gdLst/>
            <a:ahLst/>
            <a:cxnLst/>
            <a:rect r="r" b="b" t="t" l="l"/>
            <a:pathLst>
              <a:path h="4852584" w="2186180">
                <a:moveTo>
                  <a:pt x="0" y="0"/>
                </a:moveTo>
                <a:lnTo>
                  <a:pt x="2186180" y="0"/>
                </a:lnTo>
                <a:lnTo>
                  <a:pt x="2186180" y="4852584"/>
                </a:lnTo>
                <a:lnTo>
                  <a:pt x="0" y="48525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729148" y="5421284"/>
            <a:ext cx="2485016" cy="4830294"/>
          </a:xfrm>
          <a:custGeom>
            <a:avLst/>
            <a:gdLst/>
            <a:ahLst/>
            <a:cxnLst/>
            <a:rect r="r" b="b" t="t" l="l"/>
            <a:pathLst>
              <a:path h="4830294" w="2485016">
                <a:moveTo>
                  <a:pt x="0" y="0"/>
                </a:moveTo>
                <a:lnTo>
                  <a:pt x="2485016" y="0"/>
                </a:lnTo>
                <a:lnTo>
                  <a:pt x="2485016" y="4830294"/>
                </a:lnTo>
                <a:lnTo>
                  <a:pt x="0" y="483029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232575" y="4429626"/>
            <a:ext cx="8537550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759"/>
              </a:lnSpc>
            </a:pPr>
            <a:r>
              <a:rPr lang="en-US" b="true" sz="4800">
                <a:solidFill>
                  <a:srgbClr val="3B4F8D"/>
                </a:solidFill>
                <a:latin typeface="Arimo Bold"/>
                <a:ea typeface="Arimo Bold"/>
                <a:cs typeface="Arimo Bold"/>
                <a:sym typeface="Arimo Bold"/>
              </a:rPr>
              <a:t>Return on Investment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570575" y="1985523"/>
            <a:ext cx="13199550" cy="2162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759"/>
              </a:lnSpc>
            </a:pPr>
            <a:r>
              <a:rPr lang="en-US" sz="4800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"F</a:t>
            </a:r>
            <a:r>
              <a:rPr lang="en-US" sz="4800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or every </a:t>
            </a:r>
            <a:r>
              <a:rPr lang="en-US" b="true" sz="4800">
                <a:solidFill>
                  <a:srgbClr val="19191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$1</a:t>
            </a:r>
            <a:r>
              <a:rPr lang="en-US" sz="4800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 invested in OATH, </a:t>
            </a:r>
            <a:r>
              <a:rPr lang="en-US" b="true" sz="4800">
                <a:solidFill>
                  <a:srgbClr val="19191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$88.33</a:t>
            </a:r>
            <a:r>
              <a:rPr lang="en-US" sz="4800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 is saved in avoided HR/legal costs, turnover, and absenteeism."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806100" y="7589700"/>
            <a:ext cx="16675574" cy="2808436"/>
          </a:xfrm>
          <a:custGeom>
            <a:avLst/>
            <a:gdLst/>
            <a:ahLst/>
            <a:cxnLst/>
            <a:rect r="r" b="b" t="t" l="l"/>
            <a:pathLst>
              <a:path h="2808436" w="16675574">
                <a:moveTo>
                  <a:pt x="0" y="0"/>
                </a:moveTo>
                <a:lnTo>
                  <a:pt x="16675574" y="0"/>
                </a:lnTo>
                <a:lnTo>
                  <a:pt x="16675574" y="2808436"/>
                </a:lnTo>
                <a:lnTo>
                  <a:pt x="0" y="280843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59808" y="4415050"/>
            <a:ext cx="3584172" cy="5697700"/>
          </a:xfrm>
          <a:custGeom>
            <a:avLst/>
            <a:gdLst/>
            <a:ahLst/>
            <a:cxnLst/>
            <a:rect r="r" b="b" t="t" l="l"/>
            <a:pathLst>
              <a:path h="5697700" w="3584172">
                <a:moveTo>
                  <a:pt x="0" y="0"/>
                </a:moveTo>
                <a:lnTo>
                  <a:pt x="3584172" y="0"/>
                </a:lnTo>
                <a:lnTo>
                  <a:pt x="3584172" y="5697700"/>
                </a:lnTo>
                <a:lnTo>
                  <a:pt x="0" y="56977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0" y="9190750"/>
            <a:ext cx="18288034" cy="1181932"/>
            <a:chOff x="0" y="0"/>
            <a:chExt cx="24384045" cy="15759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575816"/>
            </a:xfrm>
            <a:custGeom>
              <a:avLst/>
              <a:gdLst/>
              <a:ahLst/>
              <a:cxnLst/>
              <a:rect r="r" b="b" t="t" l="l"/>
              <a:pathLst>
                <a:path h="1575816" w="24384000">
                  <a:moveTo>
                    <a:pt x="0" y="0"/>
                  </a:moveTo>
                  <a:lnTo>
                    <a:pt x="0" y="1575816"/>
                  </a:lnTo>
                  <a:lnTo>
                    <a:pt x="24384000" y="1575816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CFE2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283350" y="9380908"/>
            <a:ext cx="10340502" cy="1578358"/>
            <a:chOff x="0" y="0"/>
            <a:chExt cx="13787336" cy="210447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254" y="254"/>
              <a:ext cx="13786866" cy="2104009"/>
            </a:xfrm>
            <a:custGeom>
              <a:avLst/>
              <a:gdLst/>
              <a:ahLst/>
              <a:cxnLst/>
              <a:rect r="r" b="b" t="t" l="l"/>
              <a:pathLst>
                <a:path h="2104009" w="13786866">
                  <a:moveTo>
                    <a:pt x="6865239" y="0"/>
                  </a:moveTo>
                  <a:cubicBezTo>
                    <a:pt x="3055366" y="0"/>
                    <a:pt x="0" y="463931"/>
                    <a:pt x="0" y="1049782"/>
                  </a:cubicBezTo>
                  <a:cubicBezTo>
                    <a:pt x="0" y="1630934"/>
                    <a:pt x="3088132" y="2104009"/>
                    <a:pt x="6893433" y="2104009"/>
                  </a:cubicBezTo>
                  <a:cubicBezTo>
                    <a:pt x="10698607" y="2104009"/>
                    <a:pt x="13786866" y="1630807"/>
                    <a:pt x="13786866" y="1049782"/>
                  </a:cubicBezTo>
                  <a:cubicBezTo>
                    <a:pt x="13786866" y="463931"/>
                    <a:pt x="10670540" y="0"/>
                    <a:pt x="6865239" y="0"/>
                  </a:cubicBezTo>
                  <a:close/>
                </a:path>
              </a:pathLst>
            </a:custGeom>
            <a:solidFill>
              <a:srgbClr val="191919">
                <a:alpha val="2745"/>
              </a:srgbClr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6964964" y="5442696"/>
            <a:ext cx="2178966" cy="4836570"/>
          </a:xfrm>
          <a:custGeom>
            <a:avLst/>
            <a:gdLst/>
            <a:ahLst/>
            <a:cxnLst/>
            <a:rect r="r" b="b" t="t" l="l"/>
            <a:pathLst>
              <a:path h="4836570" w="2178966">
                <a:moveTo>
                  <a:pt x="0" y="0"/>
                </a:moveTo>
                <a:lnTo>
                  <a:pt x="2178966" y="0"/>
                </a:lnTo>
                <a:lnTo>
                  <a:pt x="2178966" y="4836570"/>
                </a:lnTo>
                <a:lnTo>
                  <a:pt x="0" y="48365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335698" y="5421284"/>
            <a:ext cx="2485016" cy="4830294"/>
          </a:xfrm>
          <a:custGeom>
            <a:avLst/>
            <a:gdLst/>
            <a:ahLst/>
            <a:cxnLst/>
            <a:rect r="r" b="b" t="t" l="l"/>
            <a:pathLst>
              <a:path h="4830294" w="2485016">
                <a:moveTo>
                  <a:pt x="0" y="0"/>
                </a:moveTo>
                <a:lnTo>
                  <a:pt x="2485016" y="0"/>
                </a:lnTo>
                <a:lnTo>
                  <a:pt x="2485016" y="4830294"/>
                </a:lnTo>
                <a:lnTo>
                  <a:pt x="0" y="483029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659301" y="1742401"/>
            <a:ext cx="12969150" cy="187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0"/>
              </a:lnSpc>
            </a:pPr>
            <a:r>
              <a:rPr lang="en-US" b="true" sz="12000">
                <a:solidFill>
                  <a:srgbClr val="191919"/>
                </a:solidFill>
                <a:latin typeface="Arimo Bold"/>
                <a:ea typeface="Arimo Bold"/>
                <a:cs typeface="Arimo Bold"/>
                <a:sym typeface="Arimo Bold"/>
              </a:rPr>
              <a:t>$1</a:t>
            </a:r>
            <a:r>
              <a:rPr lang="en-US" b="true" sz="12000">
                <a:solidFill>
                  <a:srgbClr val="191919"/>
                </a:solidFill>
                <a:latin typeface="Arimo Bold"/>
                <a:ea typeface="Arimo Bold"/>
                <a:cs typeface="Arimo Bold"/>
                <a:sym typeface="Arimo Bold"/>
              </a:rPr>
              <a:t>,060,000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659301" y="3883401"/>
            <a:ext cx="1296915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60"/>
              </a:lnSpc>
            </a:pPr>
            <a:r>
              <a:rPr lang="en-US" sz="3800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HR/le</a:t>
            </a:r>
            <a:r>
              <a:rPr lang="en-US" sz="3800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gal costs, turnover savings, and absenteeism costs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4417764" y="5772850"/>
            <a:ext cx="2179018" cy="4513902"/>
          </a:xfrm>
          <a:custGeom>
            <a:avLst/>
            <a:gdLst/>
            <a:ahLst/>
            <a:cxnLst/>
            <a:rect r="r" b="b" t="t" l="l"/>
            <a:pathLst>
              <a:path h="4513902" w="2179018">
                <a:moveTo>
                  <a:pt x="0" y="0"/>
                </a:moveTo>
                <a:lnTo>
                  <a:pt x="2179018" y="0"/>
                </a:lnTo>
                <a:lnTo>
                  <a:pt x="2179018" y="4513902"/>
                </a:lnTo>
                <a:lnTo>
                  <a:pt x="0" y="451390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190923" y="5597228"/>
            <a:ext cx="2985295" cy="4800948"/>
          </a:xfrm>
          <a:custGeom>
            <a:avLst/>
            <a:gdLst/>
            <a:ahLst/>
            <a:cxnLst/>
            <a:rect r="r" b="b" t="t" l="l"/>
            <a:pathLst>
              <a:path h="4800948" w="2985295">
                <a:moveTo>
                  <a:pt x="0" y="0"/>
                </a:moveTo>
                <a:lnTo>
                  <a:pt x="2985295" y="0"/>
                </a:lnTo>
                <a:lnTo>
                  <a:pt x="2985295" y="4800948"/>
                </a:lnTo>
                <a:lnTo>
                  <a:pt x="0" y="480094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715540" y="7588880"/>
            <a:ext cx="7019018" cy="2808446"/>
          </a:xfrm>
          <a:custGeom>
            <a:avLst/>
            <a:gdLst/>
            <a:ahLst/>
            <a:cxnLst/>
            <a:rect r="r" b="b" t="t" l="l"/>
            <a:pathLst>
              <a:path h="2808446" w="7019018">
                <a:moveTo>
                  <a:pt x="0" y="0"/>
                </a:moveTo>
                <a:lnTo>
                  <a:pt x="7019018" y="0"/>
                </a:lnTo>
                <a:lnTo>
                  <a:pt x="7019018" y="2808446"/>
                </a:lnTo>
                <a:lnTo>
                  <a:pt x="0" y="280844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0" y="9190750"/>
            <a:ext cx="18288034" cy="1181932"/>
            <a:chOff x="0" y="0"/>
            <a:chExt cx="24384045" cy="15759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575816"/>
            </a:xfrm>
            <a:custGeom>
              <a:avLst/>
              <a:gdLst/>
              <a:ahLst/>
              <a:cxnLst/>
              <a:rect r="r" b="b" t="t" l="l"/>
              <a:pathLst>
                <a:path h="1575816" w="24384000">
                  <a:moveTo>
                    <a:pt x="0" y="0"/>
                  </a:moveTo>
                  <a:lnTo>
                    <a:pt x="0" y="1575816"/>
                  </a:lnTo>
                  <a:lnTo>
                    <a:pt x="24384000" y="1575816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CFE2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849258" y="9622950"/>
            <a:ext cx="3255112" cy="923408"/>
            <a:chOff x="0" y="0"/>
            <a:chExt cx="4340149" cy="123121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27" y="127"/>
              <a:ext cx="4340098" cy="1231011"/>
            </a:xfrm>
            <a:custGeom>
              <a:avLst/>
              <a:gdLst/>
              <a:ahLst/>
              <a:cxnLst/>
              <a:rect r="r" b="b" t="t" l="l"/>
              <a:pathLst>
                <a:path h="1231011" w="4340098">
                  <a:moveTo>
                    <a:pt x="2161032" y="0"/>
                  </a:moveTo>
                  <a:cubicBezTo>
                    <a:pt x="961771" y="0"/>
                    <a:pt x="0" y="271399"/>
                    <a:pt x="0" y="614172"/>
                  </a:cubicBezTo>
                  <a:cubicBezTo>
                    <a:pt x="0" y="954151"/>
                    <a:pt x="972058" y="1231011"/>
                    <a:pt x="2170049" y="1231011"/>
                  </a:cubicBezTo>
                  <a:cubicBezTo>
                    <a:pt x="3368040" y="1231011"/>
                    <a:pt x="4340098" y="954151"/>
                    <a:pt x="4340098" y="614172"/>
                  </a:cubicBezTo>
                  <a:cubicBezTo>
                    <a:pt x="4339971" y="271399"/>
                    <a:pt x="3358896" y="0"/>
                    <a:pt x="2161032" y="0"/>
                  </a:cubicBezTo>
                  <a:close/>
                </a:path>
              </a:pathLst>
            </a:custGeom>
            <a:solidFill>
              <a:srgbClr val="191919">
                <a:alpha val="2745"/>
              </a:srgbClr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5603186" y="4415060"/>
            <a:ext cx="1747272" cy="5697670"/>
          </a:xfrm>
          <a:custGeom>
            <a:avLst/>
            <a:gdLst/>
            <a:ahLst/>
            <a:cxnLst/>
            <a:rect r="r" b="b" t="t" l="l"/>
            <a:pathLst>
              <a:path h="5697670" w="1747272">
                <a:moveTo>
                  <a:pt x="0" y="0"/>
                </a:moveTo>
                <a:lnTo>
                  <a:pt x="1747272" y="0"/>
                </a:lnTo>
                <a:lnTo>
                  <a:pt x="1747272" y="5697670"/>
                </a:lnTo>
                <a:lnTo>
                  <a:pt x="0" y="56976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277216" y="9622950"/>
            <a:ext cx="3255112" cy="923408"/>
            <a:chOff x="0" y="0"/>
            <a:chExt cx="4340149" cy="123121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27" y="127"/>
              <a:ext cx="4340098" cy="1231011"/>
            </a:xfrm>
            <a:custGeom>
              <a:avLst/>
              <a:gdLst/>
              <a:ahLst/>
              <a:cxnLst/>
              <a:rect r="r" b="b" t="t" l="l"/>
              <a:pathLst>
                <a:path h="1231011" w="4340098">
                  <a:moveTo>
                    <a:pt x="2161032" y="0"/>
                  </a:moveTo>
                  <a:cubicBezTo>
                    <a:pt x="961771" y="0"/>
                    <a:pt x="0" y="271399"/>
                    <a:pt x="0" y="614172"/>
                  </a:cubicBezTo>
                  <a:cubicBezTo>
                    <a:pt x="0" y="954151"/>
                    <a:pt x="972058" y="1231011"/>
                    <a:pt x="2170049" y="1231011"/>
                  </a:cubicBezTo>
                  <a:cubicBezTo>
                    <a:pt x="3368040" y="1231011"/>
                    <a:pt x="4340098" y="954151"/>
                    <a:pt x="4340098" y="614172"/>
                  </a:cubicBezTo>
                  <a:cubicBezTo>
                    <a:pt x="4339971" y="271399"/>
                    <a:pt x="3358896" y="0"/>
                    <a:pt x="2161032" y="0"/>
                  </a:cubicBezTo>
                  <a:close/>
                </a:path>
              </a:pathLst>
            </a:custGeom>
            <a:solidFill>
              <a:srgbClr val="191919">
                <a:alpha val="2745"/>
              </a:srgbClr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551700" y="4501950"/>
            <a:ext cx="1597228" cy="5785048"/>
          </a:xfrm>
          <a:custGeom>
            <a:avLst/>
            <a:gdLst/>
            <a:ahLst/>
            <a:cxnLst/>
            <a:rect r="r" b="b" t="t" l="l"/>
            <a:pathLst>
              <a:path h="5785048" w="1597228">
                <a:moveTo>
                  <a:pt x="0" y="0"/>
                </a:moveTo>
                <a:lnTo>
                  <a:pt x="1597228" y="0"/>
                </a:lnTo>
                <a:lnTo>
                  <a:pt x="1597228" y="5785048"/>
                </a:lnTo>
                <a:lnTo>
                  <a:pt x="0" y="578504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342075" y="4010024"/>
            <a:ext cx="4133951" cy="4133951"/>
          </a:xfrm>
          <a:custGeom>
            <a:avLst/>
            <a:gdLst/>
            <a:ahLst/>
            <a:cxnLst/>
            <a:rect r="r" b="b" t="t" l="l"/>
            <a:pathLst>
              <a:path h="4133951" w="4133951">
                <a:moveTo>
                  <a:pt x="0" y="0"/>
                </a:moveTo>
                <a:lnTo>
                  <a:pt x="4133951" y="0"/>
                </a:lnTo>
                <a:lnTo>
                  <a:pt x="4133951" y="4133952"/>
                </a:lnTo>
                <a:lnTo>
                  <a:pt x="0" y="413395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715307" y="4010024"/>
            <a:ext cx="4133951" cy="4133951"/>
          </a:xfrm>
          <a:custGeom>
            <a:avLst/>
            <a:gdLst/>
            <a:ahLst/>
            <a:cxnLst/>
            <a:rect r="r" b="b" t="t" l="l"/>
            <a:pathLst>
              <a:path h="4133951" w="4133951">
                <a:moveTo>
                  <a:pt x="0" y="0"/>
                </a:moveTo>
                <a:lnTo>
                  <a:pt x="4133951" y="0"/>
                </a:lnTo>
                <a:lnTo>
                  <a:pt x="4133951" y="4133952"/>
                </a:lnTo>
                <a:lnTo>
                  <a:pt x="0" y="413395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478325" y="981075"/>
            <a:ext cx="9331350" cy="1982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280"/>
              </a:lnSpc>
            </a:pPr>
            <a:r>
              <a:rPr lang="en-US" b="true" sz="14400">
                <a:solidFill>
                  <a:srgbClr val="191919"/>
                </a:solidFill>
                <a:latin typeface="Arimo Bold"/>
                <a:ea typeface="Arimo Bold"/>
                <a:cs typeface="Arimo Bold"/>
                <a:sym typeface="Arimo Bold"/>
              </a:rPr>
              <a:t>Thanks!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988728" y="8153501"/>
            <a:ext cx="4840646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GROUP WORK/RESTORATIVE PRACTICE</a:t>
            </a:r>
            <a:r>
              <a:rPr lang="en-US" sz="2400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S PARTICIPANT SURVEY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061407" y="8448513"/>
            <a:ext cx="3441750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PARTICIPANT</a:t>
            </a:r>
            <a:r>
              <a:rPr lang="en-US" sz="2400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 SURVEY</a:t>
            </a:r>
          </a:p>
        </p:txBody>
      </p:sp>
    </p:spTree>
  </p:cSld>
  <p:clrMapOvr>
    <a:masterClrMapping/>
  </p:clrMapOvr>
  <p:transition spd="slow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DAHAkOHk8Ys</dc:identifier>
  <dcterms:modified xsi:type="dcterms:W3CDTF">2011-08-01T06:04:30Z</dcterms:modified>
  <cp:revision>1</cp:revision>
  <dc:title>OATH ELL Team 3. Sridevi</dc:title>
</cp:coreProperties>
</file>