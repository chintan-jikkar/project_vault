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Open Sauce Medium" charset="1" panose="00000600000000000000"/>
      <p:regular r:id="rId35"/>
    </p:embeddedFont>
    <p:embeddedFont>
      <p:font typeface="Open Sauce Italics" charset="1" panose="00000500000000000000"/>
      <p:regular r:id="rId36"/>
    </p:embeddedFont>
    <p:embeddedFont>
      <p:font typeface="Open Sauce" charset="1" panose="00000500000000000000"/>
      <p:regular r:id="rId38"/>
    </p:embeddedFont>
    <p:embeddedFont>
      <p:font typeface="Open Sauce Bold" charset="1" panose="00000800000000000000"/>
      <p:regular r:id="rId39"/>
    </p:embeddedFont>
    <p:embeddedFont>
      <p:font typeface="Canva Sans Bold" charset="1" panose="020B0803030501040103"/>
      <p:regular r:id="rId43"/>
    </p:embeddedFont>
    <p:embeddedFont>
      <p:font typeface="Canva Sans" charset="1" panose="020B0503030501040103"/>
      <p:regular r:id="rId44"/>
    </p:embeddedFont>
    <p:embeddedFont>
      <p:font typeface="Monument Bold" charset="1" panose="00000300000000000000"/>
      <p:regular r:id="rId45"/>
    </p:embeddedFont>
    <p:embeddedFont>
      <p:font typeface="Arial Nova Bold" charset="1" panose="020B0804020202020204"/>
      <p:regular r:id="rId46"/>
    </p:embeddedFont>
    <p:embeddedFont>
      <p:font typeface="Times New Roman Condensed" charset="1" panose="02030506070405020303"/>
      <p:regular r:id="rId47"/>
    </p:embeddedFont>
    <p:embeddedFont>
      <p:font typeface="Glacial Indifference Bold" charset="1" panose="00000800000000000000"/>
      <p:regular r:id="rId48"/>
    </p:embeddedFont>
    <p:embeddedFont>
      <p:font typeface="HK Grotesk" charset="1" panose="00000500000000000000"/>
      <p:regular r:id="rId49"/>
    </p:embeddedFont>
    <p:embeddedFont>
      <p:font typeface="Open Sauce Bold Italics" charset="1" panose="000008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notesMasters/notesMaster1.xml" Type="http://schemas.openxmlformats.org/officeDocument/2006/relationships/notesMaster"/><Relationship Id="rId33" Target="theme/theme2.xml" Type="http://schemas.openxmlformats.org/officeDocument/2006/relationships/theme"/><Relationship Id="rId34" Target="notesSlides/notesSlide1.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notesSlides/notesSlide2.xml" Type="http://schemas.openxmlformats.org/officeDocument/2006/relationships/note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6.xml" Type="http://schemas.openxmlformats.org/officeDocument/2006/relationships/notesSlide"/><Relationship Id="rId51" Target="fonts/font51.fntdata" Type="http://schemas.openxmlformats.org/officeDocument/2006/relationships/font"/><Relationship Id="rId52" Target="notesSlides/notesSlide7.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afternoon everyone — I’m Chintan, and I’ll be starting us off by laying the foundation for today’s presentation.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picture this: it’s early 2024. Inflation is climbing, labor shortages are everywhere, and the cost of doing business is rising fast — especially in food service. In this kind of climate, most companies either raise prices blindly or cut corners.</a:t>
            </a:r>
          </a:p>
          <a:p>
            <a:r>
              <a:rPr lang="en-US"/>
              <a:t>But Chipotle doesn’t do either.</a:t>
            </a:r>
          </a:p>
          <a:p>
            <a:r>
              <a:rPr lang="en-US"/>
              <a:t>Instead, it takes a much more strategic path. The company invests in automation. It leverages digital ordering to lock in customer loyalty. It reshapes how it hires, prices, and sources ingredients — not just to survive, but to adapt intelligently.</a:t>
            </a:r>
          </a:p>
          <a:p>
            <a:r>
              <a:rPr lang="en-US"/>
              <a:t>That’s the story we’re telling today.</a:t>
            </a:r>
          </a:p>
          <a:p>
            <a:r>
              <a:rPr lang="en-US"/>
              <a:t>Our group analyzed Chipotle through the lens of six key economic concepts — from macroeconomic pressures and labor costs, to consumer choice theory, market structure, and international trade dynamics.</a:t>
            </a:r>
          </a:p>
          <a:p>
            <a:r>
              <a:rPr lang="en-US"/>
              <a:t>Each of us will walk you through how these factors affect Chipotle — and more importantly, how the company is turning them into opportunities.</a:t>
            </a:r>
          </a:p>
          <a:p>
            <a:r>
              <a:rPr lang="en-US"/>
              <a:t>By the end of this presentation, you’ll see that what makes Chipotle successful isn’t just burritos — it’s their ability to use economics to drive every decision behind the scenes.</a:t>
            </a:r>
          </a:p>
          <a:p>
            <a:r>
              <a:rPr lang="en-US"/>
              <a:t>And with that, let’s jump into Module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Consumer behavior in dining has shifted drastically—especially since COVID. Chipotle recognized early on that the future of dining was digital. By 2021, digital orders made up more than half of total sales. They launched ‘Smarter Pickup Times’ to reduce wait time, and introduced Chipotlanes for seamless drive-thru pickups. Chipotle has continuously scaled its digital sales from under 20% pre-pandemic to a stable 35%+ in recent years. From an economics standpoint, demand is inelastic—customers value speed and personalization more than slight price changes. This tech-enabled approach helped Chipotle enhance consumer satisfaction and defend its market position.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Other brands like Sweetgreen and Panera have solid digital offerings—Sweetgreen with its clean design, Panera with subscriptions, and Qdoba with free extras.But Chipotle stands out through personalized rewards, app-only deals, and an interface optimized for speed. Unlike industries with regulated pricing, fast-casual restaurants like Chipotle face no price ceilings or floors, allowing them to compete dynamically using promotions and loyalty benefits instead.”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Many assume price is the biggest factor—but digital users often value convenience over a dollar saved. Chipotle isn’t the cheapest option—but that hasn’t hurt its growth. App users are less price-sensitive because they prioritize ease, reliability, and rewards. The ability to customize meals, track prices transparently, and get personalized offers builds loyalty and trust. Chipotle wins by adding value digitally, not by cutting prices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Thanks to my team for breaking down those insights — and now, to wrap things up, let’s step back and look at the big picture.</a:t>
            </a:r>
          </a:p>
          <a:p>
            <a:r>
              <a:rPr lang="en-US"/>
              <a:t>What we’ve seen today is that Chipotle’s real strength isn’t just its food. It’s how the company applies economic thinking — in real time — to solve complex, high-stakes problems.</a:t>
            </a:r>
          </a:p>
          <a:p>
            <a:r>
              <a:rPr lang="en-US"/>
              <a:t>They don’t panic when wages rise — they invest in robotics. They don’t just guess what customers want — they use digital data and loyalty platforms to make sure pricing decisions are strategic. And when international trade disruptions hit, they don’t wait — they diversify suppliers and get ahead of the risk.</a:t>
            </a:r>
          </a:p>
          <a:p>
            <a:r>
              <a:rPr lang="en-US"/>
              <a:t>Each module shows how different economic levers work together. Labor, inflation, consumer behavior, competition, productivity, trade — it’s all interconnected. And Chipotle’s ability to align those forces is what gives it a sustainable edge.</a:t>
            </a:r>
          </a:p>
          <a:p>
            <a:r>
              <a:rPr lang="en-US"/>
              <a:t>So here’s the takeaway:</a:t>
            </a:r>
          </a:p>
          <a:p>
            <a:r>
              <a:rPr lang="en-US"/>
              <a:t>In a world of volatility, the companies that thrive are the ones that stay curious, stay data-driven, and stay flexible. That’s what Chipotle is doing. And as future business leaders, that’s something we can all learn from.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Thanks so much for listening!!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jpeg" Type="http://schemas.openxmlformats.org/officeDocument/2006/relationships/image"/><Relationship Id="rId6" Target="../media/image7.jpeg" Type="http://schemas.openxmlformats.org/officeDocument/2006/relationships/image"/><Relationship Id="rId7" Target="../media/image8.png" Type="http://schemas.openxmlformats.org/officeDocument/2006/relationships/image"/><Relationship Id="rId8"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3.jpeg" Type="http://schemas.openxmlformats.org/officeDocument/2006/relationships/image"/><Relationship Id="rId4" Target="../media/image24.png" Type="http://schemas.openxmlformats.org/officeDocument/2006/relationships/image"/><Relationship Id="rId5" Target="../media/image2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3.jpeg" Type="http://schemas.openxmlformats.org/officeDocument/2006/relationships/image"/><Relationship Id="rId5" Target="../media/image3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5.jpeg" Type="http://schemas.openxmlformats.org/officeDocument/2006/relationships/image"/><Relationship Id="rId5" Target="../media/image36.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43.jpe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8.jpeg" Type="http://schemas.openxmlformats.org/officeDocument/2006/relationships/image"/><Relationship Id="rId6" Target="../media/image49.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50.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svg" Type="http://schemas.openxmlformats.org/officeDocument/2006/relationships/image"/><Relationship Id="rId4" Target="../media/image5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6.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7.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0.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svg" Type="http://schemas.openxmlformats.org/officeDocument/2006/relationships/image"/><Relationship Id="rId4" Target="../media/image6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2.png" Type="http://schemas.openxmlformats.org/officeDocument/2006/relationships/image"/><Relationship Id="rId4" Target="../media/image63.png" Type="http://schemas.openxmlformats.org/officeDocument/2006/relationships/image"/><Relationship Id="rId5" Target="../media/image64.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5.jpeg" Type="http://schemas.openxmlformats.org/officeDocument/2006/relationships/image"/><Relationship Id="rId4" Target="../media/image66.png" Type="http://schemas.openxmlformats.org/officeDocument/2006/relationships/image"/><Relationship Id="rId5" Target="../media/image67.png" Type="http://schemas.openxmlformats.org/officeDocument/2006/relationships/image"/><Relationship Id="rId6" Target="../media/image6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333" r="0" b="-9333"/>
            </a:stretch>
          </a:blipFill>
        </p:spPr>
      </p:sp>
      <p:sp>
        <p:nvSpPr>
          <p:cNvPr name="Freeform 3" id="3"/>
          <p:cNvSpPr/>
          <p:nvPr/>
        </p:nvSpPr>
        <p:spPr>
          <a:xfrm flipH="false" flipV="false" rot="0">
            <a:off x="7627005" y="6919705"/>
            <a:ext cx="3033989" cy="3033989"/>
          </a:xfrm>
          <a:custGeom>
            <a:avLst/>
            <a:gdLst/>
            <a:ahLst/>
            <a:cxnLst/>
            <a:rect r="r" b="b" t="t" l="l"/>
            <a:pathLst>
              <a:path h="3033989" w="3033989">
                <a:moveTo>
                  <a:pt x="0" y="0"/>
                </a:moveTo>
                <a:lnTo>
                  <a:pt x="3033990" y="0"/>
                </a:lnTo>
                <a:lnTo>
                  <a:pt x="3033990" y="3033989"/>
                </a:lnTo>
                <a:lnTo>
                  <a:pt x="0" y="3033989"/>
                </a:lnTo>
                <a:lnTo>
                  <a:pt x="0" y="0"/>
                </a:lnTo>
                <a:close/>
              </a:path>
            </a:pathLst>
          </a:custGeom>
          <a:blipFill>
            <a:blip r:embed="rId4"/>
            <a:stretch>
              <a:fillRect l="0" t="0" r="0" b="0"/>
            </a:stretch>
          </a:blipFill>
        </p:spPr>
      </p:sp>
      <p:grpSp>
        <p:nvGrpSpPr>
          <p:cNvPr name="Group 4" id="4"/>
          <p:cNvGrpSpPr/>
          <p:nvPr/>
        </p:nvGrpSpPr>
        <p:grpSpPr>
          <a:xfrm rot="0">
            <a:off x="548640" y="6446520"/>
            <a:ext cx="3291840" cy="3291840"/>
            <a:chOff x="0" y="0"/>
            <a:chExt cx="6350000" cy="6350000"/>
          </a:xfrm>
        </p:grpSpPr>
        <p:sp>
          <p:nvSpPr>
            <p:cNvPr name="Freeform 5" id="5"/>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5"/>
              <a:stretch>
                <a:fillRect l="-38888" t="0" r="-38888" b="0"/>
              </a:stretch>
            </a:blipFill>
          </p:spPr>
        </p:sp>
      </p:grpSp>
      <p:sp>
        <p:nvSpPr>
          <p:cNvPr name="TextBox 6" id="6"/>
          <p:cNvSpPr txBox="true"/>
          <p:nvPr/>
        </p:nvSpPr>
        <p:spPr>
          <a:xfrm rot="0">
            <a:off x="2040647" y="1562735"/>
            <a:ext cx="14206706" cy="3361690"/>
          </a:xfrm>
          <a:prstGeom prst="rect">
            <a:avLst/>
          </a:prstGeom>
        </p:spPr>
        <p:txBody>
          <a:bodyPr anchor="t" rtlCol="false" tIns="0" lIns="0" bIns="0" rIns="0">
            <a:spAutoFit/>
          </a:bodyPr>
          <a:lstStyle/>
          <a:p>
            <a:pPr algn="ctr">
              <a:lnSpc>
                <a:spcPts val="8959"/>
              </a:lnSpc>
              <a:spcBef>
                <a:spcPct val="0"/>
              </a:spcBef>
            </a:pPr>
            <a:r>
              <a:rPr lang="en-US" b="true" sz="6399" spc="-454">
                <a:solidFill>
                  <a:srgbClr val="D83030"/>
                </a:solidFill>
                <a:latin typeface="Open Sauce Medium"/>
                <a:ea typeface="Open Sauce Medium"/>
                <a:cs typeface="Open Sauce Medium"/>
                <a:sym typeface="Open Sauce Medium"/>
              </a:rPr>
              <a:t>Automation and Avocados: Chipotle’s</a:t>
            </a:r>
            <a:r>
              <a:rPr lang="en-US" b="true" sz="6399" spc="-454">
                <a:solidFill>
                  <a:srgbClr val="D83030"/>
                </a:solidFill>
                <a:latin typeface="Open Sauce Medium"/>
                <a:ea typeface="Open Sauce Medium"/>
                <a:cs typeface="Open Sauce Medium"/>
                <a:sym typeface="Open Sauce Medium"/>
              </a:rPr>
              <a:t> Strategic Response to Economic Pressures</a:t>
            </a:r>
          </a:p>
        </p:txBody>
      </p:sp>
      <p:sp>
        <p:nvSpPr>
          <p:cNvPr name="TextBox 7" id="7"/>
          <p:cNvSpPr txBox="true"/>
          <p:nvPr/>
        </p:nvSpPr>
        <p:spPr>
          <a:xfrm rot="0">
            <a:off x="3806166" y="5105400"/>
            <a:ext cx="10675668" cy="1449705"/>
          </a:xfrm>
          <a:prstGeom prst="rect">
            <a:avLst/>
          </a:prstGeom>
        </p:spPr>
        <p:txBody>
          <a:bodyPr anchor="t" rtlCol="false" tIns="0" lIns="0" bIns="0" rIns="0">
            <a:spAutoFit/>
          </a:bodyPr>
          <a:lstStyle/>
          <a:p>
            <a:pPr algn="ctr">
              <a:lnSpc>
                <a:spcPts val="2799"/>
              </a:lnSpc>
            </a:pPr>
            <a:r>
              <a:rPr lang="en-US" sz="1999" i="true" spc="799">
                <a:solidFill>
                  <a:srgbClr val="1E2031"/>
                </a:solidFill>
                <a:latin typeface="Open Sauce Italics"/>
                <a:ea typeface="Open Sauce Italics"/>
                <a:cs typeface="Open Sauce Italics"/>
                <a:sym typeface="Open Sauce Italics"/>
              </a:rPr>
              <a:t>GROUP 4</a:t>
            </a:r>
          </a:p>
          <a:p>
            <a:pPr algn="ctr">
              <a:lnSpc>
                <a:spcPts val="2239"/>
              </a:lnSpc>
            </a:pPr>
            <a:r>
              <a:rPr lang="en-US" sz="1599" i="true" spc="639">
                <a:solidFill>
                  <a:srgbClr val="1E2031"/>
                </a:solidFill>
                <a:latin typeface="Open Sauce Italics"/>
                <a:ea typeface="Open Sauce Italics"/>
                <a:cs typeface="Open Sauce Italics"/>
                <a:sym typeface="Open Sauce Italics"/>
              </a:rPr>
              <a:t>PROF MARK TUMINELLO</a:t>
            </a:r>
          </a:p>
          <a:p>
            <a:pPr algn="ctr">
              <a:lnSpc>
                <a:spcPts val="2239"/>
              </a:lnSpc>
            </a:pPr>
            <a:r>
              <a:rPr lang="en-US" sz="1599" i="true" spc="639">
                <a:solidFill>
                  <a:srgbClr val="1E2031"/>
                </a:solidFill>
                <a:latin typeface="Open Sauce Italics"/>
                <a:ea typeface="Open Sauce Italics"/>
                <a:cs typeface="Open Sauce Italics"/>
                <a:sym typeface="Open Sauce Italics"/>
              </a:rPr>
              <a:t>CHINTAN S. JIKKAR | SYRGA IBRAEVA | DILAN A. PATEL</a:t>
            </a:r>
          </a:p>
          <a:p>
            <a:pPr algn="ctr">
              <a:lnSpc>
                <a:spcPts val="2239"/>
              </a:lnSpc>
              <a:spcBef>
                <a:spcPct val="0"/>
              </a:spcBef>
            </a:pPr>
            <a:r>
              <a:rPr lang="en-US" sz="1599" i="true" spc="639">
                <a:solidFill>
                  <a:srgbClr val="1E2031"/>
                </a:solidFill>
                <a:latin typeface="Open Sauce Italics"/>
                <a:ea typeface="Open Sauce Italics"/>
                <a:cs typeface="Open Sauce Italics"/>
                <a:sym typeface="Open Sauce Italics"/>
              </a:rPr>
              <a:t>ISHA CHAUHAN | ABHISHEK PRAKASH | VRAJ N. THAKKAR SEDEN DILMACLI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sp>
        <p:nvSpPr>
          <p:cNvPr name="Freeform 2" id="2"/>
          <p:cNvSpPr/>
          <p:nvPr/>
        </p:nvSpPr>
        <p:spPr>
          <a:xfrm flipH="false" flipV="false" rot="0">
            <a:off x="5126523" y="2851323"/>
            <a:ext cx="1053794" cy="1053794"/>
          </a:xfrm>
          <a:custGeom>
            <a:avLst/>
            <a:gdLst/>
            <a:ahLst/>
            <a:cxnLst/>
            <a:rect r="r" b="b" t="t" l="l"/>
            <a:pathLst>
              <a:path h="1053794" w="1053794">
                <a:moveTo>
                  <a:pt x="0" y="0"/>
                </a:moveTo>
                <a:lnTo>
                  <a:pt x="1053794" y="0"/>
                </a:lnTo>
                <a:lnTo>
                  <a:pt x="1053794" y="1053794"/>
                </a:lnTo>
                <a:lnTo>
                  <a:pt x="0" y="1053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2027870" y="1178824"/>
            <a:ext cx="5830862" cy="8223613"/>
            <a:chOff x="0" y="0"/>
            <a:chExt cx="903353" cy="1274053"/>
          </a:xfrm>
        </p:grpSpPr>
        <p:sp>
          <p:nvSpPr>
            <p:cNvPr name="Freeform 4" id="4"/>
            <p:cNvSpPr/>
            <p:nvPr/>
          </p:nvSpPr>
          <p:spPr>
            <a:xfrm flipH="false" flipV="false" rot="0">
              <a:off x="0" y="0"/>
              <a:ext cx="903353" cy="1274053"/>
            </a:xfrm>
            <a:custGeom>
              <a:avLst/>
              <a:gdLst/>
              <a:ahLst/>
              <a:cxnLst/>
              <a:rect r="r" b="b" t="t" l="l"/>
              <a:pathLst>
                <a:path h="1274053" w="903353">
                  <a:moveTo>
                    <a:pt x="46471" y="0"/>
                  </a:moveTo>
                  <a:lnTo>
                    <a:pt x="856882" y="0"/>
                  </a:lnTo>
                  <a:cubicBezTo>
                    <a:pt x="882547" y="0"/>
                    <a:pt x="903353" y="20806"/>
                    <a:pt x="903353" y="46471"/>
                  </a:cubicBezTo>
                  <a:lnTo>
                    <a:pt x="903353" y="1227582"/>
                  </a:lnTo>
                  <a:cubicBezTo>
                    <a:pt x="903353" y="1253247"/>
                    <a:pt x="882547" y="1274053"/>
                    <a:pt x="856882" y="1274053"/>
                  </a:cubicBezTo>
                  <a:lnTo>
                    <a:pt x="46471" y="1274053"/>
                  </a:lnTo>
                  <a:cubicBezTo>
                    <a:pt x="20806" y="1274053"/>
                    <a:pt x="0" y="1253247"/>
                    <a:pt x="0" y="1227582"/>
                  </a:cubicBezTo>
                  <a:lnTo>
                    <a:pt x="0" y="46471"/>
                  </a:lnTo>
                  <a:cubicBezTo>
                    <a:pt x="0" y="20806"/>
                    <a:pt x="20806" y="0"/>
                    <a:pt x="46471" y="0"/>
                  </a:cubicBezTo>
                  <a:close/>
                </a:path>
              </a:pathLst>
            </a:custGeom>
            <a:blipFill>
              <a:blip r:embed="rId5"/>
              <a:stretch>
                <a:fillRect l="-21465" t="0" r="-7053" b="0"/>
              </a:stretch>
            </a:blipFill>
          </p:spPr>
        </p:sp>
      </p:grpSp>
      <p:grpSp>
        <p:nvGrpSpPr>
          <p:cNvPr name="Group 5" id="5"/>
          <p:cNvGrpSpPr/>
          <p:nvPr/>
        </p:nvGrpSpPr>
        <p:grpSpPr>
          <a:xfrm rot="0">
            <a:off x="1028700" y="5290631"/>
            <a:ext cx="6452729" cy="3967669"/>
            <a:chOff x="0" y="0"/>
            <a:chExt cx="1699484" cy="1044983"/>
          </a:xfrm>
        </p:grpSpPr>
        <p:sp>
          <p:nvSpPr>
            <p:cNvPr name="Freeform 6" id="6"/>
            <p:cNvSpPr/>
            <p:nvPr/>
          </p:nvSpPr>
          <p:spPr>
            <a:xfrm flipH="false" flipV="false" rot="0">
              <a:off x="0" y="0"/>
              <a:ext cx="1699484" cy="1044983"/>
            </a:xfrm>
            <a:custGeom>
              <a:avLst/>
              <a:gdLst/>
              <a:ahLst/>
              <a:cxnLst/>
              <a:rect r="r" b="b" t="t" l="l"/>
              <a:pathLst>
                <a:path h="1044983" w="1699484">
                  <a:moveTo>
                    <a:pt x="41993" y="0"/>
                  </a:moveTo>
                  <a:lnTo>
                    <a:pt x="1657492" y="0"/>
                  </a:lnTo>
                  <a:cubicBezTo>
                    <a:pt x="1680683" y="0"/>
                    <a:pt x="1699484" y="18801"/>
                    <a:pt x="1699484" y="41993"/>
                  </a:cubicBezTo>
                  <a:lnTo>
                    <a:pt x="1699484" y="1002990"/>
                  </a:lnTo>
                  <a:cubicBezTo>
                    <a:pt x="1699484" y="1026182"/>
                    <a:pt x="1680683" y="1044983"/>
                    <a:pt x="1657492" y="1044983"/>
                  </a:cubicBezTo>
                  <a:lnTo>
                    <a:pt x="41993" y="1044983"/>
                  </a:lnTo>
                  <a:cubicBezTo>
                    <a:pt x="18801" y="1044983"/>
                    <a:pt x="0" y="1026182"/>
                    <a:pt x="0" y="1002990"/>
                  </a:cubicBezTo>
                  <a:lnTo>
                    <a:pt x="0" y="41993"/>
                  </a:lnTo>
                  <a:cubicBezTo>
                    <a:pt x="0" y="18801"/>
                    <a:pt x="18801" y="0"/>
                    <a:pt x="41993" y="0"/>
                  </a:cubicBezTo>
                  <a:close/>
                </a:path>
              </a:pathLst>
            </a:custGeom>
            <a:solidFill>
              <a:srgbClr val="D83030"/>
            </a:solidFill>
            <a:ln w="9525" cap="rnd">
              <a:solidFill>
                <a:srgbClr val="F4F4F4"/>
              </a:solidFill>
              <a:prstDash val="solid"/>
              <a:round/>
            </a:ln>
          </p:spPr>
        </p:sp>
        <p:sp>
          <p:nvSpPr>
            <p:cNvPr name="TextBox 7" id="7"/>
            <p:cNvSpPr txBox="true"/>
            <p:nvPr/>
          </p:nvSpPr>
          <p:spPr>
            <a:xfrm>
              <a:off x="0" y="-19050"/>
              <a:ext cx="1699484" cy="1064033"/>
            </a:xfrm>
            <a:prstGeom prst="rect">
              <a:avLst/>
            </a:prstGeom>
          </p:spPr>
          <p:txBody>
            <a:bodyPr anchor="ctr" rtlCol="false" tIns="50800" lIns="50800" bIns="50800" rIns="50800"/>
            <a:lstStyle/>
            <a:p>
              <a:pPr algn="ctr">
                <a:lnSpc>
                  <a:spcPts val="1820"/>
                </a:lnSpc>
              </a:pPr>
            </a:p>
          </p:txBody>
        </p:sp>
      </p:grpSp>
      <p:grpSp>
        <p:nvGrpSpPr>
          <p:cNvPr name="Group 8" id="8"/>
          <p:cNvGrpSpPr/>
          <p:nvPr/>
        </p:nvGrpSpPr>
        <p:grpSpPr>
          <a:xfrm rot="0">
            <a:off x="6945573" y="2851323"/>
            <a:ext cx="4672722" cy="6400990"/>
            <a:chOff x="0" y="0"/>
            <a:chExt cx="723927" cy="991681"/>
          </a:xfrm>
        </p:grpSpPr>
        <p:sp>
          <p:nvSpPr>
            <p:cNvPr name="Freeform 9" id="9"/>
            <p:cNvSpPr/>
            <p:nvPr/>
          </p:nvSpPr>
          <p:spPr>
            <a:xfrm flipH="false" flipV="false" rot="0">
              <a:off x="0" y="0"/>
              <a:ext cx="723927" cy="991681"/>
            </a:xfrm>
            <a:custGeom>
              <a:avLst/>
              <a:gdLst/>
              <a:ahLst/>
              <a:cxnLst/>
              <a:rect r="r" b="b" t="t" l="l"/>
              <a:pathLst>
                <a:path h="991681" w="723927">
                  <a:moveTo>
                    <a:pt x="57989" y="0"/>
                  </a:moveTo>
                  <a:lnTo>
                    <a:pt x="665938" y="0"/>
                  </a:lnTo>
                  <a:cubicBezTo>
                    <a:pt x="681317" y="0"/>
                    <a:pt x="696067" y="6110"/>
                    <a:pt x="706942" y="16985"/>
                  </a:cubicBezTo>
                  <a:cubicBezTo>
                    <a:pt x="717817" y="27860"/>
                    <a:pt x="723927" y="42609"/>
                    <a:pt x="723927" y="57989"/>
                  </a:cubicBezTo>
                  <a:lnTo>
                    <a:pt x="723927" y="933692"/>
                  </a:lnTo>
                  <a:cubicBezTo>
                    <a:pt x="723927" y="949071"/>
                    <a:pt x="717817" y="963821"/>
                    <a:pt x="706942" y="974696"/>
                  </a:cubicBezTo>
                  <a:cubicBezTo>
                    <a:pt x="696067" y="985571"/>
                    <a:pt x="681317" y="991681"/>
                    <a:pt x="665938" y="991681"/>
                  </a:cubicBezTo>
                  <a:lnTo>
                    <a:pt x="57989" y="991681"/>
                  </a:lnTo>
                  <a:cubicBezTo>
                    <a:pt x="25963" y="991681"/>
                    <a:pt x="0" y="965718"/>
                    <a:pt x="0" y="933692"/>
                  </a:cubicBezTo>
                  <a:lnTo>
                    <a:pt x="0" y="57989"/>
                  </a:lnTo>
                  <a:cubicBezTo>
                    <a:pt x="0" y="42609"/>
                    <a:pt x="6110" y="27860"/>
                    <a:pt x="16985" y="16985"/>
                  </a:cubicBezTo>
                  <a:cubicBezTo>
                    <a:pt x="27860" y="6110"/>
                    <a:pt x="42609" y="0"/>
                    <a:pt x="57989" y="0"/>
                  </a:cubicBezTo>
                  <a:close/>
                </a:path>
              </a:pathLst>
            </a:custGeom>
            <a:blipFill>
              <a:blip r:embed="rId6"/>
              <a:stretch>
                <a:fillRect l="-82253" t="0" r="-22969" b="0"/>
              </a:stretch>
            </a:blipFill>
          </p:spPr>
        </p:sp>
      </p:grpSp>
      <p:sp>
        <p:nvSpPr>
          <p:cNvPr name="Freeform 10" id="10"/>
          <p:cNvSpPr/>
          <p:nvPr/>
        </p:nvSpPr>
        <p:spPr>
          <a:xfrm flipH="false" flipV="false" rot="0">
            <a:off x="668871" y="774237"/>
            <a:ext cx="719659" cy="503092"/>
          </a:xfrm>
          <a:custGeom>
            <a:avLst/>
            <a:gdLst/>
            <a:ahLst/>
            <a:cxnLst/>
            <a:rect r="r" b="b" t="t" l="l"/>
            <a:pathLst>
              <a:path h="503092" w="719659">
                <a:moveTo>
                  <a:pt x="0" y="0"/>
                </a:moveTo>
                <a:lnTo>
                  <a:pt x="719658" y="0"/>
                </a:lnTo>
                <a:lnTo>
                  <a:pt x="719658" y="503092"/>
                </a:lnTo>
                <a:lnTo>
                  <a:pt x="0" y="503092"/>
                </a:lnTo>
                <a:lnTo>
                  <a:pt x="0" y="0"/>
                </a:lnTo>
                <a:close/>
              </a:path>
            </a:pathLst>
          </a:custGeom>
          <a:blipFill>
            <a:blip r:embed="rId7"/>
            <a:stretch>
              <a:fillRect l="-12139" t="0" r="-12139" b="0"/>
            </a:stretch>
          </a:blipFill>
        </p:spPr>
      </p:sp>
      <p:grpSp>
        <p:nvGrpSpPr>
          <p:cNvPr name="Group 11" id="11"/>
          <p:cNvGrpSpPr/>
          <p:nvPr/>
        </p:nvGrpSpPr>
        <p:grpSpPr>
          <a:xfrm rot="0">
            <a:off x="1056222" y="1472214"/>
            <a:ext cx="3291840" cy="3291840"/>
            <a:chOff x="0" y="0"/>
            <a:chExt cx="6350000" cy="6350000"/>
          </a:xfrm>
        </p:grpSpPr>
        <p:sp>
          <p:nvSpPr>
            <p:cNvPr name="Freeform 12" id="12"/>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8"/>
              <a:stretch>
                <a:fillRect l="-38888" t="0" r="-38888" b="0"/>
              </a:stretch>
            </a:blipFill>
          </p:spPr>
        </p:sp>
      </p:grpSp>
      <p:sp>
        <p:nvSpPr>
          <p:cNvPr name="TextBox 13" id="13"/>
          <p:cNvSpPr txBox="true"/>
          <p:nvPr/>
        </p:nvSpPr>
        <p:spPr>
          <a:xfrm rot="0">
            <a:off x="5126523" y="774237"/>
            <a:ext cx="7743034" cy="1515111"/>
          </a:xfrm>
          <a:prstGeom prst="rect">
            <a:avLst/>
          </a:prstGeom>
        </p:spPr>
        <p:txBody>
          <a:bodyPr anchor="t" rtlCol="false" tIns="0" lIns="0" bIns="0" rIns="0">
            <a:spAutoFit/>
          </a:bodyPr>
          <a:lstStyle/>
          <a:p>
            <a:pPr algn="l">
              <a:lnSpc>
                <a:spcPts val="11964"/>
              </a:lnSpc>
            </a:pPr>
            <a:r>
              <a:rPr lang="en-US" sz="9970" spc="-707" b="true">
                <a:solidFill>
                  <a:srgbClr val="EDEDED"/>
                </a:solidFill>
                <a:latin typeface="Open Sauce Medium"/>
                <a:ea typeface="Open Sauce Medium"/>
                <a:cs typeface="Open Sauce Medium"/>
                <a:sym typeface="Open Sauce Medium"/>
              </a:rPr>
              <a:t>Introduction</a:t>
            </a:r>
          </a:p>
        </p:txBody>
      </p:sp>
      <p:sp>
        <p:nvSpPr>
          <p:cNvPr name="TextBox 14" id="14"/>
          <p:cNvSpPr txBox="true"/>
          <p:nvPr/>
        </p:nvSpPr>
        <p:spPr>
          <a:xfrm rot="0">
            <a:off x="1388529" y="6515438"/>
            <a:ext cx="4791788" cy="2237478"/>
          </a:xfrm>
          <a:prstGeom prst="rect">
            <a:avLst/>
          </a:prstGeom>
        </p:spPr>
        <p:txBody>
          <a:bodyPr anchor="t" rtlCol="false" tIns="0" lIns="0" bIns="0" rIns="0">
            <a:spAutoFit/>
          </a:bodyPr>
          <a:lstStyle/>
          <a:p>
            <a:pPr algn="just" marL="495293" indent="-247646" lvl="1">
              <a:lnSpc>
                <a:spcPts val="2982"/>
              </a:lnSpc>
              <a:buFont typeface="Arial"/>
              <a:buChar char="•"/>
            </a:pPr>
            <a:r>
              <a:rPr lang="en-US" sz="2294">
                <a:solidFill>
                  <a:srgbClr val="EDEDED"/>
                </a:solidFill>
                <a:latin typeface="Open Sauce"/>
                <a:ea typeface="Open Sauce"/>
                <a:cs typeface="Open Sauce"/>
                <a:sym typeface="Open Sauce"/>
              </a:rPr>
              <a:t>Inflation, wage hikes, labor strain</a:t>
            </a:r>
          </a:p>
          <a:p>
            <a:pPr algn="just" marL="495293" indent="-247646" lvl="1">
              <a:lnSpc>
                <a:spcPts val="2982"/>
              </a:lnSpc>
              <a:buFont typeface="Arial"/>
              <a:buChar char="•"/>
            </a:pPr>
            <a:r>
              <a:rPr lang="en-US" sz="2294">
                <a:solidFill>
                  <a:srgbClr val="EDEDED"/>
                </a:solidFill>
                <a:latin typeface="Open Sauce"/>
                <a:ea typeface="Open Sauce"/>
                <a:cs typeface="Open Sauce"/>
                <a:sym typeface="Open Sauce"/>
              </a:rPr>
              <a:t>Digital &amp; automation at center of response</a:t>
            </a:r>
          </a:p>
          <a:p>
            <a:pPr algn="just" marL="495293" indent="-247646" lvl="1">
              <a:lnSpc>
                <a:spcPts val="2982"/>
              </a:lnSpc>
              <a:buFont typeface="Arial"/>
              <a:buChar char="•"/>
            </a:pPr>
            <a:r>
              <a:rPr lang="en-US" sz="2294">
                <a:solidFill>
                  <a:srgbClr val="EDEDED"/>
                </a:solidFill>
                <a:latin typeface="Open Sauce"/>
                <a:ea typeface="Open Sauce"/>
                <a:cs typeface="Open Sauce"/>
                <a:sym typeface="Open Sauce"/>
              </a:rPr>
              <a:t>Six economic lenses guide our analysis</a:t>
            </a:r>
          </a:p>
        </p:txBody>
      </p:sp>
      <p:sp>
        <p:nvSpPr>
          <p:cNvPr name="TextBox 15" id="15"/>
          <p:cNvSpPr txBox="true"/>
          <p:nvPr/>
        </p:nvSpPr>
        <p:spPr>
          <a:xfrm rot="0">
            <a:off x="1793956" y="5861635"/>
            <a:ext cx="4386362" cy="361315"/>
          </a:xfrm>
          <a:prstGeom prst="rect">
            <a:avLst/>
          </a:prstGeom>
        </p:spPr>
        <p:txBody>
          <a:bodyPr anchor="t" rtlCol="false" tIns="0" lIns="0" bIns="0" rIns="0">
            <a:spAutoFit/>
          </a:bodyPr>
          <a:lstStyle/>
          <a:p>
            <a:pPr algn="l">
              <a:lnSpc>
                <a:spcPts val="2989"/>
              </a:lnSpc>
            </a:pPr>
            <a:r>
              <a:rPr lang="en-US" sz="2299" b="true">
                <a:solidFill>
                  <a:srgbClr val="EDEDED"/>
                </a:solidFill>
                <a:latin typeface="Open Sauce Bold"/>
                <a:ea typeface="Open Sauce Bold"/>
                <a:cs typeface="Open Sauce Bold"/>
                <a:sym typeface="Open Sauce Bold"/>
              </a:rPr>
              <a:t>The Economic Landsacpe</a:t>
            </a:r>
          </a:p>
        </p:txBody>
      </p:sp>
      <p:sp>
        <p:nvSpPr>
          <p:cNvPr name="TextBox 16" id="16"/>
          <p:cNvSpPr txBox="true"/>
          <p:nvPr/>
        </p:nvSpPr>
        <p:spPr>
          <a:xfrm rot="0">
            <a:off x="9139238" y="4891048"/>
            <a:ext cx="9525" cy="476329"/>
          </a:xfrm>
          <a:prstGeom prst="rect">
            <a:avLst/>
          </a:prstGeom>
        </p:spPr>
        <p:txBody>
          <a:bodyPr anchor="t" rtlCol="false" tIns="0" lIns="0" bIns="0" rIns="0">
            <a:spAutoFit/>
          </a:bodyPr>
          <a:lstStyle/>
          <a:p>
            <a:pPr algn="ctr">
              <a:lnSpc>
                <a:spcPts val="3891"/>
              </a:lnSpc>
              <a:spcBef>
                <a:spcPct val="0"/>
              </a:spcBef>
            </a:pP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Freeform 2" id="2"/>
          <p:cNvSpPr/>
          <p:nvPr/>
        </p:nvSpPr>
        <p:spPr>
          <a:xfrm flipH="false" flipV="false" rot="0">
            <a:off x="16222844" y="8365373"/>
            <a:ext cx="1214066" cy="1214066"/>
          </a:xfrm>
          <a:custGeom>
            <a:avLst/>
            <a:gdLst/>
            <a:ahLst/>
            <a:cxnLst/>
            <a:rect r="r" b="b" t="t" l="l"/>
            <a:pathLst>
              <a:path h="1214066" w="1214066">
                <a:moveTo>
                  <a:pt x="0" y="0"/>
                </a:moveTo>
                <a:lnTo>
                  <a:pt x="1214066" y="0"/>
                </a:lnTo>
                <a:lnTo>
                  <a:pt x="1214066" y="1214067"/>
                </a:lnTo>
                <a:lnTo>
                  <a:pt x="0" y="1214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967460" y="2316004"/>
            <a:ext cx="3291840" cy="3291840"/>
            <a:chOff x="0" y="0"/>
            <a:chExt cx="6350000" cy="6350000"/>
          </a:xfrm>
        </p:grpSpPr>
        <p:sp>
          <p:nvSpPr>
            <p:cNvPr name="Freeform 4" id="4"/>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4"/>
              <a:stretch>
                <a:fillRect l="-38888" t="0" r="-38888" b="0"/>
              </a:stretch>
            </a:blipFill>
          </p:spPr>
        </p:sp>
      </p:grpSp>
      <p:sp>
        <p:nvSpPr>
          <p:cNvPr name="TextBox 5" id="5"/>
          <p:cNvSpPr txBox="true"/>
          <p:nvPr/>
        </p:nvSpPr>
        <p:spPr>
          <a:xfrm rot="0">
            <a:off x="0" y="345527"/>
            <a:ext cx="18288000" cy="1558282"/>
          </a:xfrm>
          <a:prstGeom prst="rect">
            <a:avLst/>
          </a:prstGeom>
        </p:spPr>
        <p:txBody>
          <a:bodyPr anchor="t" rtlCol="false" tIns="0" lIns="0" bIns="0" rIns="0">
            <a:spAutoFit/>
          </a:bodyPr>
          <a:lstStyle/>
          <a:p>
            <a:pPr algn="ctr">
              <a:lnSpc>
                <a:spcPts val="6240"/>
              </a:lnSpc>
            </a:pPr>
            <a:r>
              <a:rPr lang="en-US" b="true" sz="4800">
                <a:solidFill>
                  <a:srgbClr val="D83030"/>
                </a:solidFill>
                <a:latin typeface="Open Sauce Bold"/>
                <a:ea typeface="Open Sauce Bold"/>
                <a:cs typeface="Open Sauce Bold"/>
                <a:sym typeface="Open Sauce Bold"/>
              </a:rPr>
              <a:t>Module 1: </a:t>
            </a:r>
          </a:p>
          <a:p>
            <a:pPr algn="ctr">
              <a:lnSpc>
                <a:spcPts val="6240"/>
              </a:lnSpc>
              <a:spcBef>
                <a:spcPct val="0"/>
              </a:spcBef>
            </a:pPr>
            <a:r>
              <a:rPr lang="en-US" b="true" sz="4800">
                <a:solidFill>
                  <a:srgbClr val="D83030"/>
                </a:solidFill>
                <a:latin typeface="Open Sauce Bold"/>
                <a:ea typeface="Open Sauce Bold"/>
                <a:cs typeface="Open Sauce Bold"/>
                <a:sym typeface="Open Sauce Bold"/>
              </a:rPr>
              <a:t>Macroeconomics and Economic Growth Implications</a:t>
            </a:r>
          </a:p>
        </p:txBody>
      </p:sp>
      <p:sp>
        <p:nvSpPr>
          <p:cNvPr name="TextBox 6" id="6"/>
          <p:cNvSpPr txBox="true"/>
          <p:nvPr/>
        </p:nvSpPr>
        <p:spPr>
          <a:xfrm rot="0">
            <a:off x="780479" y="1875234"/>
            <a:ext cx="13384187" cy="7704205"/>
          </a:xfrm>
          <a:prstGeom prst="rect">
            <a:avLst/>
          </a:prstGeom>
        </p:spPr>
        <p:txBody>
          <a:bodyPr anchor="t" rtlCol="false" tIns="0" lIns="0" bIns="0" rIns="0">
            <a:spAutoFit/>
          </a:bodyPr>
          <a:lstStyle/>
          <a:p>
            <a:pPr algn="l">
              <a:lnSpc>
                <a:spcPts val="4055"/>
              </a:lnSpc>
            </a:pPr>
          </a:p>
          <a:p>
            <a:pPr algn="l">
              <a:lnSpc>
                <a:spcPts val="4055"/>
              </a:lnSpc>
              <a:spcBef>
                <a:spcPct val="0"/>
              </a:spcBef>
            </a:pPr>
            <a:r>
              <a:rPr lang="en-US" sz="3119">
                <a:solidFill>
                  <a:srgbClr val="D83030"/>
                </a:solidFill>
                <a:latin typeface="Open Sauce"/>
                <a:ea typeface="Open Sauce"/>
                <a:cs typeface="Open Sauce"/>
                <a:sym typeface="Open Sauce"/>
              </a:rPr>
              <a:t>The U.S. macroeconomic environment has faced major shifts in recent years, marked by:</a:t>
            </a:r>
          </a:p>
          <a:p>
            <a:pPr algn="l">
              <a:lnSpc>
                <a:spcPts val="4055"/>
              </a:lnSpc>
              <a:spcBef>
                <a:spcPct val="0"/>
              </a:spcBef>
            </a:pPr>
          </a:p>
          <a:p>
            <a:pPr algn="l" marL="1347067" indent="-449022" lvl="2">
              <a:lnSpc>
                <a:spcPts val="4055"/>
              </a:lnSpc>
              <a:buFont typeface="Arial"/>
              <a:buChar char="⚬"/>
            </a:pPr>
            <a:r>
              <a:rPr lang="en-US" b="true" sz="3119">
                <a:solidFill>
                  <a:srgbClr val="000000"/>
                </a:solidFill>
                <a:latin typeface="Open Sauce Bold"/>
                <a:ea typeface="Open Sauce Bold"/>
                <a:cs typeface="Open Sauce Bold"/>
                <a:sym typeface="Open Sauce Bold"/>
              </a:rPr>
              <a:t>High inflation</a:t>
            </a:r>
          </a:p>
          <a:p>
            <a:pPr algn="l" marL="1347067" indent="-449022" lvl="2">
              <a:lnSpc>
                <a:spcPts val="4055"/>
              </a:lnSpc>
              <a:buFont typeface="Arial"/>
              <a:buChar char="⚬"/>
            </a:pPr>
            <a:r>
              <a:rPr lang="en-US" b="true" sz="3119">
                <a:solidFill>
                  <a:srgbClr val="000000"/>
                </a:solidFill>
                <a:latin typeface="Open Sauce Bold"/>
                <a:ea typeface="Open Sauce Bold"/>
                <a:cs typeface="Open Sauce Bold"/>
                <a:sym typeface="Open Sauce Bold"/>
              </a:rPr>
              <a:t>Labor shortages</a:t>
            </a:r>
          </a:p>
          <a:p>
            <a:pPr algn="l" marL="1347067" indent="-449022" lvl="2">
              <a:lnSpc>
                <a:spcPts val="4055"/>
              </a:lnSpc>
              <a:buFont typeface="Arial"/>
              <a:buChar char="⚬"/>
            </a:pPr>
            <a:r>
              <a:rPr lang="en-US" b="true" sz="3119">
                <a:solidFill>
                  <a:srgbClr val="000000"/>
                </a:solidFill>
                <a:latin typeface="Open Sauce Bold"/>
                <a:ea typeface="Open Sauce Bold"/>
                <a:cs typeface="Open Sauce Bold"/>
                <a:sym typeface="Open Sauce Bold"/>
              </a:rPr>
              <a:t>Slowing GDP growth</a:t>
            </a:r>
          </a:p>
          <a:p>
            <a:pPr algn="l">
              <a:lnSpc>
                <a:spcPts val="4055"/>
              </a:lnSpc>
            </a:pPr>
          </a:p>
          <a:p>
            <a:pPr algn="just" marL="673534" indent="-336767" lvl="1">
              <a:lnSpc>
                <a:spcPts val="4055"/>
              </a:lnSpc>
              <a:buFont typeface="Arial"/>
              <a:buChar char="•"/>
            </a:pPr>
            <a:r>
              <a:rPr lang="en-US" sz="3119">
                <a:solidFill>
                  <a:srgbClr val="000000"/>
                </a:solidFill>
                <a:latin typeface="Open Sauce"/>
                <a:ea typeface="Open Sauce"/>
                <a:cs typeface="Open Sauce"/>
                <a:sym typeface="Open Sauce"/>
              </a:rPr>
              <a:t>These challenges have a </a:t>
            </a:r>
            <a:r>
              <a:rPr lang="en-US" b="true" sz="3119">
                <a:solidFill>
                  <a:srgbClr val="000000"/>
                </a:solidFill>
                <a:latin typeface="Open Sauce Bold"/>
                <a:ea typeface="Open Sauce Bold"/>
                <a:cs typeface="Open Sauce Bold"/>
                <a:sym typeface="Open Sauce Bold"/>
              </a:rPr>
              <a:t>direct impact on businesses</a:t>
            </a:r>
            <a:r>
              <a:rPr lang="en-US" sz="3119">
                <a:solidFill>
                  <a:srgbClr val="000000"/>
                </a:solidFill>
                <a:latin typeface="Open Sauce"/>
                <a:ea typeface="Open Sauce"/>
                <a:cs typeface="Open Sauce"/>
                <a:sym typeface="Open Sauce"/>
              </a:rPr>
              <a:t> like Chipotle Mexican Grill.</a:t>
            </a:r>
          </a:p>
          <a:p>
            <a:pPr algn="just" marL="673534" indent="-336767" lvl="1">
              <a:lnSpc>
                <a:spcPts val="4055"/>
              </a:lnSpc>
              <a:buFont typeface="Arial"/>
              <a:buChar char="•"/>
            </a:pPr>
            <a:r>
              <a:rPr lang="en-US" sz="3119">
                <a:solidFill>
                  <a:srgbClr val="000000"/>
                </a:solidFill>
                <a:latin typeface="Open Sauce"/>
                <a:ea typeface="Open Sauce"/>
                <a:cs typeface="Open Sauce"/>
                <a:sym typeface="Open Sauce"/>
              </a:rPr>
              <a:t>As future business leaders, it’s essential to understand how firms </a:t>
            </a:r>
            <a:r>
              <a:rPr lang="en-US" b="true" sz="3119">
                <a:solidFill>
                  <a:srgbClr val="000000"/>
                </a:solidFill>
                <a:latin typeface="Open Sauce Bold"/>
                <a:ea typeface="Open Sauce Bold"/>
                <a:cs typeface="Open Sauce Bold"/>
                <a:sym typeface="Open Sauce Bold"/>
              </a:rPr>
              <a:t>adapt to external economic pressures</a:t>
            </a:r>
            <a:r>
              <a:rPr lang="en-US" sz="3119">
                <a:solidFill>
                  <a:srgbClr val="000000"/>
                </a:solidFill>
                <a:latin typeface="Open Sauce"/>
                <a:ea typeface="Open Sauce"/>
                <a:cs typeface="Open Sauce"/>
                <a:sym typeface="Open Sauce"/>
              </a:rPr>
              <a:t> to stay competitive and profitable.</a:t>
            </a:r>
          </a:p>
          <a:p>
            <a:pPr algn="just" marL="673534" indent="-336767" lvl="1">
              <a:lnSpc>
                <a:spcPts val="4055"/>
              </a:lnSpc>
              <a:buFont typeface="Arial"/>
              <a:buChar char="•"/>
            </a:pPr>
            <a:r>
              <a:rPr lang="en-US" sz="3119">
                <a:solidFill>
                  <a:srgbClr val="000000"/>
                </a:solidFill>
                <a:latin typeface="Open Sauce"/>
                <a:ea typeface="Open Sauce"/>
                <a:cs typeface="Open Sauce"/>
                <a:sym typeface="Open Sauce"/>
              </a:rPr>
              <a:t>Chipotle serves as a strong example of </a:t>
            </a:r>
            <a:r>
              <a:rPr lang="en-US" b="true" sz="3119">
                <a:solidFill>
                  <a:srgbClr val="000000"/>
                </a:solidFill>
                <a:latin typeface="Open Sauce Bold"/>
                <a:ea typeface="Open Sauce Bold"/>
                <a:cs typeface="Open Sauce Bold"/>
                <a:sym typeface="Open Sauce Bold"/>
              </a:rPr>
              <a:t>strategic agility</a:t>
            </a:r>
            <a:r>
              <a:rPr lang="en-US" sz="3119">
                <a:solidFill>
                  <a:srgbClr val="000000"/>
                </a:solidFill>
                <a:latin typeface="Open Sauce"/>
                <a:ea typeface="Open Sauce"/>
                <a:cs typeface="Open Sauce"/>
                <a:sym typeface="Open Sauce"/>
              </a:rPr>
              <a:t> in the face of macroeconomic headwinds.</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Freeform 2" id="2"/>
          <p:cNvSpPr/>
          <p:nvPr/>
        </p:nvSpPr>
        <p:spPr>
          <a:xfrm flipH="false" flipV="false" rot="0">
            <a:off x="8694374" y="483869"/>
            <a:ext cx="9397173" cy="5720529"/>
          </a:xfrm>
          <a:custGeom>
            <a:avLst/>
            <a:gdLst/>
            <a:ahLst/>
            <a:cxnLst/>
            <a:rect r="r" b="b" t="t" l="l"/>
            <a:pathLst>
              <a:path h="5720529" w="9397173">
                <a:moveTo>
                  <a:pt x="0" y="0"/>
                </a:moveTo>
                <a:lnTo>
                  <a:pt x="9397173" y="0"/>
                </a:lnTo>
                <a:lnTo>
                  <a:pt x="9397173" y="5720529"/>
                </a:lnTo>
                <a:lnTo>
                  <a:pt x="0" y="5720529"/>
                </a:lnTo>
                <a:lnTo>
                  <a:pt x="0" y="0"/>
                </a:lnTo>
                <a:close/>
              </a:path>
            </a:pathLst>
          </a:custGeom>
          <a:blipFill>
            <a:blip r:embed="rId2"/>
            <a:stretch>
              <a:fillRect l="0" t="0" r="0" b="0"/>
            </a:stretch>
          </a:blipFill>
          <a:ln w="190500" cap="sq">
            <a:solidFill>
              <a:srgbClr val="D83030"/>
            </a:solidFill>
            <a:prstDash val="solid"/>
            <a:miter/>
          </a:ln>
        </p:spPr>
      </p:sp>
      <p:grpSp>
        <p:nvGrpSpPr>
          <p:cNvPr name="Group 3" id="3"/>
          <p:cNvGrpSpPr/>
          <p:nvPr/>
        </p:nvGrpSpPr>
        <p:grpSpPr>
          <a:xfrm rot="0">
            <a:off x="11747041" y="6566535"/>
            <a:ext cx="3291840" cy="3291840"/>
            <a:chOff x="0" y="0"/>
            <a:chExt cx="6350000" cy="6350000"/>
          </a:xfrm>
        </p:grpSpPr>
        <p:sp>
          <p:nvSpPr>
            <p:cNvPr name="Freeform 4" id="4"/>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3"/>
              <a:stretch>
                <a:fillRect l="-38888" t="0" r="-38888" b="0"/>
              </a:stretch>
            </a:blipFill>
          </p:spPr>
        </p:sp>
      </p:grpSp>
      <p:sp>
        <p:nvSpPr>
          <p:cNvPr name="TextBox 5" id="5"/>
          <p:cNvSpPr txBox="true"/>
          <p:nvPr/>
        </p:nvSpPr>
        <p:spPr>
          <a:xfrm rot="0">
            <a:off x="1028700" y="445769"/>
            <a:ext cx="5991820" cy="582931"/>
          </a:xfrm>
          <a:prstGeom prst="rect">
            <a:avLst/>
          </a:prstGeom>
        </p:spPr>
        <p:txBody>
          <a:bodyPr anchor="t" rtlCol="false" tIns="0" lIns="0" bIns="0" rIns="0">
            <a:spAutoFit/>
          </a:bodyPr>
          <a:lstStyle/>
          <a:p>
            <a:pPr algn="r">
              <a:lnSpc>
                <a:spcPts val="4679"/>
              </a:lnSpc>
              <a:spcBef>
                <a:spcPct val="0"/>
              </a:spcBef>
            </a:pPr>
            <a:r>
              <a:rPr lang="en-US" b="true" sz="3599">
                <a:solidFill>
                  <a:srgbClr val="D83030"/>
                </a:solidFill>
                <a:latin typeface="Open Sauce Bold"/>
                <a:ea typeface="Open Sauce Bold"/>
                <a:cs typeface="Open Sauce Bold"/>
                <a:sym typeface="Open Sauce Bold"/>
              </a:rPr>
              <a:t>1. Inflation and Input Costs</a:t>
            </a:r>
          </a:p>
        </p:txBody>
      </p:sp>
      <p:sp>
        <p:nvSpPr>
          <p:cNvPr name="TextBox 6" id="6"/>
          <p:cNvSpPr txBox="true"/>
          <p:nvPr/>
        </p:nvSpPr>
        <p:spPr>
          <a:xfrm rot="0">
            <a:off x="435101" y="1169053"/>
            <a:ext cx="8062820" cy="8530958"/>
          </a:xfrm>
          <a:prstGeom prst="rect">
            <a:avLst/>
          </a:prstGeom>
        </p:spPr>
        <p:txBody>
          <a:bodyPr anchor="t" rtlCol="false" tIns="0" lIns="0" bIns="0" rIns="0">
            <a:spAutoFit/>
          </a:bodyPr>
          <a:lstStyle/>
          <a:p>
            <a:pPr algn="l" marL="706213" indent="-353107" lvl="1">
              <a:lnSpc>
                <a:spcPts val="4252"/>
              </a:lnSpc>
              <a:buFont typeface="Arial"/>
              <a:buChar char="•"/>
            </a:pPr>
            <a:r>
              <a:rPr lang="en-US" sz="3271">
                <a:solidFill>
                  <a:srgbClr val="000000"/>
                </a:solidFill>
                <a:latin typeface="Open Sauce"/>
                <a:ea typeface="Open Sauce"/>
                <a:cs typeface="Open Sauce"/>
                <a:sym typeface="Open Sauce"/>
              </a:rPr>
              <a:t>Inflation, especially in </a:t>
            </a:r>
            <a:r>
              <a:rPr lang="en-US" b="true" sz="3271">
                <a:solidFill>
                  <a:srgbClr val="000000"/>
                </a:solidFill>
                <a:latin typeface="Open Sauce Bold"/>
                <a:ea typeface="Open Sauce Bold"/>
                <a:cs typeface="Open Sauce Bold"/>
                <a:sym typeface="Open Sauce Bold"/>
              </a:rPr>
              <a:t>food prices,</a:t>
            </a:r>
            <a:r>
              <a:rPr lang="en-US" sz="3271">
                <a:solidFill>
                  <a:srgbClr val="000000"/>
                </a:solidFill>
                <a:latin typeface="Open Sauce"/>
                <a:ea typeface="Open Sauce"/>
                <a:cs typeface="Open Sauce"/>
                <a:sym typeface="Open Sauce"/>
              </a:rPr>
              <a:t> has become a major cost challenge.</a:t>
            </a:r>
          </a:p>
          <a:p>
            <a:pPr algn="l" marL="706213" indent="-353107" lvl="1">
              <a:lnSpc>
                <a:spcPts val="4252"/>
              </a:lnSpc>
              <a:buFont typeface="Arial"/>
              <a:buChar char="•"/>
            </a:pPr>
            <a:r>
              <a:rPr lang="en-US" sz="3271">
                <a:solidFill>
                  <a:srgbClr val="000000"/>
                </a:solidFill>
                <a:latin typeface="Open Sauce"/>
                <a:ea typeface="Open Sauce"/>
                <a:cs typeface="Open Sauce"/>
                <a:sym typeface="Open Sauce"/>
              </a:rPr>
              <a:t>Key ingredients in Chipotle’s menu </a:t>
            </a:r>
            <a:r>
              <a:rPr lang="en-US" b="true" sz="3271">
                <a:solidFill>
                  <a:srgbClr val="000000"/>
                </a:solidFill>
                <a:latin typeface="Open Sauce Bold"/>
                <a:ea typeface="Open Sauce Bold"/>
                <a:cs typeface="Open Sauce Bold"/>
                <a:sym typeface="Open Sauce Bold"/>
              </a:rPr>
              <a:t>(e.g., avocados, rice)</a:t>
            </a:r>
            <a:r>
              <a:rPr lang="en-US" sz="3271">
                <a:solidFill>
                  <a:srgbClr val="000000"/>
                </a:solidFill>
                <a:latin typeface="Open Sauce"/>
                <a:ea typeface="Open Sauce"/>
                <a:cs typeface="Open Sauce"/>
                <a:sym typeface="Open Sauce"/>
              </a:rPr>
              <a:t> have seen price increases due to:</a:t>
            </a:r>
          </a:p>
          <a:p>
            <a:pPr algn="l" marL="1412426" indent="-470809" lvl="2">
              <a:lnSpc>
                <a:spcPts val="4252"/>
              </a:lnSpc>
              <a:buFont typeface="Arial"/>
              <a:buChar char="⚬"/>
            </a:pPr>
            <a:r>
              <a:rPr lang="en-US" b="true" sz="3271">
                <a:solidFill>
                  <a:srgbClr val="000000"/>
                </a:solidFill>
                <a:latin typeface="Open Sauce Bold"/>
                <a:ea typeface="Open Sauce Bold"/>
                <a:cs typeface="Open Sauce Bold"/>
                <a:sym typeface="Open Sauce Bold"/>
              </a:rPr>
              <a:t>Climate issues affecting crops</a:t>
            </a:r>
          </a:p>
          <a:p>
            <a:pPr algn="l" marL="1412426" indent="-470809" lvl="2">
              <a:lnSpc>
                <a:spcPts val="4252"/>
              </a:lnSpc>
              <a:buFont typeface="Arial"/>
              <a:buChar char="⚬"/>
            </a:pPr>
            <a:r>
              <a:rPr lang="en-US" b="true" sz="3271">
                <a:solidFill>
                  <a:srgbClr val="000000"/>
                </a:solidFill>
                <a:latin typeface="Open Sauce Bold"/>
                <a:ea typeface="Open Sauce Bold"/>
                <a:cs typeface="Open Sauce Bold"/>
                <a:sym typeface="Open Sauce Bold"/>
              </a:rPr>
              <a:t>Global supply chain disruptions</a:t>
            </a:r>
          </a:p>
          <a:p>
            <a:pPr algn="l" marL="700455" indent="-350228" lvl="1">
              <a:lnSpc>
                <a:spcPts val="4217"/>
              </a:lnSpc>
              <a:buFont typeface="Arial"/>
              <a:buChar char="•"/>
            </a:pPr>
            <a:r>
              <a:rPr lang="en-US" b="true" sz="3244">
                <a:solidFill>
                  <a:srgbClr val="D83030"/>
                </a:solidFill>
                <a:latin typeface="Open Sauce Bold"/>
                <a:ea typeface="Open Sauce Bold"/>
                <a:cs typeface="Open Sauce Bold"/>
                <a:sym typeface="Open Sauce Bold"/>
              </a:rPr>
              <a:t>Data point:</a:t>
            </a:r>
            <a:r>
              <a:rPr lang="en-US" sz="3244">
                <a:solidFill>
                  <a:srgbClr val="D83030"/>
                </a:solidFill>
                <a:latin typeface="Open Sauce"/>
                <a:ea typeface="Open Sauce"/>
                <a:cs typeface="Open Sauce"/>
                <a:sym typeface="Open Sauce"/>
              </a:rPr>
              <a:t> </a:t>
            </a:r>
            <a:r>
              <a:rPr lang="en-US" sz="3244">
                <a:solidFill>
                  <a:srgbClr val="000000"/>
                </a:solidFill>
                <a:latin typeface="Open Sauce"/>
                <a:ea typeface="Open Sauce"/>
                <a:cs typeface="Open Sauce"/>
                <a:sym typeface="Open Sauce"/>
              </a:rPr>
              <a:t>U.S. food prices rose over </a:t>
            </a:r>
            <a:r>
              <a:rPr lang="en-US" b="true" sz="3244">
                <a:solidFill>
                  <a:srgbClr val="000000"/>
                </a:solidFill>
                <a:latin typeface="Open Sauce Bold"/>
                <a:ea typeface="Open Sauce Bold"/>
                <a:cs typeface="Open Sauce Bold"/>
                <a:sym typeface="Open Sauce Bold"/>
              </a:rPr>
              <a:t>10% year-over-year in 2022</a:t>
            </a:r>
            <a:r>
              <a:rPr lang="en-US" sz="3244">
                <a:solidFill>
                  <a:srgbClr val="000000"/>
                </a:solidFill>
                <a:latin typeface="Open Sauce"/>
                <a:ea typeface="Open Sauce"/>
                <a:cs typeface="Open Sauce"/>
                <a:sym typeface="Open Sauce"/>
              </a:rPr>
              <a:t> (Bureau of Labor Statistics)</a:t>
            </a:r>
          </a:p>
          <a:p>
            <a:pPr algn="l" marL="706213" indent="-353107" lvl="1">
              <a:lnSpc>
                <a:spcPts val="4252"/>
              </a:lnSpc>
              <a:buFont typeface="Arial"/>
              <a:buChar char="•"/>
            </a:pPr>
            <a:r>
              <a:rPr lang="en-US" b="true" sz="3271">
                <a:solidFill>
                  <a:srgbClr val="D83030"/>
                </a:solidFill>
                <a:latin typeface="Open Sauce Bold"/>
                <a:ea typeface="Open Sauce Bold"/>
                <a:cs typeface="Open Sauce Bold"/>
                <a:sym typeface="Open Sauce Bold"/>
              </a:rPr>
              <a:t>Impact on Chipotle:</a:t>
            </a:r>
          </a:p>
          <a:p>
            <a:pPr algn="l" marL="1412426" indent="-470809" lvl="2">
              <a:lnSpc>
                <a:spcPts val="4252"/>
              </a:lnSpc>
              <a:buFont typeface="Arial"/>
              <a:buChar char="⚬"/>
            </a:pPr>
            <a:r>
              <a:rPr lang="en-US" sz="3271">
                <a:solidFill>
                  <a:srgbClr val="000000"/>
                </a:solidFill>
                <a:latin typeface="Open Sauce"/>
                <a:ea typeface="Open Sauce"/>
                <a:cs typeface="Open Sauce"/>
                <a:sym typeface="Open Sauce"/>
              </a:rPr>
              <a:t>Higher</a:t>
            </a:r>
            <a:r>
              <a:rPr lang="en-US" b="true" sz="3271">
                <a:solidFill>
                  <a:srgbClr val="000000"/>
                </a:solidFill>
                <a:latin typeface="Open Sauce Bold"/>
                <a:ea typeface="Open Sauce Bold"/>
                <a:cs typeface="Open Sauce Bold"/>
                <a:sym typeface="Open Sauce Bold"/>
              </a:rPr>
              <a:t> COGS</a:t>
            </a:r>
            <a:r>
              <a:rPr lang="en-US" sz="3271">
                <a:solidFill>
                  <a:srgbClr val="000000"/>
                </a:solidFill>
                <a:latin typeface="Open Sauce"/>
                <a:ea typeface="Open Sauce"/>
                <a:cs typeface="Open Sauce"/>
                <a:sym typeface="Open Sauce"/>
              </a:rPr>
              <a:t> (Cost of Goods Sold)</a:t>
            </a:r>
          </a:p>
          <a:p>
            <a:pPr algn="l" marL="1412426" indent="-470809" lvl="2">
              <a:lnSpc>
                <a:spcPts val="4252"/>
              </a:lnSpc>
              <a:buFont typeface="Arial"/>
              <a:buChar char="⚬"/>
            </a:pPr>
            <a:r>
              <a:rPr lang="en-US" sz="3271">
                <a:solidFill>
                  <a:srgbClr val="000000"/>
                </a:solidFill>
                <a:latin typeface="Open Sauce"/>
                <a:ea typeface="Open Sauce"/>
                <a:cs typeface="Open Sauce"/>
                <a:sym typeface="Open Sauce"/>
              </a:rPr>
              <a:t>Reduced </a:t>
            </a:r>
            <a:r>
              <a:rPr lang="en-US" b="true" sz="3271">
                <a:solidFill>
                  <a:srgbClr val="000000"/>
                </a:solidFill>
                <a:latin typeface="Open Sauce Bold"/>
                <a:ea typeface="Open Sauce Bold"/>
                <a:cs typeface="Open Sauce Bold"/>
                <a:sym typeface="Open Sauce Bold"/>
              </a:rPr>
              <a:t>profit margins</a:t>
            </a:r>
          </a:p>
          <a:p>
            <a:pPr algn="l" marL="1412426" indent="-470809" lvl="2">
              <a:lnSpc>
                <a:spcPts val="4252"/>
              </a:lnSpc>
              <a:buFont typeface="Arial"/>
              <a:buChar char="⚬"/>
            </a:pPr>
            <a:r>
              <a:rPr lang="en-US" sz="3271">
                <a:solidFill>
                  <a:srgbClr val="000000"/>
                </a:solidFill>
                <a:latin typeface="Open Sauce"/>
                <a:ea typeface="Open Sauce"/>
                <a:cs typeface="Open Sauce"/>
                <a:sym typeface="Open Sauce"/>
              </a:rPr>
              <a:t>Need to </a:t>
            </a:r>
            <a:r>
              <a:rPr lang="en-US" b="true" sz="3271">
                <a:solidFill>
                  <a:srgbClr val="000000"/>
                </a:solidFill>
                <a:latin typeface="Open Sauce Bold"/>
                <a:ea typeface="Open Sauce Bold"/>
                <a:cs typeface="Open Sauce Bold"/>
                <a:sym typeface="Open Sauce Bold"/>
              </a:rPr>
              <a:t>raise prices or cut other operational costs</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873765"/>
            <a:ext cx="9044528" cy="5226406"/>
          </a:xfrm>
          <a:custGeom>
            <a:avLst/>
            <a:gdLst/>
            <a:ahLst/>
            <a:cxnLst/>
            <a:rect r="r" b="b" t="t" l="l"/>
            <a:pathLst>
              <a:path h="5226406" w="9044528">
                <a:moveTo>
                  <a:pt x="0" y="0"/>
                </a:moveTo>
                <a:lnTo>
                  <a:pt x="9044528" y="0"/>
                </a:lnTo>
                <a:lnTo>
                  <a:pt x="9044528" y="5226406"/>
                </a:lnTo>
                <a:lnTo>
                  <a:pt x="0" y="5226406"/>
                </a:lnTo>
                <a:lnTo>
                  <a:pt x="0" y="0"/>
                </a:lnTo>
                <a:close/>
              </a:path>
            </a:pathLst>
          </a:custGeom>
          <a:blipFill>
            <a:blip r:embed="rId2"/>
            <a:stretch>
              <a:fillRect l="-1567" t="-3487" r="0" b="-6586"/>
            </a:stretch>
          </a:blipFill>
          <a:ln w="114300" cap="sq">
            <a:solidFill>
              <a:srgbClr val="D83030"/>
            </a:solidFill>
            <a:prstDash val="solid"/>
            <a:miter/>
          </a:ln>
        </p:spPr>
      </p:sp>
      <p:grpSp>
        <p:nvGrpSpPr>
          <p:cNvPr name="Group 3" id="3"/>
          <p:cNvGrpSpPr/>
          <p:nvPr/>
        </p:nvGrpSpPr>
        <p:grpSpPr>
          <a:xfrm rot="0">
            <a:off x="12020344" y="6602254"/>
            <a:ext cx="3291840" cy="3291840"/>
            <a:chOff x="0" y="0"/>
            <a:chExt cx="6350000" cy="6350000"/>
          </a:xfrm>
        </p:grpSpPr>
        <p:sp>
          <p:nvSpPr>
            <p:cNvPr name="Freeform 4" id="4"/>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3"/>
              <a:stretch>
                <a:fillRect l="-38888" t="0" r="-38888" b="0"/>
              </a:stretch>
            </a:blipFill>
          </p:spPr>
        </p:sp>
      </p:grpSp>
      <p:sp>
        <p:nvSpPr>
          <p:cNvPr name="TextBox 5" id="5"/>
          <p:cNvSpPr txBox="true"/>
          <p:nvPr/>
        </p:nvSpPr>
        <p:spPr>
          <a:xfrm rot="0">
            <a:off x="821531" y="845190"/>
            <a:ext cx="8036719" cy="8383265"/>
          </a:xfrm>
          <a:prstGeom prst="rect">
            <a:avLst/>
          </a:prstGeom>
        </p:spPr>
        <p:txBody>
          <a:bodyPr anchor="t" rtlCol="false" tIns="0" lIns="0" bIns="0" rIns="0">
            <a:spAutoFit/>
          </a:bodyPr>
          <a:lstStyle/>
          <a:p>
            <a:pPr algn="l">
              <a:lnSpc>
                <a:spcPts val="4160"/>
              </a:lnSpc>
              <a:spcBef>
                <a:spcPct val="0"/>
              </a:spcBef>
            </a:pPr>
            <a:r>
              <a:rPr lang="en-US" b="true" sz="3200">
                <a:solidFill>
                  <a:srgbClr val="D83030"/>
                </a:solidFill>
                <a:latin typeface="Open Sauce Bold"/>
                <a:ea typeface="Open Sauce Bold"/>
                <a:cs typeface="Open Sauce Bold"/>
                <a:sym typeface="Open Sauce Bold"/>
              </a:rPr>
              <a:t>2. Labor Shortages in the Restaurant Industry</a:t>
            </a:r>
          </a:p>
          <a:p>
            <a:pPr algn="l">
              <a:lnSpc>
                <a:spcPts val="3381"/>
              </a:lnSpc>
            </a:pPr>
            <a:r>
              <a:rPr lang="en-US" sz="2600">
                <a:solidFill>
                  <a:srgbClr val="000000"/>
                </a:solidFill>
                <a:latin typeface="Open Sauce"/>
                <a:ea typeface="Open Sauce"/>
                <a:cs typeface="Open Sauce"/>
                <a:sym typeface="Open Sauce"/>
              </a:rPr>
              <a:t>The food-service sector remains affected by a shortage of labor post-pandemic.</a:t>
            </a:r>
          </a:p>
          <a:p>
            <a:pPr algn="l">
              <a:lnSpc>
                <a:spcPts val="3381"/>
              </a:lnSpc>
            </a:pPr>
          </a:p>
          <a:p>
            <a:pPr algn="ctr">
              <a:lnSpc>
                <a:spcPts val="3639"/>
              </a:lnSpc>
              <a:spcBef>
                <a:spcPct val="0"/>
              </a:spcBef>
            </a:pPr>
            <a:r>
              <a:rPr lang="en-US" b="true" sz="2799">
                <a:solidFill>
                  <a:srgbClr val="D83030"/>
                </a:solidFill>
                <a:latin typeface="Open Sauce Bold"/>
                <a:ea typeface="Open Sauce Bold"/>
                <a:cs typeface="Open Sauce Bold"/>
                <a:sym typeface="Open Sauce Bold"/>
              </a:rPr>
              <a:t>Causes:</a:t>
            </a:r>
          </a:p>
          <a:p>
            <a:pPr algn="l" marL="561519" indent="-280759" lvl="1">
              <a:lnSpc>
                <a:spcPts val="3381"/>
              </a:lnSpc>
              <a:buFont typeface="Arial"/>
              <a:buChar char="•"/>
            </a:pPr>
            <a:r>
              <a:rPr lang="en-US" sz="2600">
                <a:solidFill>
                  <a:srgbClr val="000000"/>
                </a:solidFill>
                <a:latin typeface="Open Sauce"/>
                <a:ea typeface="Open Sauce"/>
                <a:cs typeface="Open Sauce"/>
                <a:sym typeface="Open Sauce"/>
              </a:rPr>
              <a:t>Burnout from pandemic-era work conditions</a:t>
            </a:r>
          </a:p>
          <a:p>
            <a:pPr algn="l" marL="561519" indent="-280759" lvl="1">
              <a:lnSpc>
                <a:spcPts val="3381"/>
              </a:lnSpc>
              <a:buFont typeface="Arial"/>
              <a:buChar char="•"/>
            </a:pPr>
            <a:r>
              <a:rPr lang="en-US" sz="2600">
                <a:solidFill>
                  <a:srgbClr val="000000"/>
                </a:solidFill>
                <a:latin typeface="Open Sauce"/>
                <a:ea typeface="Open Sauce"/>
                <a:cs typeface="Open Sauce"/>
                <a:sym typeface="Open Sauce"/>
              </a:rPr>
              <a:t>Competition from higher-paying industries</a:t>
            </a:r>
          </a:p>
          <a:p>
            <a:pPr algn="l" marL="561519" indent="-280759" lvl="1">
              <a:lnSpc>
                <a:spcPts val="3381"/>
              </a:lnSpc>
              <a:buFont typeface="Arial"/>
              <a:buChar char="•"/>
            </a:pPr>
            <a:r>
              <a:rPr lang="en-US" sz="2600">
                <a:solidFill>
                  <a:srgbClr val="000000"/>
                </a:solidFill>
                <a:latin typeface="Open Sauce"/>
                <a:ea typeface="Open Sauce"/>
                <a:cs typeface="Open Sauce"/>
                <a:sym typeface="Open Sauce"/>
              </a:rPr>
              <a:t>62% of restaurant operators reported being understaffed in 2023 (National Restaurant Association)</a:t>
            </a:r>
          </a:p>
          <a:p>
            <a:pPr algn="l">
              <a:lnSpc>
                <a:spcPts val="3381"/>
              </a:lnSpc>
            </a:pPr>
          </a:p>
          <a:p>
            <a:pPr algn="ctr">
              <a:lnSpc>
                <a:spcPts val="3639"/>
              </a:lnSpc>
            </a:pPr>
            <a:r>
              <a:rPr lang="en-US" b="true" sz="2799">
                <a:solidFill>
                  <a:srgbClr val="D83030"/>
                </a:solidFill>
                <a:latin typeface="Open Sauce Bold"/>
                <a:ea typeface="Open Sauce Bold"/>
                <a:cs typeface="Open Sauce Bold"/>
                <a:sym typeface="Open Sauce Bold"/>
              </a:rPr>
              <a:t>Chipotle’s response:</a:t>
            </a:r>
          </a:p>
          <a:p>
            <a:pPr algn="just" marL="561519" indent="-280759" lvl="1">
              <a:lnSpc>
                <a:spcPts val="3381"/>
              </a:lnSpc>
              <a:buFont typeface="Arial"/>
              <a:buChar char="•"/>
            </a:pPr>
            <a:r>
              <a:rPr lang="en-US" sz="2600">
                <a:solidFill>
                  <a:srgbClr val="000000"/>
                </a:solidFill>
                <a:latin typeface="Open Sauce"/>
                <a:ea typeface="Open Sauce"/>
                <a:cs typeface="Open Sauce"/>
                <a:sym typeface="Open Sauce"/>
              </a:rPr>
              <a:t>Offering higher pay, bonuses, and benefits</a:t>
            </a:r>
          </a:p>
          <a:p>
            <a:pPr algn="just" marL="561519" indent="-280759" lvl="1">
              <a:lnSpc>
                <a:spcPts val="3381"/>
              </a:lnSpc>
              <a:buFont typeface="Arial"/>
              <a:buChar char="•"/>
            </a:pPr>
            <a:r>
              <a:rPr lang="en-US" sz="2600">
                <a:solidFill>
                  <a:srgbClr val="000000"/>
                </a:solidFill>
                <a:latin typeface="Open Sauce"/>
                <a:ea typeface="Open Sauce"/>
                <a:cs typeface="Open Sauce"/>
                <a:sym typeface="Open Sauce"/>
              </a:rPr>
              <a:t>Investing in automation technology like:</a:t>
            </a:r>
          </a:p>
          <a:p>
            <a:pPr algn="just" marL="561519" indent="-280759" lvl="1">
              <a:lnSpc>
                <a:spcPts val="3381"/>
              </a:lnSpc>
              <a:buFont typeface="Arial"/>
              <a:buChar char="•"/>
            </a:pPr>
            <a:r>
              <a:rPr lang="en-US" sz="2600">
                <a:solidFill>
                  <a:srgbClr val="000000"/>
                </a:solidFill>
                <a:latin typeface="Open Sauce"/>
                <a:ea typeface="Open Sauce"/>
                <a:cs typeface="Open Sauce"/>
                <a:sym typeface="Open Sauce"/>
              </a:rPr>
              <a:t>‘Chippy’ (AI chip-making tool)</a:t>
            </a:r>
          </a:p>
          <a:p>
            <a:pPr algn="just" marL="561519" indent="-280759" lvl="1">
              <a:lnSpc>
                <a:spcPts val="3381"/>
              </a:lnSpc>
              <a:buFont typeface="Arial"/>
              <a:buChar char="•"/>
            </a:pPr>
            <a:r>
              <a:rPr lang="en-US" sz="2600">
                <a:solidFill>
                  <a:srgbClr val="000000"/>
                </a:solidFill>
                <a:latin typeface="Open Sauce"/>
                <a:ea typeface="Open Sauce"/>
                <a:cs typeface="Open Sauce"/>
                <a:sym typeface="Open Sauce"/>
              </a:rPr>
              <a:t>Digital make-lines to streamline service</a:t>
            </a:r>
          </a:p>
          <a:p>
            <a:pPr algn="just" marL="561519" indent="-280759" lvl="1">
              <a:lnSpc>
                <a:spcPts val="3381"/>
              </a:lnSpc>
              <a:buFont typeface="Arial"/>
              <a:buChar char="•"/>
            </a:pPr>
            <a:r>
              <a:rPr lang="en-US" sz="2600">
                <a:solidFill>
                  <a:srgbClr val="000000"/>
                </a:solidFill>
                <a:latin typeface="Open Sauce"/>
                <a:ea typeface="Open Sauce"/>
                <a:cs typeface="Open Sauce"/>
                <a:sym typeface="Open Sauce"/>
              </a:rPr>
              <a:t>Shift toward capital-intensive operations to mitigate labor shortages</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Freeform 2" id="2"/>
          <p:cNvSpPr/>
          <p:nvPr/>
        </p:nvSpPr>
        <p:spPr>
          <a:xfrm flipH="false" flipV="false" rot="0">
            <a:off x="8812704" y="693637"/>
            <a:ext cx="9475296" cy="5708866"/>
          </a:xfrm>
          <a:custGeom>
            <a:avLst/>
            <a:gdLst/>
            <a:ahLst/>
            <a:cxnLst/>
            <a:rect r="r" b="b" t="t" l="l"/>
            <a:pathLst>
              <a:path h="5708866" w="9475296">
                <a:moveTo>
                  <a:pt x="0" y="0"/>
                </a:moveTo>
                <a:lnTo>
                  <a:pt x="9475296" y="0"/>
                </a:lnTo>
                <a:lnTo>
                  <a:pt x="9475296" y="5708866"/>
                </a:lnTo>
                <a:lnTo>
                  <a:pt x="0" y="5708866"/>
                </a:lnTo>
                <a:lnTo>
                  <a:pt x="0" y="0"/>
                </a:lnTo>
                <a:close/>
              </a:path>
            </a:pathLst>
          </a:custGeom>
          <a:blipFill>
            <a:blip r:embed="rId2"/>
            <a:stretch>
              <a:fillRect l="0" t="0" r="0" b="0"/>
            </a:stretch>
          </a:blipFill>
          <a:ln w="161925" cap="sq">
            <a:solidFill>
              <a:srgbClr val="D83030"/>
            </a:solidFill>
            <a:prstDash val="solid"/>
            <a:miter/>
          </a:ln>
        </p:spPr>
      </p:sp>
      <p:grpSp>
        <p:nvGrpSpPr>
          <p:cNvPr name="Group 3" id="3"/>
          <p:cNvGrpSpPr/>
          <p:nvPr/>
        </p:nvGrpSpPr>
        <p:grpSpPr>
          <a:xfrm rot="0">
            <a:off x="11904432" y="6780847"/>
            <a:ext cx="3291840" cy="3291840"/>
            <a:chOff x="0" y="0"/>
            <a:chExt cx="6350000" cy="6350000"/>
          </a:xfrm>
        </p:grpSpPr>
        <p:sp>
          <p:nvSpPr>
            <p:cNvPr name="Freeform 4" id="4"/>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3"/>
              <a:stretch>
                <a:fillRect l="-38888" t="0" r="-38888" b="0"/>
              </a:stretch>
            </a:blipFill>
          </p:spPr>
        </p:sp>
      </p:grpSp>
      <p:sp>
        <p:nvSpPr>
          <p:cNvPr name="TextBox 5" id="5"/>
          <p:cNvSpPr txBox="true"/>
          <p:nvPr/>
        </p:nvSpPr>
        <p:spPr>
          <a:xfrm rot="0">
            <a:off x="836700" y="665062"/>
            <a:ext cx="7769853" cy="8928301"/>
          </a:xfrm>
          <a:prstGeom prst="rect">
            <a:avLst/>
          </a:prstGeom>
        </p:spPr>
        <p:txBody>
          <a:bodyPr anchor="t" rtlCol="false" tIns="0" lIns="0" bIns="0" rIns="0">
            <a:spAutoFit/>
          </a:bodyPr>
          <a:lstStyle/>
          <a:p>
            <a:pPr algn="ctr">
              <a:lnSpc>
                <a:spcPts val="3510"/>
              </a:lnSpc>
              <a:spcBef>
                <a:spcPct val="0"/>
              </a:spcBef>
            </a:pPr>
            <a:r>
              <a:rPr lang="en-US" b="true" sz="2700">
                <a:solidFill>
                  <a:srgbClr val="D83030"/>
                </a:solidFill>
                <a:latin typeface="Open Sauce Bold"/>
                <a:ea typeface="Open Sauce Bold"/>
                <a:cs typeface="Open Sauce Bold"/>
                <a:sym typeface="Open Sauce Bold"/>
              </a:rPr>
              <a:t>3. Slowing GDP Growth and Consumer Confidence</a:t>
            </a:r>
          </a:p>
          <a:p>
            <a:pPr algn="l">
              <a:lnSpc>
                <a:spcPts val="3598"/>
              </a:lnSpc>
            </a:pPr>
            <a:r>
              <a:rPr lang="en-US" sz="2768">
                <a:solidFill>
                  <a:srgbClr val="000000"/>
                </a:solidFill>
                <a:latin typeface="Open Sauce"/>
                <a:ea typeface="Open Sauce"/>
                <a:cs typeface="Open Sauce"/>
                <a:sym typeface="Open Sauce"/>
              </a:rPr>
              <a:t>Slower GDP growth reduces consumer </a:t>
            </a:r>
            <a:r>
              <a:rPr lang="en-US" b="true" sz="2768">
                <a:solidFill>
                  <a:srgbClr val="000000"/>
                </a:solidFill>
                <a:latin typeface="Open Sauce Bold"/>
                <a:ea typeface="Open Sauce Bold"/>
                <a:cs typeface="Open Sauce Bold"/>
                <a:sym typeface="Open Sauce Bold"/>
              </a:rPr>
              <a:t>spending</a:t>
            </a:r>
            <a:r>
              <a:rPr lang="en-US" sz="2768">
                <a:solidFill>
                  <a:srgbClr val="000000"/>
                </a:solidFill>
                <a:latin typeface="Open Sauce"/>
                <a:ea typeface="Open Sauce"/>
                <a:cs typeface="Open Sauce"/>
                <a:sym typeface="Open Sauce"/>
              </a:rPr>
              <a:t>, particularly in non-essential sectors like dining out.</a:t>
            </a:r>
          </a:p>
          <a:p>
            <a:pPr algn="l">
              <a:lnSpc>
                <a:spcPts val="3598"/>
              </a:lnSpc>
            </a:pPr>
          </a:p>
          <a:p>
            <a:pPr algn="ctr">
              <a:lnSpc>
                <a:spcPts val="3598"/>
              </a:lnSpc>
              <a:spcBef>
                <a:spcPct val="0"/>
              </a:spcBef>
            </a:pPr>
            <a:r>
              <a:rPr lang="en-US" b="true" sz="2768">
                <a:solidFill>
                  <a:srgbClr val="D83030"/>
                </a:solidFill>
                <a:latin typeface="Open Sauce Bold"/>
                <a:ea typeface="Open Sauce Bold"/>
                <a:cs typeface="Open Sauce Bold"/>
                <a:sym typeface="Open Sauce Bold"/>
              </a:rPr>
              <a:t>Impact on Chipotle:</a:t>
            </a:r>
          </a:p>
          <a:p>
            <a:pPr algn="l">
              <a:lnSpc>
                <a:spcPts val="3598"/>
              </a:lnSpc>
            </a:pPr>
            <a:r>
              <a:rPr lang="en-US" sz="2768">
                <a:solidFill>
                  <a:srgbClr val="000000"/>
                </a:solidFill>
                <a:latin typeface="Open Sauce"/>
                <a:ea typeface="Open Sauce"/>
                <a:cs typeface="Open Sauce"/>
                <a:sym typeface="Open Sauce"/>
              </a:rPr>
              <a:t>Decreased </a:t>
            </a:r>
            <a:r>
              <a:rPr lang="en-US" b="true" sz="2768">
                <a:solidFill>
                  <a:srgbClr val="000000"/>
                </a:solidFill>
                <a:latin typeface="Open Sauce Bold"/>
                <a:ea typeface="Open Sauce Bold"/>
                <a:cs typeface="Open Sauce Bold"/>
                <a:sym typeface="Open Sauce Bold"/>
              </a:rPr>
              <a:t>restaurant visits</a:t>
            </a:r>
            <a:r>
              <a:rPr lang="en-US" sz="2768">
                <a:solidFill>
                  <a:srgbClr val="000000"/>
                </a:solidFill>
                <a:latin typeface="Open Sauce"/>
                <a:ea typeface="Open Sauce"/>
                <a:cs typeface="Open Sauce"/>
                <a:sym typeface="Open Sauce"/>
              </a:rPr>
              <a:t> and </a:t>
            </a:r>
            <a:r>
              <a:rPr lang="en-US" b="true" sz="2768">
                <a:solidFill>
                  <a:srgbClr val="000000"/>
                </a:solidFill>
                <a:latin typeface="Open Sauce Bold"/>
                <a:ea typeface="Open Sauce Bold"/>
                <a:cs typeface="Open Sauce Bold"/>
                <a:sym typeface="Open Sauce Bold"/>
              </a:rPr>
              <a:t>smaller average</a:t>
            </a:r>
            <a:r>
              <a:rPr lang="en-US" sz="2768">
                <a:solidFill>
                  <a:srgbClr val="000000"/>
                </a:solidFill>
                <a:latin typeface="Open Sauce"/>
                <a:ea typeface="Open Sauce"/>
                <a:cs typeface="Open Sauce"/>
                <a:sym typeface="Open Sauce"/>
              </a:rPr>
              <a:t> orders.</a:t>
            </a:r>
          </a:p>
          <a:p>
            <a:pPr algn="l">
              <a:lnSpc>
                <a:spcPts val="3598"/>
              </a:lnSpc>
            </a:pPr>
          </a:p>
          <a:p>
            <a:pPr algn="ctr">
              <a:lnSpc>
                <a:spcPts val="3598"/>
              </a:lnSpc>
              <a:spcBef>
                <a:spcPct val="0"/>
              </a:spcBef>
            </a:pPr>
            <a:r>
              <a:rPr lang="en-US" b="true" sz="2768">
                <a:solidFill>
                  <a:srgbClr val="D83030"/>
                </a:solidFill>
                <a:latin typeface="Open Sauce Bold"/>
                <a:ea typeface="Open Sauce Bold"/>
                <a:cs typeface="Open Sauce Bold"/>
                <a:sym typeface="Open Sauce Bold"/>
              </a:rPr>
              <a:t>Company strategies:</a:t>
            </a:r>
          </a:p>
          <a:p>
            <a:pPr algn="l" marL="597691" indent="-298846" lvl="1">
              <a:lnSpc>
                <a:spcPts val="3598"/>
              </a:lnSpc>
              <a:buFont typeface="Arial"/>
              <a:buChar char="•"/>
            </a:pPr>
            <a:r>
              <a:rPr lang="en-US" sz="2768">
                <a:solidFill>
                  <a:srgbClr val="000000"/>
                </a:solidFill>
                <a:latin typeface="Open Sauce"/>
                <a:ea typeface="Open Sauce"/>
                <a:cs typeface="Open Sauce"/>
                <a:sym typeface="Open Sauce"/>
              </a:rPr>
              <a:t>Emphasis on </a:t>
            </a:r>
            <a:r>
              <a:rPr lang="en-US" b="true" sz="2768">
                <a:solidFill>
                  <a:srgbClr val="000000"/>
                </a:solidFill>
                <a:latin typeface="Open Sauce Bold"/>
                <a:ea typeface="Open Sauce Bold"/>
                <a:cs typeface="Open Sauce Bold"/>
                <a:sym typeface="Open Sauce Bold"/>
              </a:rPr>
              <a:t>value-driven digital promotions.</a:t>
            </a:r>
          </a:p>
          <a:p>
            <a:pPr algn="l" marL="597691" indent="-298846" lvl="1">
              <a:lnSpc>
                <a:spcPts val="3598"/>
              </a:lnSpc>
              <a:buFont typeface="Arial"/>
              <a:buChar char="•"/>
            </a:pPr>
            <a:r>
              <a:rPr lang="en-US" sz="2768">
                <a:solidFill>
                  <a:srgbClr val="000000"/>
                </a:solidFill>
                <a:latin typeface="Open Sauce"/>
                <a:ea typeface="Open Sauce"/>
                <a:cs typeface="Open Sauce"/>
                <a:sym typeface="Open Sauce"/>
              </a:rPr>
              <a:t>Strengthening </a:t>
            </a:r>
            <a:r>
              <a:rPr lang="en-US" b="true" sz="2768">
                <a:solidFill>
                  <a:srgbClr val="000000"/>
                </a:solidFill>
                <a:latin typeface="Open Sauce Bold"/>
                <a:ea typeface="Open Sauce Bold"/>
                <a:cs typeface="Open Sauce Bold"/>
                <a:sym typeface="Open Sauce Bold"/>
              </a:rPr>
              <a:t>loyalty programs</a:t>
            </a:r>
            <a:r>
              <a:rPr lang="en-US" sz="2768">
                <a:solidFill>
                  <a:srgbClr val="000000"/>
                </a:solidFill>
                <a:latin typeface="Open Sauce"/>
                <a:ea typeface="Open Sauce"/>
                <a:cs typeface="Open Sauce"/>
                <a:sym typeface="Open Sauce"/>
              </a:rPr>
              <a:t> to retain customers.</a:t>
            </a:r>
          </a:p>
          <a:p>
            <a:pPr algn="l">
              <a:lnSpc>
                <a:spcPts val="3598"/>
              </a:lnSpc>
            </a:pPr>
          </a:p>
          <a:p>
            <a:pPr algn="ctr">
              <a:lnSpc>
                <a:spcPts val="3598"/>
              </a:lnSpc>
              <a:spcBef>
                <a:spcPct val="0"/>
              </a:spcBef>
            </a:pPr>
            <a:r>
              <a:rPr lang="en-US" b="true" sz="2768">
                <a:solidFill>
                  <a:srgbClr val="D83030"/>
                </a:solidFill>
                <a:latin typeface="Open Sauce Bold"/>
                <a:ea typeface="Open Sauce Bold"/>
                <a:cs typeface="Open Sauce Bold"/>
                <a:sym typeface="Open Sauce Bold"/>
              </a:rPr>
              <a:t>Growing digital ordering capabilities:</a:t>
            </a:r>
          </a:p>
          <a:p>
            <a:pPr algn="l" marL="597691" indent="-298846" lvl="1">
              <a:lnSpc>
                <a:spcPts val="3598"/>
              </a:lnSpc>
              <a:buFont typeface="Arial"/>
              <a:buChar char="•"/>
            </a:pPr>
            <a:r>
              <a:rPr lang="en-US" sz="2768">
                <a:solidFill>
                  <a:srgbClr val="000000"/>
                </a:solidFill>
                <a:latin typeface="Open Sauce"/>
                <a:ea typeface="Open Sauce"/>
                <a:cs typeface="Open Sauce"/>
                <a:sym typeface="Open Sauce"/>
              </a:rPr>
              <a:t>Enables revenue growth despite lower in-store traffic.</a:t>
            </a:r>
          </a:p>
          <a:p>
            <a:pPr algn="l" marL="597691" indent="-298846" lvl="1">
              <a:lnSpc>
                <a:spcPts val="3598"/>
              </a:lnSpc>
              <a:buFont typeface="Arial"/>
              <a:buChar char="•"/>
            </a:pPr>
            <a:r>
              <a:rPr lang="en-US" sz="2768">
                <a:solidFill>
                  <a:srgbClr val="000000"/>
                </a:solidFill>
                <a:latin typeface="Open Sauce"/>
                <a:ea typeface="Open Sauce"/>
                <a:cs typeface="Open Sauce"/>
                <a:sym typeface="Open Sauce"/>
              </a:rPr>
              <a:t>Keeps </a:t>
            </a:r>
            <a:r>
              <a:rPr lang="en-US" b="true" sz="2768">
                <a:solidFill>
                  <a:srgbClr val="000000"/>
                </a:solidFill>
                <a:latin typeface="Open Sauce Bold"/>
                <a:ea typeface="Open Sauce Bold"/>
                <a:cs typeface="Open Sauce Bold"/>
                <a:sym typeface="Open Sauce Bold"/>
              </a:rPr>
              <a:t>marginal costs low per order.</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Freeform 2" id="2"/>
          <p:cNvSpPr/>
          <p:nvPr/>
        </p:nvSpPr>
        <p:spPr>
          <a:xfrm flipH="false" flipV="false" rot="0">
            <a:off x="1152311" y="517735"/>
            <a:ext cx="3068430" cy="9251531"/>
          </a:xfrm>
          <a:custGeom>
            <a:avLst/>
            <a:gdLst/>
            <a:ahLst/>
            <a:cxnLst/>
            <a:rect r="r" b="b" t="t" l="l"/>
            <a:pathLst>
              <a:path h="9251531" w="3068430">
                <a:moveTo>
                  <a:pt x="0" y="0"/>
                </a:moveTo>
                <a:lnTo>
                  <a:pt x="3068430" y="0"/>
                </a:lnTo>
                <a:lnTo>
                  <a:pt x="3068430" y="9251530"/>
                </a:lnTo>
                <a:lnTo>
                  <a:pt x="0" y="9251530"/>
                </a:lnTo>
                <a:lnTo>
                  <a:pt x="0" y="0"/>
                </a:lnTo>
                <a:close/>
              </a:path>
            </a:pathLst>
          </a:custGeom>
          <a:blipFill>
            <a:blip r:embed="rId2"/>
            <a:stretch>
              <a:fillRect l="-1148" t="-9389" r="0" b="-7704"/>
            </a:stretch>
          </a:blipFill>
          <a:ln w="104775" cap="sq">
            <a:solidFill>
              <a:srgbClr val="D83030"/>
            </a:solidFill>
            <a:prstDash val="solid"/>
            <a:miter/>
          </a:ln>
        </p:spPr>
      </p:sp>
      <p:grpSp>
        <p:nvGrpSpPr>
          <p:cNvPr name="Group 3" id="3"/>
          <p:cNvGrpSpPr/>
          <p:nvPr/>
        </p:nvGrpSpPr>
        <p:grpSpPr>
          <a:xfrm rot="0">
            <a:off x="5217343" y="3497580"/>
            <a:ext cx="3291840" cy="3291840"/>
            <a:chOff x="0" y="0"/>
            <a:chExt cx="6350000" cy="6350000"/>
          </a:xfrm>
        </p:grpSpPr>
        <p:sp>
          <p:nvSpPr>
            <p:cNvPr name="Freeform 4" id="4"/>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3"/>
              <a:stretch>
                <a:fillRect l="-38888" t="0" r="-38888" b="0"/>
              </a:stretch>
            </a:blipFill>
          </p:spPr>
        </p:sp>
      </p:grpSp>
      <p:sp>
        <p:nvSpPr>
          <p:cNvPr name="TextBox 5" id="5"/>
          <p:cNvSpPr txBox="true"/>
          <p:nvPr/>
        </p:nvSpPr>
        <p:spPr>
          <a:xfrm rot="0">
            <a:off x="9509308" y="2176182"/>
            <a:ext cx="8115300" cy="5906061"/>
          </a:xfrm>
          <a:prstGeom prst="rect">
            <a:avLst/>
          </a:prstGeom>
        </p:spPr>
        <p:txBody>
          <a:bodyPr anchor="t" rtlCol="false" tIns="0" lIns="0" bIns="0" rIns="0">
            <a:spAutoFit/>
          </a:bodyPr>
          <a:lstStyle/>
          <a:p>
            <a:pPr algn="ctr">
              <a:lnSpc>
                <a:spcPts val="4160"/>
              </a:lnSpc>
              <a:spcBef>
                <a:spcPct val="0"/>
              </a:spcBef>
            </a:pPr>
            <a:r>
              <a:rPr lang="en-US" b="true" sz="3200">
                <a:solidFill>
                  <a:srgbClr val="D83030"/>
                </a:solidFill>
                <a:latin typeface="Open Sauce Bold"/>
                <a:ea typeface="Open Sauce Bold"/>
                <a:cs typeface="Open Sauce Bold"/>
                <a:sym typeface="Open Sauce Bold"/>
              </a:rPr>
              <a:t>4. Summary &amp; Strategic Takeaways</a:t>
            </a:r>
          </a:p>
          <a:p>
            <a:pPr algn="l">
              <a:lnSpc>
                <a:spcPts val="3525"/>
              </a:lnSpc>
            </a:pPr>
            <a:r>
              <a:rPr lang="en-US" sz="2711">
                <a:solidFill>
                  <a:srgbClr val="000000"/>
                </a:solidFill>
                <a:latin typeface="Open Sauce"/>
                <a:ea typeface="Open Sauce"/>
                <a:cs typeface="Open Sauce"/>
                <a:sym typeface="Open Sauce"/>
              </a:rPr>
              <a:t>Macroeconomic forces are actively shaping business strategy for Chipotle.</a:t>
            </a:r>
          </a:p>
          <a:p>
            <a:pPr algn="l">
              <a:lnSpc>
                <a:spcPts val="3525"/>
              </a:lnSpc>
            </a:pPr>
          </a:p>
          <a:p>
            <a:pPr algn="ctr">
              <a:lnSpc>
                <a:spcPts val="3639"/>
              </a:lnSpc>
              <a:spcBef>
                <a:spcPct val="0"/>
              </a:spcBef>
            </a:pPr>
            <a:r>
              <a:rPr lang="en-US" b="true" sz="2799">
                <a:solidFill>
                  <a:srgbClr val="D83030"/>
                </a:solidFill>
                <a:latin typeface="Open Sauce Bold"/>
                <a:ea typeface="Open Sauce Bold"/>
                <a:cs typeface="Open Sauce Bold"/>
                <a:sym typeface="Open Sauce Bold"/>
              </a:rPr>
              <a:t>Key challenges: </a:t>
            </a:r>
          </a:p>
          <a:p>
            <a:pPr algn="l">
              <a:lnSpc>
                <a:spcPts val="3525"/>
              </a:lnSpc>
              <a:spcBef>
                <a:spcPct val="0"/>
              </a:spcBef>
            </a:pPr>
            <a:r>
              <a:rPr lang="en-US" b="true" sz="2711">
                <a:solidFill>
                  <a:srgbClr val="000000"/>
                </a:solidFill>
                <a:latin typeface="Open Sauce Bold"/>
                <a:ea typeface="Open Sauce Bold"/>
                <a:cs typeface="Open Sauce Bold"/>
                <a:sym typeface="Open Sauce Bold"/>
              </a:rPr>
              <a:t>Inflation, labor shortages, and GDP slowdown</a:t>
            </a:r>
          </a:p>
          <a:p>
            <a:pPr algn="l">
              <a:lnSpc>
                <a:spcPts val="3525"/>
              </a:lnSpc>
              <a:spcBef>
                <a:spcPct val="0"/>
              </a:spcBef>
            </a:pPr>
          </a:p>
          <a:p>
            <a:pPr algn="ctr">
              <a:lnSpc>
                <a:spcPts val="3639"/>
              </a:lnSpc>
              <a:spcBef>
                <a:spcPct val="0"/>
              </a:spcBef>
            </a:pPr>
            <a:r>
              <a:rPr lang="en-US" b="true" sz="2799">
                <a:solidFill>
                  <a:srgbClr val="D83030"/>
                </a:solidFill>
                <a:latin typeface="Open Sauce Bold"/>
                <a:ea typeface="Open Sauce Bold"/>
                <a:cs typeface="Open Sauce Bold"/>
                <a:sym typeface="Open Sauce Bold"/>
              </a:rPr>
              <a:t>Chipotle’s effective responses:</a:t>
            </a:r>
          </a:p>
          <a:p>
            <a:pPr algn="just" marL="585445" indent="-292722" lvl="1">
              <a:lnSpc>
                <a:spcPts val="3525"/>
              </a:lnSpc>
              <a:buFont typeface="Arial"/>
              <a:buChar char="•"/>
            </a:pPr>
            <a:r>
              <a:rPr lang="en-US" sz="2711">
                <a:solidFill>
                  <a:srgbClr val="000000"/>
                </a:solidFill>
                <a:latin typeface="Open Sauce"/>
                <a:ea typeface="Open Sauce"/>
                <a:cs typeface="Open Sauce"/>
                <a:sym typeface="Open Sauce"/>
              </a:rPr>
              <a:t>Leveraging </a:t>
            </a:r>
            <a:r>
              <a:rPr lang="en-US" b="true" sz="2711">
                <a:solidFill>
                  <a:srgbClr val="000000"/>
                </a:solidFill>
                <a:latin typeface="Open Sauce Bold"/>
                <a:ea typeface="Open Sauce Bold"/>
                <a:cs typeface="Open Sauce Bold"/>
                <a:sym typeface="Open Sauce Bold"/>
              </a:rPr>
              <a:t>technology</a:t>
            </a:r>
            <a:r>
              <a:rPr lang="en-US" sz="2711">
                <a:solidFill>
                  <a:srgbClr val="000000"/>
                </a:solidFill>
                <a:latin typeface="Open Sauce"/>
                <a:ea typeface="Open Sauce"/>
                <a:cs typeface="Open Sauce"/>
                <a:sym typeface="Open Sauce"/>
              </a:rPr>
              <a:t> and </a:t>
            </a:r>
            <a:r>
              <a:rPr lang="en-US" b="true" sz="2711">
                <a:solidFill>
                  <a:srgbClr val="000000"/>
                </a:solidFill>
                <a:latin typeface="Open Sauce Bold"/>
                <a:ea typeface="Open Sauce Bold"/>
                <a:cs typeface="Open Sauce Bold"/>
                <a:sym typeface="Open Sauce Bold"/>
              </a:rPr>
              <a:t>automation</a:t>
            </a:r>
          </a:p>
          <a:p>
            <a:pPr algn="just" marL="585445" indent="-292722" lvl="1">
              <a:lnSpc>
                <a:spcPts val="3525"/>
              </a:lnSpc>
              <a:buFont typeface="Arial"/>
              <a:buChar char="•"/>
            </a:pPr>
            <a:r>
              <a:rPr lang="en-US" sz="2711">
                <a:solidFill>
                  <a:srgbClr val="000000"/>
                </a:solidFill>
                <a:latin typeface="Open Sauce"/>
                <a:ea typeface="Open Sauce"/>
                <a:cs typeface="Open Sauce"/>
                <a:sym typeface="Open Sauce"/>
              </a:rPr>
              <a:t>Scaling </a:t>
            </a:r>
            <a:r>
              <a:rPr lang="en-US" b="true" sz="2711">
                <a:solidFill>
                  <a:srgbClr val="000000"/>
                </a:solidFill>
                <a:latin typeface="Open Sauce Bold"/>
                <a:ea typeface="Open Sauce Bold"/>
                <a:cs typeface="Open Sauce Bold"/>
                <a:sym typeface="Open Sauce Bold"/>
              </a:rPr>
              <a:t>digital operations</a:t>
            </a:r>
            <a:r>
              <a:rPr lang="en-US" sz="2711">
                <a:solidFill>
                  <a:srgbClr val="000000"/>
                </a:solidFill>
                <a:latin typeface="Open Sauce"/>
                <a:ea typeface="Open Sauce"/>
                <a:cs typeface="Open Sauce"/>
                <a:sym typeface="Open Sauce"/>
              </a:rPr>
              <a:t> for efficiency</a:t>
            </a:r>
          </a:p>
          <a:p>
            <a:pPr algn="just" marL="585445" indent="-292722" lvl="1">
              <a:lnSpc>
                <a:spcPts val="3525"/>
              </a:lnSpc>
              <a:buFont typeface="Arial"/>
              <a:buChar char="•"/>
            </a:pPr>
            <a:r>
              <a:rPr lang="en-US" sz="2711">
                <a:solidFill>
                  <a:srgbClr val="000000"/>
                </a:solidFill>
                <a:latin typeface="Open Sauce"/>
                <a:ea typeface="Open Sauce"/>
                <a:cs typeface="Open Sauce"/>
                <a:sym typeface="Open Sauce"/>
              </a:rPr>
              <a:t>The brand is navigating economic pressures while </a:t>
            </a:r>
            <a:r>
              <a:rPr lang="en-US" b="true" sz="2711">
                <a:solidFill>
                  <a:srgbClr val="000000"/>
                </a:solidFill>
                <a:latin typeface="Open Sauce Bold"/>
                <a:ea typeface="Open Sauce Bold"/>
                <a:cs typeface="Open Sauce Bold"/>
                <a:sym typeface="Open Sauce Bold"/>
              </a:rPr>
              <a:t>protecting customer experience and profitability.</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AutoShape 2" id="2"/>
          <p:cNvSpPr/>
          <p:nvPr/>
        </p:nvSpPr>
        <p:spPr>
          <a:xfrm flipV="true">
            <a:off x="1485900" y="683012"/>
            <a:ext cx="0" cy="8949797"/>
          </a:xfrm>
          <a:prstGeom prst="line">
            <a:avLst/>
          </a:prstGeom>
          <a:ln cap="flat" w="38100">
            <a:solidFill>
              <a:srgbClr val="D83030"/>
            </a:solidFill>
            <a:prstDash val="solid"/>
            <a:headEnd type="none" len="sm" w="sm"/>
            <a:tailEnd type="none" len="sm" w="sm"/>
          </a:ln>
        </p:spPr>
      </p:sp>
      <p:grpSp>
        <p:nvGrpSpPr>
          <p:cNvPr name="Group 3" id="3"/>
          <p:cNvGrpSpPr/>
          <p:nvPr/>
        </p:nvGrpSpPr>
        <p:grpSpPr>
          <a:xfrm rot="0">
            <a:off x="15190059" y="404193"/>
            <a:ext cx="2697147" cy="2697147"/>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blipFill>
              <a:blip r:embed="rId2"/>
              <a:stretch>
                <a:fillRect l="-38888" t="0" r="-38888" b="0"/>
              </a:stretch>
            </a:blipFill>
          </p:spPr>
        </p:sp>
      </p:grpSp>
      <p:sp>
        <p:nvSpPr>
          <p:cNvPr name="TextBox 5" id="5"/>
          <p:cNvSpPr txBox="true"/>
          <p:nvPr/>
        </p:nvSpPr>
        <p:spPr>
          <a:xfrm rot="-5400000">
            <a:off x="-2860550" y="4750752"/>
            <a:ext cx="9478615" cy="785496"/>
          </a:xfrm>
          <a:prstGeom prst="rect">
            <a:avLst/>
          </a:prstGeom>
        </p:spPr>
        <p:txBody>
          <a:bodyPr anchor="t" rtlCol="false" tIns="0" lIns="0" bIns="0" rIns="0">
            <a:spAutoFit/>
          </a:bodyPr>
          <a:lstStyle/>
          <a:p>
            <a:pPr algn="ctr">
              <a:lnSpc>
                <a:spcPts val="6369"/>
              </a:lnSpc>
              <a:spcBef>
                <a:spcPct val="0"/>
              </a:spcBef>
            </a:pPr>
            <a:r>
              <a:rPr lang="en-US" b="true" sz="4899">
                <a:solidFill>
                  <a:srgbClr val="D83030"/>
                </a:solidFill>
                <a:latin typeface="Open Sauce Bold"/>
                <a:ea typeface="Open Sauce Bold"/>
                <a:cs typeface="Open Sauce Bold"/>
                <a:sym typeface="Open Sauce Bold"/>
              </a:rPr>
              <a:t>Strategic Analysis of Chipotle</a:t>
            </a:r>
          </a:p>
        </p:txBody>
      </p:sp>
      <p:sp>
        <p:nvSpPr>
          <p:cNvPr name="TextBox 6" id="6"/>
          <p:cNvSpPr txBox="true"/>
          <p:nvPr/>
        </p:nvSpPr>
        <p:spPr>
          <a:xfrm rot="-5400000">
            <a:off x="170054" y="6024198"/>
            <a:ext cx="4079081" cy="3638138"/>
          </a:xfrm>
          <a:prstGeom prst="rect">
            <a:avLst/>
          </a:prstGeom>
        </p:spPr>
        <p:txBody>
          <a:bodyPr anchor="t" rtlCol="false" tIns="0" lIns="0" bIns="0" rIns="0">
            <a:spAutoFit/>
          </a:bodyPr>
          <a:lstStyle/>
          <a:p>
            <a:pPr algn="ctr">
              <a:lnSpc>
                <a:spcPts val="8147"/>
              </a:lnSpc>
            </a:pPr>
            <a:r>
              <a:rPr lang="en-US" sz="6266" b="true">
                <a:solidFill>
                  <a:srgbClr val="D83030"/>
                </a:solidFill>
                <a:latin typeface="Open Sauce Bold"/>
                <a:ea typeface="Open Sauce Bold"/>
                <a:cs typeface="Open Sauce Bold"/>
                <a:sym typeface="Open Sauce Bold"/>
              </a:rPr>
              <a:t>Module 2</a:t>
            </a:r>
          </a:p>
          <a:p>
            <a:pPr algn="ctr">
              <a:lnSpc>
                <a:spcPts val="21187"/>
              </a:lnSpc>
              <a:spcBef>
                <a:spcPct val="0"/>
              </a:spcBef>
            </a:pPr>
          </a:p>
        </p:txBody>
      </p:sp>
      <p:sp>
        <p:nvSpPr>
          <p:cNvPr name="TextBox 7" id="7"/>
          <p:cNvSpPr txBox="true"/>
          <p:nvPr/>
        </p:nvSpPr>
        <p:spPr>
          <a:xfrm rot="0">
            <a:off x="2552898" y="155670"/>
            <a:ext cx="14331355" cy="9792831"/>
          </a:xfrm>
          <a:prstGeom prst="rect">
            <a:avLst/>
          </a:prstGeom>
        </p:spPr>
        <p:txBody>
          <a:bodyPr anchor="t" rtlCol="false" tIns="0" lIns="0" bIns="0" rIns="0">
            <a:spAutoFit/>
          </a:bodyPr>
          <a:lstStyle/>
          <a:p>
            <a:pPr algn="l" marL="705703" indent="-352852" lvl="1">
              <a:lnSpc>
                <a:spcPts val="5458"/>
              </a:lnSpc>
              <a:buAutoNum type="arabicPeriod" startAt="1"/>
            </a:pPr>
            <a:r>
              <a:rPr lang="en-US" b="true" sz="3268">
                <a:solidFill>
                  <a:srgbClr val="D83030"/>
                </a:solidFill>
                <a:latin typeface="Open Sauce Bold"/>
                <a:ea typeface="Open Sauce Bold"/>
                <a:cs typeface="Open Sauce Bold"/>
                <a:sym typeface="Open Sauce Bold"/>
              </a:rPr>
              <a:t>Overview of Chipotle's Business Model</a:t>
            </a:r>
          </a:p>
          <a:p>
            <a:pPr algn="just" marL="1328397" indent="-442799" lvl="2">
              <a:lnSpc>
                <a:spcPts val="5137"/>
              </a:lnSpc>
              <a:buFont typeface="Arial"/>
              <a:buChar char="⚬"/>
            </a:pPr>
            <a:r>
              <a:rPr lang="en-US" sz="3076">
                <a:solidFill>
                  <a:srgbClr val="000000"/>
                </a:solidFill>
                <a:latin typeface="Open Sauce"/>
                <a:ea typeface="Open Sauce"/>
                <a:cs typeface="Open Sauce"/>
                <a:sym typeface="Open Sauce"/>
              </a:rPr>
              <a:t>﻿﻿Focuses on high-quality, fresh ingredients and simple menu.</a:t>
            </a:r>
          </a:p>
          <a:p>
            <a:pPr algn="just" marL="1328397" indent="-442799" lvl="2">
              <a:lnSpc>
                <a:spcPts val="5137"/>
              </a:lnSpc>
              <a:buFont typeface="Arial"/>
              <a:buChar char="⚬"/>
            </a:pPr>
            <a:r>
              <a:rPr lang="en-US" sz="3076">
                <a:solidFill>
                  <a:srgbClr val="000000"/>
                </a:solidFill>
                <a:latin typeface="Open Sauce"/>
                <a:ea typeface="Open Sauce"/>
                <a:cs typeface="Open Sauce"/>
                <a:sym typeface="Open Sauce"/>
              </a:rPr>
              <a:t>﻿﻿Strong commitment to sustainability and ethical sourcing.</a:t>
            </a:r>
          </a:p>
          <a:p>
            <a:pPr algn="just" marL="1328397" indent="-442799" lvl="2">
              <a:lnSpc>
                <a:spcPts val="5137"/>
              </a:lnSpc>
              <a:buFont typeface="Arial"/>
              <a:buChar char="⚬"/>
            </a:pPr>
            <a:r>
              <a:rPr lang="en-US" sz="3076">
                <a:solidFill>
                  <a:srgbClr val="000000"/>
                </a:solidFill>
                <a:latin typeface="Open Sauce"/>
                <a:ea typeface="Open Sauce"/>
                <a:cs typeface="Open Sauce"/>
                <a:sym typeface="Open Sauce"/>
              </a:rPr>
              <a:t>﻿﻿Fast-casual model with focus on speed and convenience.</a:t>
            </a:r>
          </a:p>
          <a:p>
            <a:pPr algn="l" marL="705703" indent="-352852" lvl="1">
              <a:lnSpc>
                <a:spcPts val="5458"/>
              </a:lnSpc>
              <a:buAutoNum type="arabicPeriod" startAt="1"/>
            </a:pPr>
            <a:r>
              <a:rPr lang="en-US" b="true" sz="3268">
                <a:solidFill>
                  <a:srgbClr val="D83030"/>
                </a:solidFill>
                <a:latin typeface="Open Sauce Bold"/>
                <a:ea typeface="Open Sauce Bold"/>
                <a:cs typeface="Open Sauce Bold"/>
                <a:sym typeface="Open Sauce Bold"/>
              </a:rPr>
              <a:t>Competitive Advantage</a:t>
            </a:r>
          </a:p>
          <a:p>
            <a:pPr algn="l" marL="1328400" indent="-442800" lvl="2">
              <a:lnSpc>
                <a:spcPts val="5137"/>
              </a:lnSpc>
              <a:buFont typeface="Arial"/>
              <a:buChar char="⚬"/>
            </a:pPr>
            <a:r>
              <a:rPr lang="en-US" sz="3076">
                <a:solidFill>
                  <a:srgbClr val="000000"/>
                </a:solidFill>
                <a:latin typeface="Open Sauce"/>
                <a:ea typeface="Open Sauce"/>
                <a:cs typeface="Open Sauce"/>
                <a:sym typeface="Open Sauce"/>
              </a:rPr>
              <a:t>﻿﻿Unique positioning as a healthier, customizable fast-food option.</a:t>
            </a:r>
          </a:p>
          <a:p>
            <a:pPr algn="l" marL="1328400" indent="-442800" lvl="2">
              <a:lnSpc>
                <a:spcPts val="5137"/>
              </a:lnSpc>
              <a:buFont typeface="Arial"/>
              <a:buChar char="⚬"/>
            </a:pPr>
            <a:r>
              <a:rPr lang="en-US" sz="3076">
                <a:solidFill>
                  <a:srgbClr val="000000"/>
                </a:solidFill>
                <a:latin typeface="Open Sauce"/>
                <a:ea typeface="Open Sauce"/>
                <a:cs typeface="Open Sauce"/>
                <a:sym typeface="Open Sauce"/>
              </a:rPr>
              <a:t>﻿﻿Strong brand loyalty due to quality, transparency, and customer experier</a:t>
            </a:r>
          </a:p>
          <a:p>
            <a:pPr algn="l" marL="1328400" indent="-442800" lvl="2">
              <a:lnSpc>
                <a:spcPts val="5137"/>
              </a:lnSpc>
              <a:buFont typeface="Arial"/>
              <a:buChar char="⚬"/>
            </a:pPr>
            <a:r>
              <a:rPr lang="en-US" sz="3076">
                <a:solidFill>
                  <a:srgbClr val="000000"/>
                </a:solidFill>
                <a:latin typeface="Open Sauce"/>
                <a:ea typeface="Open Sauce"/>
                <a:cs typeface="Open Sauce"/>
                <a:sym typeface="Open Sauce"/>
              </a:rPr>
              <a:t>﻿﻿Vertical integration strategy supports cost control and quality assurance.</a:t>
            </a:r>
          </a:p>
          <a:p>
            <a:pPr algn="l" marL="705703" indent="-352852" lvl="1">
              <a:lnSpc>
                <a:spcPts val="5458"/>
              </a:lnSpc>
              <a:buAutoNum type="arabicPeriod" startAt="1"/>
            </a:pPr>
            <a:r>
              <a:rPr lang="en-US" b="true" sz="3268">
                <a:solidFill>
                  <a:srgbClr val="D83030"/>
                </a:solidFill>
                <a:latin typeface="Open Sauce Bold"/>
                <a:ea typeface="Open Sauce Bold"/>
                <a:cs typeface="Open Sauce Bold"/>
                <a:sym typeface="Open Sauce Bold"/>
              </a:rPr>
              <a:t>Financial Performance</a:t>
            </a:r>
          </a:p>
          <a:p>
            <a:pPr algn="l" marL="1328400" indent="-442800" lvl="2">
              <a:lnSpc>
                <a:spcPts val="5137"/>
              </a:lnSpc>
              <a:buFont typeface="Arial"/>
              <a:buChar char="⚬"/>
            </a:pPr>
            <a:r>
              <a:rPr lang="en-US" sz="3076">
                <a:solidFill>
                  <a:srgbClr val="000000"/>
                </a:solidFill>
                <a:latin typeface="Open Sauce"/>
                <a:ea typeface="Open Sauce"/>
                <a:cs typeface="Open Sauce"/>
                <a:sym typeface="Open Sauce"/>
              </a:rPr>
              <a:t>﻿﻿Consistent revenue growth and profitability despite market challenges.</a:t>
            </a:r>
          </a:p>
          <a:p>
            <a:pPr algn="l" marL="1328400" indent="-442800" lvl="2">
              <a:lnSpc>
                <a:spcPts val="5137"/>
              </a:lnSpc>
              <a:buFont typeface="Arial"/>
              <a:buChar char="⚬"/>
            </a:pPr>
            <a:r>
              <a:rPr lang="en-US" sz="3076">
                <a:solidFill>
                  <a:srgbClr val="000000"/>
                </a:solidFill>
                <a:latin typeface="Open Sauce"/>
                <a:ea typeface="Open Sauce"/>
                <a:cs typeface="Open Sauce"/>
                <a:sym typeface="Open Sauce"/>
              </a:rPr>
              <a:t>﻿﻿High average revenue per restaurant compared to competitors.</a:t>
            </a:r>
          </a:p>
          <a:p>
            <a:pPr algn="l" marL="1328400" indent="-442800" lvl="2">
              <a:lnSpc>
                <a:spcPts val="5137"/>
              </a:lnSpc>
              <a:buFont typeface="Arial"/>
              <a:buChar char="⚬"/>
            </a:pPr>
            <a:r>
              <a:rPr lang="en-US" sz="3076">
                <a:solidFill>
                  <a:srgbClr val="000000"/>
                </a:solidFill>
                <a:latin typeface="Open Sauce"/>
                <a:ea typeface="Open Sauce"/>
                <a:cs typeface="Open Sauce"/>
                <a:sym typeface="Open Sauce"/>
              </a:rPr>
              <a:t>﻿﻿Efficient cost management despite premium ingredient</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712470" y="601218"/>
            <a:ext cx="8889492" cy="4444746"/>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solidFill>
              <a:srgbClr val="D83030"/>
            </a:solidFill>
          </p:spPr>
        </p:sp>
        <p:sp>
          <p:nvSpPr>
            <p:cNvPr name="TextBox 4" id="4"/>
            <p:cNvSpPr txBox="true"/>
            <p:nvPr/>
          </p:nvSpPr>
          <p:spPr>
            <a:xfrm>
              <a:off x="0" y="-19050"/>
              <a:ext cx="698500" cy="425450"/>
            </a:xfrm>
            <a:prstGeom prst="rect">
              <a:avLst/>
            </a:prstGeom>
          </p:spPr>
          <p:txBody>
            <a:bodyPr anchor="ctr" rtlCol="false" tIns="50800" lIns="50800" bIns="50800" rIns="50800"/>
            <a:lstStyle/>
            <a:p>
              <a:pPr algn="ctr">
                <a:lnSpc>
                  <a:spcPts val="1820"/>
                </a:lnSpc>
              </a:pPr>
            </a:p>
          </p:txBody>
        </p:sp>
      </p:grpSp>
      <p:grpSp>
        <p:nvGrpSpPr>
          <p:cNvPr name="Group 5" id="5"/>
          <p:cNvGrpSpPr/>
          <p:nvPr/>
        </p:nvGrpSpPr>
        <p:grpSpPr>
          <a:xfrm rot="-10800000">
            <a:off x="8296656" y="3095625"/>
            <a:ext cx="8962644" cy="4481322"/>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solidFill>
              <a:srgbClr val="D83030"/>
            </a:solidFill>
          </p:spPr>
        </p:sp>
        <p:sp>
          <p:nvSpPr>
            <p:cNvPr name="TextBox 7" id="7"/>
            <p:cNvSpPr txBox="true"/>
            <p:nvPr/>
          </p:nvSpPr>
          <p:spPr>
            <a:xfrm>
              <a:off x="0" y="-19050"/>
              <a:ext cx="698500" cy="425450"/>
            </a:xfrm>
            <a:prstGeom prst="rect">
              <a:avLst/>
            </a:prstGeom>
          </p:spPr>
          <p:txBody>
            <a:bodyPr anchor="ctr" rtlCol="false" tIns="50800" lIns="50800" bIns="50800" rIns="50800"/>
            <a:lstStyle/>
            <a:p>
              <a:pPr algn="ctr">
                <a:lnSpc>
                  <a:spcPts val="1820"/>
                </a:lnSpc>
              </a:pPr>
            </a:p>
          </p:txBody>
        </p:sp>
      </p:grpSp>
      <p:grpSp>
        <p:nvGrpSpPr>
          <p:cNvPr name="Group 8" id="8"/>
          <p:cNvGrpSpPr/>
          <p:nvPr/>
        </p:nvGrpSpPr>
        <p:grpSpPr>
          <a:xfrm rot="0">
            <a:off x="712470" y="5567934"/>
            <a:ext cx="8889492" cy="4444746"/>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solidFill>
              <a:srgbClr val="D83030"/>
            </a:solidFill>
          </p:spPr>
        </p:sp>
        <p:sp>
          <p:nvSpPr>
            <p:cNvPr name="TextBox 10" id="10"/>
            <p:cNvSpPr txBox="true"/>
            <p:nvPr/>
          </p:nvSpPr>
          <p:spPr>
            <a:xfrm>
              <a:off x="0" y="-19050"/>
              <a:ext cx="698500" cy="425450"/>
            </a:xfrm>
            <a:prstGeom prst="rect">
              <a:avLst/>
            </a:prstGeom>
          </p:spPr>
          <p:txBody>
            <a:bodyPr anchor="ctr" rtlCol="false" tIns="50800" lIns="50800" bIns="50800" rIns="50800"/>
            <a:lstStyle/>
            <a:p>
              <a:pPr algn="ctr">
                <a:lnSpc>
                  <a:spcPts val="1820"/>
                </a:lnSpc>
              </a:pPr>
            </a:p>
          </p:txBody>
        </p:sp>
      </p:grpSp>
      <p:grpSp>
        <p:nvGrpSpPr>
          <p:cNvPr name="Group 11" id="11"/>
          <p:cNvGrpSpPr/>
          <p:nvPr/>
        </p:nvGrpSpPr>
        <p:grpSpPr>
          <a:xfrm rot="0">
            <a:off x="12409078" y="7714107"/>
            <a:ext cx="2451047" cy="2451047"/>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blipFill>
              <a:blip r:embed="rId2"/>
              <a:stretch>
                <a:fillRect l="-38888" t="0" r="-38888" b="0"/>
              </a:stretch>
            </a:blipFill>
          </p:spPr>
        </p:sp>
      </p:grpSp>
      <p:sp>
        <p:nvSpPr>
          <p:cNvPr name="TextBox 13" id="13"/>
          <p:cNvSpPr txBox="true"/>
          <p:nvPr/>
        </p:nvSpPr>
        <p:spPr>
          <a:xfrm rot="0">
            <a:off x="9338482" y="544068"/>
            <a:ext cx="7920818" cy="1833880"/>
          </a:xfrm>
          <a:prstGeom prst="rect">
            <a:avLst/>
          </a:prstGeom>
        </p:spPr>
        <p:txBody>
          <a:bodyPr anchor="t" rtlCol="false" tIns="0" lIns="0" bIns="0" rIns="0">
            <a:spAutoFit/>
          </a:bodyPr>
          <a:lstStyle/>
          <a:p>
            <a:pPr algn="r">
              <a:lnSpc>
                <a:spcPts val="7280"/>
              </a:lnSpc>
              <a:spcBef>
                <a:spcPct val="0"/>
              </a:spcBef>
            </a:pPr>
            <a:r>
              <a:rPr lang="en-US" b="true" sz="5600">
                <a:solidFill>
                  <a:srgbClr val="7D1818"/>
                </a:solidFill>
                <a:latin typeface="Open Sauce Bold"/>
                <a:ea typeface="Open Sauce Bold"/>
                <a:cs typeface="Open Sauce Bold"/>
                <a:sym typeface="Open Sauce Bold"/>
              </a:rPr>
              <a:t>Strategic Growth &amp; Market Position</a:t>
            </a:r>
          </a:p>
        </p:txBody>
      </p:sp>
      <p:sp>
        <p:nvSpPr>
          <p:cNvPr name="TextBox 14" id="14"/>
          <p:cNvSpPr txBox="true"/>
          <p:nvPr/>
        </p:nvSpPr>
        <p:spPr>
          <a:xfrm rot="0">
            <a:off x="1028700" y="918591"/>
            <a:ext cx="7438826" cy="3781425"/>
          </a:xfrm>
          <a:prstGeom prst="rect">
            <a:avLst/>
          </a:prstGeom>
        </p:spPr>
        <p:txBody>
          <a:bodyPr anchor="t" rtlCol="false" tIns="0" lIns="0" bIns="0" rIns="0">
            <a:spAutoFit/>
          </a:bodyPr>
          <a:lstStyle/>
          <a:p>
            <a:pPr algn="l">
              <a:lnSpc>
                <a:spcPts val="4160"/>
              </a:lnSpc>
            </a:pPr>
            <a:r>
              <a:rPr lang="en-US" sz="3200" b="true">
                <a:solidFill>
                  <a:srgbClr val="000000"/>
                </a:solidFill>
                <a:latin typeface="Open Sauce Bold"/>
                <a:ea typeface="Open Sauce Bold"/>
                <a:cs typeface="Open Sauce Bold"/>
                <a:sym typeface="Open Sauce Bold"/>
              </a:rPr>
              <a:t>1. Market Trends and Consumer Preferences</a:t>
            </a:r>
          </a:p>
          <a:p>
            <a:pPr algn="l" marL="604519" indent="-302260" lvl="1">
              <a:lnSpc>
                <a:spcPts val="3639"/>
              </a:lnSpc>
              <a:buFont typeface="Arial"/>
              <a:buChar char="•"/>
            </a:pPr>
            <a:r>
              <a:rPr lang="en-US" sz="2799">
                <a:solidFill>
                  <a:srgbClr val="FFFFFF"/>
                </a:solidFill>
                <a:latin typeface="Open Sauce"/>
                <a:ea typeface="Open Sauce"/>
                <a:cs typeface="Open Sauce"/>
                <a:sym typeface="Open Sauce"/>
              </a:rPr>
              <a:t>Health-conscious eating and demand for clean, natural ingredients.</a:t>
            </a:r>
          </a:p>
          <a:p>
            <a:pPr algn="l" marL="604519" indent="-302260" lvl="1">
              <a:lnSpc>
                <a:spcPts val="3639"/>
              </a:lnSpc>
              <a:buFont typeface="Arial"/>
              <a:buChar char="•"/>
            </a:pPr>
            <a:r>
              <a:rPr lang="en-US" sz="2799">
                <a:solidFill>
                  <a:srgbClr val="FFFFFF"/>
                </a:solidFill>
                <a:latin typeface="Open Sauce"/>
                <a:ea typeface="Open Sauce"/>
                <a:cs typeface="Open Sauce"/>
                <a:sym typeface="Open Sauce"/>
              </a:rPr>
              <a:t>Rise of digital ordering and delivery platforms.</a:t>
            </a:r>
          </a:p>
          <a:p>
            <a:pPr algn="l" marL="604519" indent="-302260" lvl="1">
              <a:lnSpc>
                <a:spcPts val="3639"/>
              </a:lnSpc>
              <a:buFont typeface="Arial"/>
              <a:buChar char="•"/>
            </a:pPr>
            <a:r>
              <a:rPr lang="en-US" sz="2799">
                <a:solidFill>
                  <a:srgbClr val="FFFFFF"/>
                </a:solidFill>
                <a:latin typeface="Open Sauce"/>
                <a:ea typeface="Open Sauce"/>
                <a:cs typeface="Open Sauce"/>
                <a:sym typeface="Open Sauce"/>
              </a:rPr>
              <a:t>Growing focus on sustainability and environmental impact.</a:t>
            </a:r>
          </a:p>
        </p:txBody>
      </p:sp>
      <p:sp>
        <p:nvSpPr>
          <p:cNvPr name="TextBox 15" id="15"/>
          <p:cNvSpPr txBox="true"/>
          <p:nvPr/>
        </p:nvSpPr>
        <p:spPr>
          <a:xfrm rot="0">
            <a:off x="1178816" y="5918645"/>
            <a:ext cx="5420770" cy="3714750"/>
          </a:xfrm>
          <a:prstGeom prst="rect">
            <a:avLst/>
          </a:prstGeom>
        </p:spPr>
        <p:txBody>
          <a:bodyPr anchor="t" rtlCol="false" tIns="0" lIns="0" bIns="0" rIns="0">
            <a:spAutoFit/>
          </a:bodyPr>
          <a:lstStyle/>
          <a:p>
            <a:pPr algn="l">
              <a:lnSpc>
                <a:spcPts val="4160"/>
              </a:lnSpc>
            </a:pPr>
            <a:r>
              <a:rPr lang="en-US" sz="3200" b="true">
                <a:solidFill>
                  <a:srgbClr val="000000"/>
                </a:solidFill>
                <a:latin typeface="Open Sauce Bold"/>
                <a:ea typeface="Open Sauce Bold"/>
                <a:cs typeface="Open Sauce Bold"/>
                <a:sym typeface="Open Sauce Bold"/>
              </a:rPr>
              <a:t>2. Strategic Initiatives</a:t>
            </a:r>
          </a:p>
          <a:p>
            <a:pPr algn="l" marL="604519" indent="-302260" lvl="1">
              <a:lnSpc>
                <a:spcPts val="3639"/>
              </a:lnSpc>
              <a:buFont typeface="Arial"/>
              <a:buChar char="•"/>
            </a:pPr>
            <a:r>
              <a:rPr lang="en-US" sz="2799">
                <a:solidFill>
                  <a:srgbClr val="FFFFFF"/>
                </a:solidFill>
                <a:latin typeface="Open Sauce"/>
                <a:ea typeface="Open Sauce"/>
                <a:cs typeface="Open Sauce"/>
                <a:sym typeface="Open Sauce"/>
              </a:rPr>
              <a:t>Digital transformation through Chipotlanes and loyalty programs.</a:t>
            </a:r>
          </a:p>
          <a:p>
            <a:pPr algn="l" marL="604519" indent="-302260" lvl="1">
              <a:lnSpc>
                <a:spcPts val="3639"/>
              </a:lnSpc>
              <a:buFont typeface="Arial"/>
              <a:buChar char="•"/>
            </a:pPr>
            <a:r>
              <a:rPr lang="en-US" sz="2799">
                <a:solidFill>
                  <a:srgbClr val="FFFFFF"/>
                </a:solidFill>
                <a:latin typeface="Open Sauce"/>
                <a:ea typeface="Open Sauce"/>
                <a:cs typeface="Open Sauce"/>
                <a:sym typeface="Open Sauce"/>
              </a:rPr>
              <a:t>Focus on menu innovation to cater to diverse tastes.</a:t>
            </a:r>
          </a:p>
          <a:p>
            <a:pPr algn="l" marL="604519" indent="-302260" lvl="1">
              <a:lnSpc>
                <a:spcPts val="3639"/>
              </a:lnSpc>
              <a:buFont typeface="Arial"/>
              <a:buChar char="•"/>
            </a:pPr>
            <a:r>
              <a:rPr lang="en-US" sz="2799">
                <a:solidFill>
                  <a:srgbClr val="FFFFFF"/>
                </a:solidFill>
                <a:latin typeface="Open Sauce"/>
                <a:ea typeface="Open Sauce"/>
                <a:cs typeface="Open Sauce"/>
                <a:sym typeface="Open Sauce"/>
              </a:rPr>
              <a:t>Expansion into suburban and international markets.</a:t>
            </a:r>
          </a:p>
        </p:txBody>
      </p:sp>
      <p:sp>
        <p:nvSpPr>
          <p:cNvPr name="TextBox 16" id="16"/>
          <p:cNvSpPr txBox="true"/>
          <p:nvPr/>
        </p:nvSpPr>
        <p:spPr>
          <a:xfrm rot="0">
            <a:off x="10413312" y="3464623"/>
            <a:ext cx="6442578" cy="3714750"/>
          </a:xfrm>
          <a:prstGeom prst="rect">
            <a:avLst/>
          </a:prstGeom>
        </p:spPr>
        <p:txBody>
          <a:bodyPr anchor="t" rtlCol="false" tIns="0" lIns="0" bIns="0" rIns="0">
            <a:spAutoFit/>
          </a:bodyPr>
          <a:lstStyle/>
          <a:p>
            <a:pPr algn="r">
              <a:lnSpc>
                <a:spcPts val="4160"/>
              </a:lnSpc>
            </a:pPr>
            <a:r>
              <a:rPr lang="en-US" sz="3200" b="true">
                <a:solidFill>
                  <a:srgbClr val="000000"/>
                </a:solidFill>
                <a:latin typeface="Open Sauce Bold"/>
                <a:ea typeface="Open Sauce Bold"/>
                <a:cs typeface="Open Sauce Bold"/>
                <a:sym typeface="Open Sauce Bold"/>
              </a:rPr>
              <a:t>3. Financial Resilience</a:t>
            </a:r>
          </a:p>
          <a:p>
            <a:pPr algn="just" marL="604519" indent="-302260" lvl="1">
              <a:lnSpc>
                <a:spcPts val="3639"/>
              </a:lnSpc>
              <a:buFont typeface="Arial"/>
              <a:buChar char="•"/>
            </a:pPr>
            <a:r>
              <a:rPr lang="en-US" sz="2799">
                <a:solidFill>
                  <a:srgbClr val="FFFFFF"/>
                </a:solidFill>
                <a:latin typeface="Open Sauce"/>
                <a:ea typeface="Open Sauce"/>
                <a:cs typeface="Open Sauce"/>
                <a:sym typeface="Open Sauce"/>
              </a:rPr>
              <a:t>Strong cash flow and balance sheet for strategic investments.﻿﻿</a:t>
            </a:r>
          </a:p>
          <a:p>
            <a:pPr algn="just" marL="604519" indent="-302260" lvl="1">
              <a:lnSpc>
                <a:spcPts val="3639"/>
              </a:lnSpc>
              <a:buFont typeface="Arial"/>
              <a:buChar char="•"/>
            </a:pPr>
            <a:r>
              <a:rPr lang="en-US" sz="2799">
                <a:solidFill>
                  <a:srgbClr val="FFFFFF"/>
                </a:solidFill>
                <a:latin typeface="Open Sauce"/>
                <a:ea typeface="Open Sauce"/>
                <a:cs typeface="Open Sauce"/>
                <a:sym typeface="Open Sauce"/>
              </a:rPr>
              <a:t>Efficient supply chain management tosupport rapid scaling.﻿﻿</a:t>
            </a:r>
          </a:p>
          <a:p>
            <a:pPr algn="just" marL="604519" indent="-302260" lvl="1">
              <a:lnSpc>
                <a:spcPts val="3639"/>
              </a:lnSpc>
              <a:buFont typeface="Arial"/>
              <a:buChar char="•"/>
            </a:pPr>
            <a:r>
              <a:rPr lang="en-US" sz="2799">
                <a:solidFill>
                  <a:srgbClr val="FFFFFF"/>
                </a:solidFill>
                <a:latin typeface="Open Sauce"/>
                <a:ea typeface="Open Sauce"/>
                <a:cs typeface="Open Sauce"/>
                <a:sym typeface="Open Sauce"/>
              </a:rPr>
              <a:t>High return on invested capital compared to peers.</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9144000" y="2490367"/>
            <a:ext cx="8606436" cy="5899142"/>
            <a:chOff x="0" y="0"/>
            <a:chExt cx="2266716" cy="1553684"/>
          </a:xfrm>
        </p:grpSpPr>
        <p:sp>
          <p:nvSpPr>
            <p:cNvPr name="Freeform 3" id="3"/>
            <p:cNvSpPr/>
            <p:nvPr/>
          </p:nvSpPr>
          <p:spPr>
            <a:xfrm flipH="false" flipV="false" rot="0">
              <a:off x="0" y="0"/>
              <a:ext cx="2266716" cy="1553684"/>
            </a:xfrm>
            <a:custGeom>
              <a:avLst/>
              <a:gdLst/>
              <a:ahLst/>
              <a:cxnLst/>
              <a:rect r="r" b="b" t="t" l="l"/>
              <a:pathLst>
                <a:path h="1553684" w="2266716">
                  <a:moveTo>
                    <a:pt x="31484" y="0"/>
                  </a:moveTo>
                  <a:lnTo>
                    <a:pt x="2235231" y="0"/>
                  </a:lnTo>
                  <a:cubicBezTo>
                    <a:pt x="2243581" y="0"/>
                    <a:pt x="2251590" y="3317"/>
                    <a:pt x="2257494" y="9222"/>
                  </a:cubicBezTo>
                  <a:cubicBezTo>
                    <a:pt x="2263398" y="15126"/>
                    <a:pt x="2266716" y="23134"/>
                    <a:pt x="2266716" y="31484"/>
                  </a:cubicBezTo>
                  <a:lnTo>
                    <a:pt x="2266716" y="1522199"/>
                  </a:lnTo>
                  <a:cubicBezTo>
                    <a:pt x="2266716" y="1530550"/>
                    <a:pt x="2263398" y="1538558"/>
                    <a:pt x="2257494" y="1544462"/>
                  </a:cubicBezTo>
                  <a:cubicBezTo>
                    <a:pt x="2251590" y="1550367"/>
                    <a:pt x="2243581" y="1553684"/>
                    <a:pt x="2235231" y="1553684"/>
                  </a:cubicBezTo>
                  <a:lnTo>
                    <a:pt x="31484" y="1553684"/>
                  </a:lnTo>
                  <a:cubicBezTo>
                    <a:pt x="23134" y="1553684"/>
                    <a:pt x="15126" y="1550367"/>
                    <a:pt x="9222" y="1544462"/>
                  </a:cubicBezTo>
                  <a:cubicBezTo>
                    <a:pt x="3317" y="1538558"/>
                    <a:pt x="0" y="1530550"/>
                    <a:pt x="0" y="1522199"/>
                  </a:cubicBezTo>
                  <a:lnTo>
                    <a:pt x="0" y="31484"/>
                  </a:lnTo>
                  <a:cubicBezTo>
                    <a:pt x="0" y="23134"/>
                    <a:pt x="3317" y="15126"/>
                    <a:pt x="9222" y="9222"/>
                  </a:cubicBezTo>
                  <a:cubicBezTo>
                    <a:pt x="15126" y="3317"/>
                    <a:pt x="23134" y="0"/>
                    <a:pt x="31484" y="0"/>
                  </a:cubicBezTo>
                  <a:close/>
                </a:path>
              </a:pathLst>
            </a:custGeom>
            <a:solidFill>
              <a:srgbClr val="D83030"/>
            </a:solidFill>
            <a:ln w="9525" cap="rnd">
              <a:solidFill>
                <a:srgbClr val="D83030"/>
              </a:solidFill>
              <a:prstDash val="solid"/>
              <a:round/>
            </a:ln>
          </p:spPr>
        </p:sp>
        <p:sp>
          <p:nvSpPr>
            <p:cNvPr name="TextBox 4" id="4"/>
            <p:cNvSpPr txBox="true"/>
            <p:nvPr/>
          </p:nvSpPr>
          <p:spPr>
            <a:xfrm>
              <a:off x="0" y="-19050"/>
              <a:ext cx="2266716" cy="1572734"/>
            </a:xfrm>
            <a:prstGeom prst="rect">
              <a:avLst/>
            </a:prstGeom>
          </p:spPr>
          <p:txBody>
            <a:bodyPr anchor="ctr" rtlCol="false" tIns="50800" lIns="50800" bIns="50800" rIns="50800"/>
            <a:lstStyle/>
            <a:p>
              <a:pPr algn="ctr">
                <a:lnSpc>
                  <a:spcPts val="1820"/>
                </a:lnSpc>
              </a:pPr>
            </a:p>
          </p:txBody>
        </p:sp>
      </p:grpSp>
      <p:sp>
        <p:nvSpPr>
          <p:cNvPr name="TextBox 5" id="5"/>
          <p:cNvSpPr txBox="true"/>
          <p:nvPr/>
        </p:nvSpPr>
        <p:spPr>
          <a:xfrm rot="0">
            <a:off x="2256052" y="3647197"/>
            <a:ext cx="2847937" cy="915405"/>
          </a:xfrm>
          <a:prstGeom prst="rect">
            <a:avLst/>
          </a:prstGeom>
        </p:spPr>
        <p:txBody>
          <a:bodyPr anchor="t" rtlCol="false" tIns="0" lIns="0" bIns="0" rIns="0">
            <a:spAutoFit/>
          </a:bodyPr>
          <a:lstStyle/>
          <a:p>
            <a:pPr algn="l">
              <a:lnSpc>
                <a:spcPts val="1820"/>
              </a:lnSpc>
            </a:pPr>
            <a:r>
              <a:rPr lang="en-US" sz="1400">
                <a:solidFill>
                  <a:srgbClr val="EDEDED"/>
                </a:solidFill>
                <a:latin typeface="Open Sauce"/>
                <a:ea typeface="Open Sauce"/>
                <a:cs typeface="Open Sauce"/>
                <a:sym typeface="Open Sauce"/>
              </a:rPr>
              <a:t>Online tutoring and course creation now attract independent gig educators worldwide.</a:t>
            </a:r>
          </a:p>
        </p:txBody>
      </p:sp>
      <p:grpSp>
        <p:nvGrpSpPr>
          <p:cNvPr name="Group 6" id="6"/>
          <p:cNvGrpSpPr/>
          <p:nvPr/>
        </p:nvGrpSpPr>
        <p:grpSpPr>
          <a:xfrm rot="0">
            <a:off x="-2099555" y="3213439"/>
            <a:ext cx="4587627" cy="5674464"/>
            <a:chOff x="0" y="0"/>
            <a:chExt cx="956297" cy="1182850"/>
          </a:xfrm>
        </p:grpSpPr>
        <p:sp>
          <p:nvSpPr>
            <p:cNvPr name="Freeform 7" id="7"/>
            <p:cNvSpPr/>
            <p:nvPr/>
          </p:nvSpPr>
          <p:spPr>
            <a:xfrm flipH="false" flipV="false" rot="0">
              <a:off x="0" y="0"/>
              <a:ext cx="956297" cy="1182850"/>
            </a:xfrm>
            <a:custGeom>
              <a:avLst/>
              <a:gdLst/>
              <a:ahLst/>
              <a:cxnLst/>
              <a:rect r="r" b="b" t="t" l="l"/>
              <a:pathLst>
                <a:path h="1182850" w="956297">
                  <a:moveTo>
                    <a:pt x="59065" y="0"/>
                  </a:moveTo>
                  <a:lnTo>
                    <a:pt x="897232" y="0"/>
                  </a:lnTo>
                  <a:cubicBezTo>
                    <a:pt x="929853" y="0"/>
                    <a:pt x="956297" y="26444"/>
                    <a:pt x="956297" y="59065"/>
                  </a:cubicBezTo>
                  <a:lnTo>
                    <a:pt x="956297" y="1123785"/>
                  </a:lnTo>
                  <a:cubicBezTo>
                    <a:pt x="956297" y="1139450"/>
                    <a:pt x="950074" y="1154473"/>
                    <a:pt x="938997" y="1165550"/>
                  </a:cubicBezTo>
                  <a:cubicBezTo>
                    <a:pt x="927921" y="1176627"/>
                    <a:pt x="912897" y="1182850"/>
                    <a:pt x="897232" y="1182850"/>
                  </a:cubicBezTo>
                  <a:lnTo>
                    <a:pt x="59065" y="1182850"/>
                  </a:lnTo>
                  <a:cubicBezTo>
                    <a:pt x="43400" y="1182850"/>
                    <a:pt x="28376" y="1176627"/>
                    <a:pt x="17300" y="1165550"/>
                  </a:cubicBezTo>
                  <a:cubicBezTo>
                    <a:pt x="6223" y="1154473"/>
                    <a:pt x="0" y="1139450"/>
                    <a:pt x="0" y="1123785"/>
                  </a:cubicBezTo>
                  <a:lnTo>
                    <a:pt x="0" y="59065"/>
                  </a:lnTo>
                  <a:cubicBezTo>
                    <a:pt x="0" y="43400"/>
                    <a:pt x="6223" y="28376"/>
                    <a:pt x="17300" y="17300"/>
                  </a:cubicBezTo>
                  <a:cubicBezTo>
                    <a:pt x="28376" y="6223"/>
                    <a:pt x="43400" y="0"/>
                    <a:pt x="59065" y="0"/>
                  </a:cubicBezTo>
                  <a:close/>
                </a:path>
              </a:pathLst>
            </a:custGeom>
            <a:blipFill>
              <a:blip r:embed="rId3"/>
              <a:stretch>
                <a:fillRect l="-43351" t="0" r="-43351" b="0"/>
              </a:stretch>
            </a:blipFill>
          </p:spPr>
        </p:sp>
      </p:grpSp>
      <p:grpSp>
        <p:nvGrpSpPr>
          <p:cNvPr name="Group 8" id="8"/>
          <p:cNvGrpSpPr/>
          <p:nvPr/>
        </p:nvGrpSpPr>
        <p:grpSpPr>
          <a:xfrm rot="0">
            <a:off x="2002056" y="2490367"/>
            <a:ext cx="6547404" cy="7120609"/>
            <a:chOff x="0" y="0"/>
            <a:chExt cx="1724419" cy="1875387"/>
          </a:xfrm>
        </p:grpSpPr>
        <p:sp>
          <p:nvSpPr>
            <p:cNvPr name="Freeform 9" id="9"/>
            <p:cNvSpPr/>
            <p:nvPr/>
          </p:nvSpPr>
          <p:spPr>
            <a:xfrm flipH="false" flipV="false" rot="0">
              <a:off x="0" y="0"/>
              <a:ext cx="1724419" cy="1875387"/>
            </a:xfrm>
            <a:custGeom>
              <a:avLst/>
              <a:gdLst/>
              <a:ahLst/>
              <a:cxnLst/>
              <a:rect r="r" b="b" t="t" l="l"/>
              <a:pathLst>
                <a:path h="1875387" w="1724419">
                  <a:moveTo>
                    <a:pt x="41385" y="0"/>
                  </a:moveTo>
                  <a:lnTo>
                    <a:pt x="1683034" y="0"/>
                  </a:lnTo>
                  <a:cubicBezTo>
                    <a:pt x="1705890" y="0"/>
                    <a:pt x="1724419" y="18529"/>
                    <a:pt x="1724419" y="41385"/>
                  </a:cubicBezTo>
                  <a:lnTo>
                    <a:pt x="1724419" y="1834001"/>
                  </a:lnTo>
                  <a:cubicBezTo>
                    <a:pt x="1724419" y="1856858"/>
                    <a:pt x="1705890" y="1875387"/>
                    <a:pt x="1683034" y="1875387"/>
                  </a:cubicBezTo>
                  <a:lnTo>
                    <a:pt x="41385" y="1875387"/>
                  </a:lnTo>
                  <a:cubicBezTo>
                    <a:pt x="18529" y="1875387"/>
                    <a:pt x="0" y="1856858"/>
                    <a:pt x="0" y="1834001"/>
                  </a:cubicBezTo>
                  <a:lnTo>
                    <a:pt x="0" y="41385"/>
                  </a:lnTo>
                  <a:cubicBezTo>
                    <a:pt x="0" y="18529"/>
                    <a:pt x="18529" y="0"/>
                    <a:pt x="41385" y="0"/>
                  </a:cubicBezTo>
                  <a:close/>
                </a:path>
              </a:pathLst>
            </a:custGeom>
            <a:solidFill>
              <a:srgbClr val="EDEDED"/>
            </a:solidFill>
            <a:ln w="9525" cap="rnd">
              <a:solidFill>
                <a:srgbClr val="D83030"/>
              </a:solidFill>
              <a:prstDash val="solid"/>
              <a:round/>
            </a:ln>
          </p:spPr>
        </p:sp>
        <p:sp>
          <p:nvSpPr>
            <p:cNvPr name="TextBox 10" id="10"/>
            <p:cNvSpPr txBox="true"/>
            <p:nvPr/>
          </p:nvSpPr>
          <p:spPr>
            <a:xfrm>
              <a:off x="0" y="-19050"/>
              <a:ext cx="1724419" cy="1894437"/>
            </a:xfrm>
            <a:prstGeom prst="rect">
              <a:avLst/>
            </a:prstGeom>
          </p:spPr>
          <p:txBody>
            <a:bodyPr anchor="ctr" rtlCol="false" tIns="50800" lIns="50800" bIns="50800" rIns="50800"/>
            <a:lstStyle/>
            <a:p>
              <a:pPr algn="ctr">
                <a:lnSpc>
                  <a:spcPts val="1820"/>
                </a:lnSpc>
              </a:pPr>
            </a:p>
          </p:txBody>
        </p:sp>
      </p:grpSp>
      <p:sp>
        <p:nvSpPr>
          <p:cNvPr name="Freeform 11" id="11"/>
          <p:cNvSpPr/>
          <p:nvPr/>
        </p:nvSpPr>
        <p:spPr>
          <a:xfrm flipH="false" flipV="false" rot="0">
            <a:off x="9378612" y="3213439"/>
            <a:ext cx="8137211" cy="4353408"/>
          </a:xfrm>
          <a:custGeom>
            <a:avLst/>
            <a:gdLst/>
            <a:ahLst/>
            <a:cxnLst/>
            <a:rect r="r" b="b" t="t" l="l"/>
            <a:pathLst>
              <a:path h="4353408" w="8137211">
                <a:moveTo>
                  <a:pt x="0" y="0"/>
                </a:moveTo>
                <a:lnTo>
                  <a:pt x="8137211" y="0"/>
                </a:lnTo>
                <a:lnTo>
                  <a:pt x="8137211" y="4353408"/>
                </a:lnTo>
                <a:lnTo>
                  <a:pt x="0" y="4353408"/>
                </a:lnTo>
                <a:lnTo>
                  <a:pt x="0" y="0"/>
                </a:lnTo>
                <a:close/>
              </a:path>
            </a:pathLst>
          </a:custGeom>
          <a:blipFill>
            <a:blip r:embed="rId4"/>
            <a:stretch>
              <a:fillRect l="0" t="0" r="0" b="0"/>
            </a:stretch>
          </a:blipFill>
        </p:spPr>
      </p:sp>
      <p:grpSp>
        <p:nvGrpSpPr>
          <p:cNvPr name="Group 12" id="12"/>
          <p:cNvGrpSpPr/>
          <p:nvPr/>
        </p:nvGrpSpPr>
        <p:grpSpPr>
          <a:xfrm rot="0">
            <a:off x="12229199" y="7681147"/>
            <a:ext cx="2436038" cy="2436038"/>
            <a:chOff x="0" y="0"/>
            <a:chExt cx="6350000" cy="6350000"/>
          </a:xfrm>
        </p:grpSpPr>
        <p:sp>
          <p:nvSpPr>
            <p:cNvPr name="Freeform 13" id="13"/>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5"/>
              <a:stretch>
                <a:fillRect l="-38888" t="0" r="-38888" b="0"/>
              </a:stretch>
            </a:blipFill>
          </p:spPr>
        </p:sp>
      </p:grpSp>
      <p:sp>
        <p:nvSpPr>
          <p:cNvPr name="TextBox 14" id="14"/>
          <p:cNvSpPr txBox="true"/>
          <p:nvPr/>
        </p:nvSpPr>
        <p:spPr>
          <a:xfrm rot="0">
            <a:off x="754519" y="341296"/>
            <a:ext cx="17212871" cy="1581150"/>
          </a:xfrm>
          <a:prstGeom prst="rect">
            <a:avLst/>
          </a:prstGeom>
        </p:spPr>
        <p:txBody>
          <a:bodyPr anchor="t" rtlCol="false" tIns="0" lIns="0" bIns="0" rIns="0">
            <a:spAutoFit/>
          </a:bodyPr>
          <a:lstStyle/>
          <a:p>
            <a:pPr algn="ctr">
              <a:lnSpc>
                <a:spcPts val="6720"/>
              </a:lnSpc>
            </a:pPr>
            <a:r>
              <a:rPr lang="en-US" b="true" sz="5600" spc="-397">
                <a:solidFill>
                  <a:srgbClr val="000000"/>
                </a:solidFill>
                <a:latin typeface="Open Sauce Medium"/>
                <a:ea typeface="Open Sauce Medium"/>
                <a:cs typeface="Open Sauce Medium"/>
                <a:sym typeface="Open Sauce Medium"/>
              </a:rPr>
              <a:t>Module 3 </a:t>
            </a:r>
          </a:p>
          <a:p>
            <a:pPr algn="ctr">
              <a:lnSpc>
                <a:spcPts val="5759"/>
              </a:lnSpc>
            </a:pPr>
            <a:r>
              <a:rPr lang="en-US" b="true" sz="4800" spc="-340">
                <a:solidFill>
                  <a:srgbClr val="D83030"/>
                </a:solidFill>
                <a:latin typeface="Open Sauce Medium"/>
                <a:ea typeface="Open Sauce Medium"/>
                <a:cs typeface="Open Sauce Medium"/>
                <a:sym typeface="Open Sauce Medium"/>
              </a:rPr>
              <a:t>Chipotle's Digital Leap: Speed, Satisfaction, Success </a:t>
            </a:r>
          </a:p>
        </p:txBody>
      </p:sp>
      <p:sp>
        <p:nvSpPr>
          <p:cNvPr name="TextBox 15" id="15"/>
          <p:cNvSpPr txBox="true"/>
          <p:nvPr/>
        </p:nvSpPr>
        <p:spPr>
          <a:xfrm rot="0">
            <a:off x="14411363" y="2017696"/>
            <a:ext cx="2847937" cy="229804"/>
          </a:xfrm>
          <a:prstGeom prst="rect">
            <a:avLst/>
          </a:prstGeom>
        </p:spPr>
        <p:txBody>
          <a:bodyPr anchor="t" rtlCol="false" tIns="0" lIns="0" bIns="0" rIns="0">
            <a:spAutoFit/>
          </a:bodyPr>
          <a:lstStyle/>
          <a:p>
            <a:pPr algn="l">
              <a:lnSpc>
                <a:spcPts val="1820"/>
              </a:lnSpc>
            </a:pPr>
            <a:r>
              <a:rPr lang="en-US" sz="1400" b="true">
                <a:solidFill>
                  <a:srgbClr val="EDEDED"/>
                </a:solidFill>
                <a:latin typeface="Open Sauce Bold"/>
                <a:ea typeface="Open Sauce Bold"/>
                <a:cs typeface="Open Sauce Bold"/>
                <a:sym typeface="Open Sauce Bold"/>
              </a:rPr>
              <a:t>Transportation</a:t>
            </a:r>
          </a:p>
        </p:txBody>
      </p:sp>
      <p:sp>
        <p:nvSpPr>
          <p:cNvPr name="TextBox 16" id="16"/>
          <p:cNvSpPr txBox="true"/>
          <p:nvPr/>
        </p:nvSpPr>
        <p:spPr>
          <a:xfrm rot="0">
            <a:off x="2507157" y="3231267"/>
            <a:ext cx="5537201" cy="5768975"/>
          </a:xfrm>
          <a:prstGeom prst="rect">
            <a:avLst/>
          </a:prstGeom>
        </p:spPr>
        <p:txBody>
          <a:bodyPr anchor="t" rtlCol="false" tIns="0" lIns="0" bIns="0" rIns="0">
            <a:spAutoFit/>
          </a:bodyPr>
          <a:lstStyle/>
          <a:p>
            <a:pPr algn="l">
              <a:lnSpc>
                <a:spcPts val="3319"/>
              </a:lnSpc>
            </a:pPr>
            <a:r>
              <a:rPr lang="en-US" sz="1999" b="true">
                <a:solidFill>
                  <a:srgbClr val="1E2031"/>
                </a:solidFill>
                <a:latin typeface="Open Sauce Bold"/>
                <a:ea typeface="Open Sauce Bold"/>
                <a:cs typeface="Open Sauce Bold"/>
                <a:sym typeface="Open Sauce Bold"/>
              </a:rPr>
              <a:t>Over 50% of sales from digital platforms (since 2021)</a:t>
            </a:r>
          </a:p>
          <a:p>
            <a:pPr algn="l">
              <a:lnSpc>
                <a:spcPts val="3319"/>
              </a:lnSpc>
            </a:pPr>
          </a:p>
          <a:p>
            <a:pPr algn="l">
              <a:lnSpc>
                <a:spcPts val="3319"/>
              </a:lnSpc>
            </a:pPr>
            <a:r>
              <a:rPr lang="en-US" sz="1999" b="true">
                <a:solidFill>
                  <a:srgbClr val="1E2031"/>
                </a:solidFill>
                <a:latin typeface="Open Sauce Bold"/>
                <a:ea typeface="Open Sauce Bold"/>
                <a:cs typeface="Open Sauce Bold"/>
                <a:sym typeface="Open Sauce Bold"/>
              </a:rPr>
              <a:t>Smarter Pickup Times cut wait by 50%</a:t>
            </a:r>
          </a:p>
          <a:p>
            <a:pPr algn="l">
              <a:lnSpc>
                <a:spcPts val="3319"/>
              </a:lnSpc>
            </a:pPr>
          </a:p>
          <a:p>
            <a:pPr algn="l">
              <a:lnSpc>
                <a:spcPts val="3319"/>
              </a:lnSpc>
            </a:pPr>
            <a:r>
              <a:rPr lang="en-US" sz="1999" b="true">
                <a:solidFill>
                  <a:srgbClr val="1E2031"/>
                </a:solidFill>
                <a:latin typeface="Open Sauce Bold"/>
                <a:ea typeface="Open Sauce Bold"/>
                <a:cs typeface="Open Sauce Bold"/>
                <a:sym typeface="Open Sauce Bold"/>
              </a:rPr>
              <a:t>Chipotlanes = frictionless drive-thru for app users</a:t>
            </a:r>
          </a:p>
          <a:p>
            <a:pPr algn="l">
              <a:lnSpc>
                <a:spcPts val="3319"/>
              </a:lnSpc>
            </a:pPr>
          </a:p>
          <a:p>
            <a:pPr algn="l">
              <a:lnSpc>
                <a:spcPts val="3319"/>
              </a:lnSpc>
            </a:pPr>
            <a:r>
              <a:rPr lang="en-US" sz="1999" b="true">
                <a:solidFill>
                  <a:srgbClr val="1E2031"/>
                </a:solidFill>
                <a:latin typeface="Open Sauce Bold"/>
                <a:ea typeface="Open Sauce Bold"/>
                <a:cs typeface="Open Sauce Bold"/>
                <a:sym typeface="Open Sauce Bold"/>
              </a:rPr>
              <a:t>Automation in digital kitchens boosts speed + efficiency</a:t>
            </a:r>
          </a:p>
          <a:p>
            <a:pPr algn="l">
              <a:lnSpc>
                <a:spcPts val="3319"/>
              </a:lnSpc>
            </a:pPr>
          </a:p>
          <a:p>
            <a:pPr algn="l">
              <a:lnSpc>
                <a:spcPts val="3319"/>
              </a:lnSpc>
            </a:pPr>
            <a:r>
              <a:rPr lang="en-US" sz="1999" b="true">
                <a:solidFill>
                  <a:srgbClr val="1E2031"/>
                </a:solidFill>
                <a:latin typeface="Open Sauce Bold"/>
                <a:ea typeface="Open Sauce Bold"/>
                <a:cs typeface="Open Sauce Bold"/>
                <a:sym typeface="Open Sauce Bold"/>
              </a:rPr>
              <a:t>Result: Convenience &gt; price → inelastic demand</a:t>
            </a:r>
          </a:p>
          <a:p>
            <a:pPr algn="l">
              <a:lnSpc>
                <a:spcPts val="2339"/>
              </a:lnSpc>
            </a:pPr>
          </a:p>
        </p:txBody>
      </p:sp>
      <p:sp>
        <p:nvSpPr>
          <p:cNvPr name="TextBox 17" id="17"/>
          <p:cNvSpPr txBox="true"/>
          <p:nvPr/>
        </p:nvSpPr>
        <p:spPr>
          <a:xfrm rot="0">
            <a:off x="14411363" y="9887315"/>
            <a:ext cx="1167854" cy="229870"/>
          </a:xfrm>
          <a:prstGeom prst="rect">
            <a:avLst/>
          </a:prstGeom>
        </p:spPr>
        <p:txBody>
          <a:bodyPr anchor="t" rtlCol="false" tIns="0" lIns="0" bIns="0" rIns="0">
            <a:spAutoFit/>
          </a:bodyPr>
          <a:lstStyle/>
          <a:p>
            <a:pPr algn="ctr">
              <a:lnSpc>
                <a:spcPts val="1820"/>
              </a:lnSpc>
              <a:spcBef>
                <a:spcPct val="0"/>
              </a:spcBef>
            </a:pPr>
            <a:r>
              <a:rPr lang="en-US" sz="1400">
                <a:solidFill>
                  <a:srgbClr val="D83030"/>
                </a:solidFill>
                <a:latin typeface="Open Sauce"/>
                <a:ea typeface="Open Sauce"/>
                <a:cs typeface="Open Sauce"/>
                <a:sym typeface="Open Sauce"/>
              </a:rPr>
              <a:t>Syrga Ibraeva</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9144000" y="3101100"/>
            <a:ext cx="8606436" cy="5899142"/>
            <a:chOff x="0" y="0"/>
            <a:chExt cx="2266716" cy="1553684"/>
          </a:xfrm>
        </p:grpSpPr>
        <p:sp>
          <p:nvSpPr>
            <p:cNvPr name="Freeform 3" id="3"/>
            <p:cNvSpPr/>
            <p:nvPr/>
          </p:nvSpPr>
          <p:spPr>
            <a:xfrm flipH="false" flipV="false" rot="0">
              <a:off x="0" y="0"/>
              <a:ext cx="2266716" cy="1553684"/>
            </a:xfrm>
            <a:custGeom>
              <a:avLst/>
              <a:gdLst/>
              <a:ahLst/>
              <a:cxnLst/>
              <a:rect r="r" b="b" t="t" l="l"/>
              <a:pathLst>
                <a:path h="1553684" w="2266716">
                  <a:moveTo>
                    <a:pt x="31484" y="0"/>
                  </a:moveTo>
                  <a:lnTo>
                    <a:pt x="2235231" y="0"/>
                  </a:lnTo>
                  <a:cubicBezTo>
                    <a:pt x="2243581" y="0"/>
                    <a:pt x="2251590" y="3317"/>
                    <a:pt x="2257494" y="9222"/>
                  </a:cubicBezTo>
                  <a:cubicBezTo>
                    <a:pt x="2263398" y="15126"/>
                    <a:pt x="2266716" y="23134"/>
                    <a:pt x="2266716" y="31484"/>
                  </a:cubicBezTo>
                  <a:lnTo>
                    <a:pt x="2266716" y="1522199"/>
                  </a:lnTo>
                  <a:cubicBezTo>
                    <a:pt x="2266716" y="1530550"/>
                    <a:pt x="2263398" y="1538558"/>
                    <a:pt x="2257494" y="1544462"/>
                  </a:cubicBezTo>
                  <a:cubicBezTo>
                    <a:pt x="2251590" y="1550367"/>
                    <a:pt x="2243581" y="1553684"/>
                    <a:pt x="2235231" y="1553684"/>
                  </a:cubicBezTo>
                  <a:lnTo>
                    <a:pt x="31484" y="1553684"/>
                  </a:lnTo>
                  <a:cubicBezTo>
                    <a:pt x="23134" y="1553684"/>
                    <a:pt x="15126" y="1550367"/>
                    <a:pt x="9222" y="1544462"/>
                  </a:cubicBezTo>
                  <a:cubicBezTo>
                    <a:pt x="3317" y="1538558"/>
                    <a:pt x="0" y="1530550"/>
                    <a:pt x="0" y="1522199"/>
                  </a:cubicBezTo>
                  <a:lnTo>
                    <a:pt x="0" y="31484"/>
                  </a:lnTo>
                  <a:cubicBezTo>
                    <a:pt x="0" y="23134"/>
                    <a:pt x="3317" y="15126"/>
                    <a:pt x="9222" y="9222"/>
                  </a:cubicBezTo>
                  <a:cubicBezTo>
                    <a:pt x="15126" y="3317"/>
                    <a:pt x="23134" y="0"/>
                    <a:pt x="31484" y="0"/>
                  </a:cubicBezTo>
                  <a:close/>
                </a:path>
              </a:pathLst>
            </a:custGeom>
            <a:solidFill>
              <a:srgbClr val="D83030"/>
            </a:solidFill>
            <a:ln w="9525" cap="rnd">
              <a:solidFill>
                <a:srgbClr val="D83030"/>
              </a:solidFill>
              <a:prstDash val="solid"/>
              <a:round/>
            </a:ln>
          </p:spPr>
        </p:sp>
        <p:sp>
          <p:nvSpPr>
            <p:cNvPr name="TextBox 4" id="4"/>
            <p:cNvSpPr txBox="true"/>
            <p:nvPr/>
          </p:nvSpPr>
          <p:spPr>
            <a:xfrm>
              <a:off x="0" y="-19050"/>
              <a:ext cx="2266716" cy="1572734"/>
            </a:xfrm>
            <a:prstGeom prst="rect">
              <a:avLst/>
            </a:prstGeom>
          </p:spPr>
          <p:txBody>
            <a:bodyPr anchor="ctr" rtlCol="false" tIns="50800" lIns="50800" bIns="50800" rIns="50800"/>
            <a:lstStyle/>
            <a:p>
              <a:pPr algn="ctr">
                <a:lnSpc>
                  <a:spcPts val="1820"/>
                </a:lnSpc>
              </a:pPr>
            </a:p>
          </p:txBody>
        </p:sp>
      </p:grpSp>
      <p:sp>
        <p:nvSpPr>
          <p:cNvPr name="TextBox 5" id="5"/>
          <p:cNvSpPr txBox="true"/>
          <p:nvPr/>
        </p:nvSpPr>
        <p:spPr>
          <a:xfrm rot="0">
            <a:off x="2256052" y="3647197"/>
            <a:ext cx="2847937" cy="915405"/>
          </a:xfrm>
          <a:prstGeom prst="rect">
            <a:avLst/>
          </a:prstGeom>
        </p:spPr>
        <p:txBody>
          <a:bodyPr anchor="t" rtlCol="false" tIns="0" lIns="0" bIns="0" rIns="0">
            <a:spAutoFit/>
          </a:bodyPr>
          <a:lstStyle/>
          <a:p>
            <a:pPr algn="l">
              <a:lnSpc>
                <a:spcPts val="1820"/>
              </a:lnSpc>
            </a:pPr>
            <a:r>
              <a:rPr lang="en-US" sz="1400">
                <a:solidFill>
                  <a:srgbClr val="EDEDED"/>
                </a:solidFill>
                <a:latin typeface="Open Sauce"/>
                <a:ea typeface="Open Sauce"/>
                <a:cs typeface="Open Sauce"/>
                <a:sym typeface="Open Sauce"/>
              </a:rPr>
              <a:t>Online tutoring and course creation now attract independent gig educators worldwide.</a:t>
            </a:r>
          </a:p>
        </p:txBody>
      </p:sp>
      <p:grpSp>
        <p:nvGrpSpPr>
          <p:cNvPr name="Group 6" id="6"/>
          <p:cNvGrpSpPr/>
          <p:nvPr/>
        </p:nvGrpSpPr>
        <p:grpSpPr>
          <a:xfrm rot="0">
            <a:off x="1028700" y="2490367"/>
            <a:ext cx="7348991" cy="7120609"/>
            <a:chOff x="0" y="0"/>
            <a:chExt cx="1935537" cy="1875387"/>
          </a:xfrm>
        </p:grpSpPr>
        <p:sp>
          <p:nvSpPr>
            <p:cNvPr name="Freeform 7" id="7"/>
            <p:cNvSpPr/>
            <p:nvPr/>
          </p:nvSpPr>
          <p:spPr>
            <a:xfrm flipH="false" flipV="false" rot="0">
              <a:off x="0" y="0"/>
              <a:ext cx="1935537" cy="1875387"/>
            </a:xfrm>
            <a:custGeom>
              <a:avLst/>
              <a:gdLst/>
              <a:ahLst/>
              <a:cxnLst/>
              <a:rect r="r" b="b" t="t" l="l"/>
              <a:pathLst>
                <a:path h="1875387" w="1935537">
                  <a:moveTo>
                    <a:pt x="36871" y="0"/>
                  </a:moveTo>
                  <a:lnTo>
                    <a:pt x="1898665" y="0"/>
                  </a:lnTo>
                  <a:cubicBezTo>
                    <a:pt x="1919029" y="0"/>
                    <a:pt x="1935537" y="16508"/>
                    <a:pt x="1935537" y="36871"/>
                  </a:cubicBezTo>
                  <a:lnTo>
                    <a:pt x="1935537" y="1838515"/>
                  </a:lnTo>
                  <a:cubicBezTo>
                    <a:pt x="1935537" y="1858879"/>
                    <a:pt x="1919029" y="1875387"/>
                    <a:pt x="1898665" y="1875387"/>
                  </a:cubicBezTo>
                  <a:lnTo>
                    <a:pt x="36871" y="1875387"/>
                  </a:lnTo>
                  <a:cubicBezTo>
                    <a:pt x="16508" y="1875387"/>
                    <a:pt x="0" y="1858879"/>
                    <a:pt x="0" y="1838515"/>
                  </a:cubicBezTo>
                  <a:lnTo>
                    <a:pt x="0" y="36871"/>
                  </a:lnTo>
                  <a:cubicBezTo>
                    <a:pt x="0" y="16508"/>
                    <a:pt x="16508" y="0"/>
                    <a:pt x="36871" y="0"/>
                  </a:cubicBezTo>
                  <a:close/>
                </a:path>
              </a:pathLst>
            </a:custGeom>
            <a:solidFill>
              <a:srgbClr val="EDEDED"/>
            </a:solidFill>
            <a:ln w="9525" cap="rnd">
              <a:solidFill>
                <a:srgbClr val="D83030"/>
              </a:solidFill>
              <a:prstDash val="solid"/>
              <a:round/>
            </a:ln>
          </p:spPr>
        </p:sp>
        <p:sp>
          <p:nvSpPr>
            <p:cNvPr name="TextBox 8" id="8"/>
            <p:cNvSpPr txBox="true"/>
            <p:nvPr/>
          </p:nvSpPr>
          <p:spPr>
            <a:xfrm>
              <a:off x="0" y="-19050"/>
              <a:ext cx="1935537" cy="1894437"/>
            </a:xfrm>
            <a:prstGeom prst="rect">
              <a:avLst/>
            </a:prstGeom>
          </p:spPr>
          <p:txBody>
            <a:bodyPr anchor="ctr" rtlCol="false" tIns="50800" lIns="50800" bIns="50800" rIns="50800"/>
            <a:lstStyle/>
            <a:p>
              <a:pPr algn="ctr">
                <a:lnSpc>
                  <a:spcPts val="1820"/>
                </a:lnSpc>
              </a:pPr>
            </a:p>
          </p:txBody>
        </p:sp>
      </p:grpSp>
      <p:sp>
        <p:nvSpPr>
          <p:cNvPr name="Freeform 9" id="9"/>
          <p:cNvSpPr/>
          <p:nvPr/>
        </p:nvSpPr>
        <p:spPr>
          <a:xfrm flipH="false" flipV="false" rot="0">
            <a:off x="8760151" y="2729106"/>
            <a:ext cx="8990284" cy="6529194"/>
          </a:xfrm>
          <a:custGeom>
            <a:avLst/>
            <a:gdLst/>
            <a:ahLst/>
            <a:cxnLst/>
            <a:rect r="r" b="b" t="t" l="l"/>
            <a:pathLst>
              <a:path h="6529194" w="8990284">
                <a:moveTo>
                  <a:pt x="0" y="0"/>
                </a:moveTo>
                <a:lnTo>
                  <a:pt x="8990285" y="0"/>
                </a:lnTo>
                <a:lnTo>
                  <a:pt x="8990285" y="6529194"/>
                </a:lnTo>
                <a:lnTo>
                  <a:pt x="0" y="6529194"/>
                </a:lnTo>
                <a:lnTo>
                  <a:pt x="0" y="0"/>
                </a:lnTo>
                <a:close/>
              </a:path>
            </a:pathLst>
          </a:custGeom>
          <a:blipFill>
            <a:blip r:embed="rId3"/>
            <a:stretch>
              <a:fillRect l="0" t="0" r="0" b="0"/>
            </a:stretch>
          </a:blipFill>
        </p:spPr>
      </p:sp>
      <p:sp>
        <p:nvSpPr>
          <p:cNvPr name="Freeform 10" id="10"/>
          <p:cNvSpPr/>
          <p:nvPr/>
        </p:nvSpPr>
        <p:spPr>
          <a:xfrm flipH="false" flipV="false" rot="0">
            <a:off x="6870802" y="3101100"/>
            <a:ext cx="1345424" cy="756801"/>
          </a:xfrm>
          <a:custGeom>
            <a:avLst/>
            <a:gdLst/>
            <a:ahLst/>
            <a:cxnLst/>
            <a:rect r="r" b="b" t="t" l="l"/>
            <a:pathLst>
              <a:path h="756801" w="1345424">
                <a:moveTo>
                  <a:pt x="0" y="0"/>
                </a:moveTo>
                <a:lnTo>
                  <a:pt x="1345424" y="0"/>
                </a:lnTo>
                <a:lnTo>
                  <a:pt x="1345424" y="756801"/>
                </a:lnTo>
                <a:lnTo>
                  <a:pt x="0" y="756801"/>
                </a:lnTo>
                <a:lnTo>
                  <a:pt x="0" y="0"/>
                </a:lnTo>
                <a:close/>
              </a:path>
            </a:pathLst>
          </a:custGeom>
          <a:blipFill>
            <a:blip r:embed="rId4"/>
            <a:stretch>
              <a:fillRect l="0" t="0" r="0" b="0"/>
            </a:stretch>
          </a:blipFill>
        </p:spPr>
      </p:sp>
      <p:sp>
        <p:nvSpPr>
          <p:cNvPr name="Freeform 11" id="11"/>
          <p:cNvSpPr/>
          <p:nvPr/>
        </p:nvSpPr>
        <p:spPr>
          <a:xfrm flipH="false" flipV="false" rot="0">
            <a:off x="6101134" y="3982557"/>
            <a:ext cx="1539336" cy="865877"/>
          </a:xfrm>
          <a:custGeom>
            <a:avLst/>
            <a:gdLst/>
            <a:ahLst/>
            <a:cxnLst/>
            <a:rect r="r" b="b" t="t" l="l"/>
            <a:pathLst>
              <a:path h="865877" w="1539336">
                <a:moveTo>
                  <a:pt x="0" y="0"/>
                </a:moveTo>
                <a:lnTo>
                  <a:pt x="1539336" y="0"/>
                </a:lnTo>
                <a:lnTo>
                  <a:pt x="1539336" y="865877"/>
                </a:lnTo>
                <a:lnTo>
                  <a:pt x="0" y="865877"/>
                </a:lnTo>
                <a:lnTo>
                  <a:pt x="0" y="0"/>
                </a:lnTo>
                <a:close/>
              </a:path>
            </a:pathLst>
          </a:custGeom>
          <a:blipFill>
            <a:blip r:embed="rId5"/>
            <a:stretch>
              <a:fillRect l="0" t="0" r="0" b="0"/>
            </a:stretch>
          </a:blipFill>
        </p:spPr>
      </p:sp>
      <p:sp>
        <p:nvSpPr>
          <p:cNvPr name="Freeform 12" id="12"/>
          <p:cNvSpPr/>
          <p:nvPr/>
        </p:nvSpPr>
        <p:spPr>
          <a:xfrm flipH="false" flipV="false" rot="0">
            <a:off x="5316832" y="5517357"/>
            <a:ext cx="2323638" cy="476346"/>
          </a:xfrm>
          <a:custGeom>
            <a:avLst/>
            <a:gdLst/>
            <a:ahLst/>
            <a:cxnLst/>
            <a:rect r="r" b="b" t="t" l="l"/>
            <a:pathLst>
              <a:path h="476346" w="2323638">
                <a:moveTo>
                  <a:pt x="0" y="0"/>
                </a:moveTo>
                <a:lnTo>
                  <a:pt x="2323638" y="0"/>
                </a:lnTo>
                <a:lnTo>
                  <a:pt x="2323638" y="476346"/>
                </a:lnTo>
                <a:lnTo>
                  <a:pt x="0" y="476346"/>
                </a:lnTo>
                <a:lnTo>
                  <a:pt x="0" y="0"/>
                </a:lnTo>
                <a:close/>
              </a:path>
            </a:pathLst>
          </a:custGeom>
          <a:blipFill>
            <a:blip r:embed="rId6"/>
            <a:stretch>
              <a:fillRect l="0" t="0" r="0" b="0"/>
            </a:stretch>
          </a:blipFill>
        </p:spPr>
      </p:sp>
      <p:sp>
        <p:nvSpPr>
          <p:cNvPr name="Freeform 13" id="13"/>
          <p:cNvSpPr/>
          <p:nvPr/>
        </p:nvSpPr>
        <p:spPr>
          <a:xfrm flipH="false" flipV="false" rot="0">
            <a:off x="6967758" y="6346938"/>
            <a:ext cx="1051214" cy="1051214"/>
          </a:xfrm>
          <a:custGeom>
            <a:avLst/>
            <a:gdLst/>
            <a:ahLst/>
            <a:cxnLst/>
            <a:rect r="r" b="b" t="t" l="l"/>
            <a:pathLst>
              <a:path h="1051214" w="1051214">
                <a:moveTo>
                  <a:pt x="0" y="0"/>
                </a:moveTo>
                <a:lnTo>
                  <a:pt x="1051213" y="0"/>
                </a:lnTo>
                <a:lnTo>
                  <a:pt x="1051213" y="1051214"/>
                </a:lnTo>
                <a:lnTo>
                  <a:pt x="0" y="1051214"/>
                </a:lnTo>
                <a:lnTo>
                  <a:pt x="0" y="0"/>
                </a:lnTo>
                <a:close/>
              </a:path>
            </a:pathLst>
          </a:custGeom>
          <a:blipFill>
            <a:blip r:embed="rId7"/>
            <a:stretch>
              <a:fillRect l="0" t="0" r="0" b="0"/>
            </a:stretch>
          </a:blipFill>
        </p:spPr>
      </p:sp>
      <p:grpSp>
        <p:nvGrpSpPr>
          <p:cNvPr name="Group 14" id="14"/>
          <p:cNvGrpSpPr/>
          <p:nvPr/>
        </p:nvGrpSpPr>
        <p:grpSpPr>
          <a:xfrm rot="0">
            <a:off x="15477023" y="152855"/>
            <a:ext cx="2576251" cy="2576251"/>
            <a:chOff x="0" y="0"/>
            <a:chExt cx="6350000" cy="6350000"/>
          </a:xfrm>
        </p:grpSpPr>
        <p:sp>
          <p:nvSpPr>
            <p:cNvPr name="Freeform 15" id="15"/>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8"/>
              <a:stretch>
                <a:fillRect l="-38888" t="0" r="-38888" b="0"/>
              </a:stretch>
            </a:blipFill>
          </p:spPr>
        </p:sp>
      </p:grpSp>
      <p:sp>
        <p:nvSpPr>
          <p:cNvPr name="TextBox 16" id="16"/>
          <p:cNvSpPr txBox="true"/>
          <p:nvPr/>
        </p:nvSpPr>
        <p:spPr>
          <a:xfrm rot="0">
            <a:off x="754519" y="341296"/>
            <a:ext cx="17212871" cy="1581150"/>
          </a:xfrm>
          <a:prstGeom prst="rect">
            <a:avLst/>
          </a:prstGeom>
        </p:spPr>
        <p:txBody>
          <a:bodyPr anchor="t" rtlCol="false" tIns="0" lIns="0" bIns="0" rIns="0">
            <a:spAutoFit/>
          </a:bodyPr>
          <a:lstStyle/>
          <a:p>
            <a:pPr algn="ctr">
              <a:lnSpc>
                <a:spcPts val="6720"/>
              </a:lnSpc>
            </a:pPr>
            <a:r>
              <a:rPr lang="en-US" b="true" sz="5600" spc="-397">
                <a:solidFill>
                  <a:srgbClr val="000000"/>
                </a:solidFill>
                <a:latin typeface="Open Sauce Medium"/>
                <a:ea typeface="Open Sauce Medium"/>
                <a:cs typeface="Open Sauce Medium"/>
                <a:sym typeface="Open Sauce Medium"/>
              </a:rPr>
              <a:t>Module 3 </a:t>
            </a:r>
          </a:p>
          <a:p>
            <a:pPr algn="ctr">
              <a:lnSpc>
                <a:spcPts val="5759"/>
              </a:lnSpc>
            </a:pPr>
            <a:r>
              <a:rPr lang="en-US" b="true" sz="4800" spc="-340">
                <a:solidFill>
                  <a:srgbClr val="D83030"/>
                </a:solidFill>
                <a:latin typeface="Open Sauce Medium"/>
                <a:ea typeface="Open Sauce Medium"/>
                <a:cs typeface="Open Sauce Medium"/>
                <a:sym typeface="Open Sauce Medium"/>
              </a:rPr>
              <a:t>Beating Substitutes Through Smart Integration</a:t>
            </a:r>
            <a:r>
              <a:rPr lang="en-US" b="true" sz="4800" spc="-340">
                <a:solidFill>
                  <a:srgbClr val="D83030"/>
                </a:solidFill>
                <a:latin typeface="Open Sauce Medium"/>
                <a:ea typeface="Open Sauce Medium"/>
                <a:cs typeface="Open Sauce Medium"/>
                <a:sym typeface="Open Sauce Medium"/>
              </a:rPr>
              <a:t> </a:t>
            </a:r>
          </a:p>
        </p:txBody>
      </p:sp>
      <p:sp>
        <p:nvSpPr>
          <p:cNvPr name="TextBox 17" id="17"/>
          <p:cNvSpPr txBox="true"/>
          <p:nvPr/>
        </p:nvSpPr>
        <p:spPr>
          <a:xfrm rot="0">
            <a:off x="14411363" y="2017696"/>
            <a:ext cx="2847937" cy="229804"/>
          </a:xfrm>
          <a:prstGeom prst="rect">
            <a:avLst/>
          </a:prstGeom>
        </p:spPr>
        <p:txBody>
          <a:bodyPr anchor="t" rtlCol="false" tIns="0" lIns="0" bIns="0" rIns="0">
            <a:spAutoFit/>
          </a:bodyPr>
          <a:lstStyle/>
          <a:p>
            <a:pPr algn="l">
              <a:lnSpc>
                <a:spcPts val="1820"/>
              </a:lnSpc>
            </a:pPr>
            <a:r>
              <a:rPr lang="en-US" sz="1400" b="true">
                <a:solidFill>
                  <a:srgbClr val="EDEDED"/>
                </a:solidFill>
                <a:latin typeface="Open Sauce Bold"/>
                <a:ea typeface="Open Sauce Bold"/>
                <a:cs typeface="Open Sauce Bold"/>
                <a:sym typeface="Open Sauce Bold"/>
              </a:rPr>
              <a:t>Transportation</a:t>
            </a:r>
          </a:p>
        </p:txBody>
      </p:sp>
      <p:sp>
        <p:nvSpPr>
          <p:cNvPr name="TextBox 18" id="18"/>
          <p:cNvSpPr txBox="true"/>
          <p:nvPr/>
        </p:nvSpPr>
        <p:spPr>
          <a:xfrm rot="0">
            <a:off x="1522533" y="3170915"/>
            <a:ext cx="5445225" cy="5829328"/>
          </a:xfrm>
          <a:prstGeom prst="rect">
            <a:avLst/>
          </a:prstGeom>
        </p:spPr>
        <p:txBody>
          <a:bodyPr anchor="t" rtlCol="false" tIns="0" lIns="0" bIns="0" rIns="0">
            <a:spAutoFit/>
          </a:bodyPr>
          <a:lstStyle/>
          <a:p>
            <a:pPr algn="l">
              <a:lnSpc>
                <a:spcPts val="3620"/>
              </a:lnSpc>
            </a:pPr>
            <a:r>
              <a:rPr lang="en-US" sz="2181" b="true">
                <a:solidFill>
                  <a:srgbClr val="1E2031"/>
                </a:solidFill>
                <a:latin typeface="Open Sauce Bold"/>
                <a:ea typeface="Open Sauce Bold"/>
                <a:cs typeface="Open Sauce Bold"/>
                <a:sym typeface="Open Sauce Bold"/>
              </a:rPr>
              <a:t>Sweetgreen: sleek app + healthy menu</a:t>
            </a:r>
          </a:p>
          <a:p>
            <a:pPr algn="l">
              <a:lnSpc>
                <a:spcPts val="3620"/>
              </a:lnSpc>
            </a:pPr>
          </a:p>
          <a:p>
            <a:pPr algn="l">
              <a:lnSpc>
                <a:spcPts val="3620"/>
              </a:lnSpc>
            </a:pPr>
            <a:r>
              <a:rPr lang="en-US" sz="2181" b="true">
                <a:solidFill>
                  <a:srgbClr val="1E2031"/>
                </a:solidFill>
                <a:latin typeface="Open Sauce Bold"/>
                <a:ea typeface="Open Sauce Bold"/>
                <a:cs typeface="Open Sauce Bold"/>
                <a:sym typeface="Open Sauce Bold"/>
              </a:rPr>
              <a:t>Panera: subscription perks, free delivery</a:t>
            </a:r>
          </a:p>
          <a:p>
            <a:pPr algn="l">
              <a:lnSpc>
                <a:spcPts val="3620"/>
              </a:lnSpc>
            </a:pPr>
          </a:p>
          <a:p>
            <a:pPr algn="l">
              <a:lnSpc>
                <a:spcPts val="3620"/>
              </a:lnSpc>
            </a:pPr>
            <a:r>
              <a:rPr lang="en-US" sz="2181" b="true">
                <a:solidFill>
                  <a:srgbClr val="1E2031"/>
                </a:solidFill>
                <a:latin typeface="Open Sauce Bold"/>
                <a:ea typeface="Open Sauce Bold"/>
                <a:cs typeface="Open Sauce Bold"/>
                <a:sym typeface="Open Sauce Bold"/>
              </a:rPr>
              <a:t>Qdoba: free guac + queso</a:t>
            </a:r>
          </a:p>
          <a:p>
            <a:pPr algn="l">
              <a:lnSpc>
                <a:spcPts val="3620"/>
              </a:lnSpc>
            </a:pPr>
          </a:p>
          <a:p>
            <a:pPr algn="l">
              <a:lnSpc>
                <a:spcPts val="3620"/>
              </a:lnSpc>
            </a:pPr>
            <a:r>
              <a:rPr lang="en-US" sz="2181" b="true">
                <a:solidFill>
                  <a:srgbClr val="1E2031"/>
                </a:solidFill>
                <a:latin typeface="Open Sauce Bold"/>
                <a:ea typeface="Open Sauce Bold"/>
                <a:cs typeface="Open Sauce Bold"/>
                <a:sym typeface="Open Sauce Bold"/>
              </a:rPr>
              <a:t>Chipotle: personalization, speed, deep app integration</a:t>
            </a:r>
          </a:p>
          <a:p>
            <a:pPr algn="l">
              <a:lnSpc>
                <a:spcPts val="3620"/>
              </a:lnSpc>
            </a:pPr>
          </a:p>
          <a:p>
            <a:pPr algn="l">
              <a:lnSpc>
                <a:spcPts val="3620"/>
              </a:lnSpc>
            </a:pPr>
            <a:r>
              <a:rPr lang="en-US" sz="2181" b="true">
                <a:solidFill>
                  <a:srgbClr val="D83030"/>
                </a:solidFill>
                <a:latin typeface="Open Sauce Bold"/>
                <a:ea typeface="Open Sauce Bold"/>
                <a:cs typeface="Open Sauce Bold"/>
                <a:sym typeface="Open Sauce Bold"/>
              </a:rPr>
              <a:t>No price ceilings/floors </a:t>
            </a:r>
            <a:r>
              <a:rPr lang="en-US" sz="2181" b="true">
                <a:solidFill>
                  <a:srgbClr val="1E2031"/>
                </a:solidFill>
                <a:latin typeface="Open Sauce Bold"/>
                <a:ea typeface="Open Sauce Bold"/>
                <a:cs typeface="Open Sauce Bold"/>
                <a:sym typeface="Open Sauce Bold"/>
              </a:rPr>
              <a:t>→ flexible pricing strategy</a:t>
            </a:r>
          </a:p>
          <a:p>
            <a:pPr algn="l">
              <a:lnSpc>
                <a:spcPts val="2551"/>
              </a:lnSpc>
            </a:pP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TextBox 2" id="2"/>
          <p:cNvSpPr txBox="true"/>
          <p:nvPr/>
        </p:nvSpPr>
        <p:spPr>
          <a:xfrm rot="0">
            <a:off x="2256052" y="3647197"/>
            <a:ext cx="2847937" cy="915405"/>
          </a:xfrm>
          <a:prstGeom prst="rect">
            <a:avLst/>
          </a:prstGeom>
        </p:spPr>
        <p:txBody>
          <a:bodyPr anchor="t" rtlCol="false" tIns="0" lIns="0" bIns="0" rIns="0">
            <a:spAutoFit/>
          </a:bodyPr>
          <a:lstStyle/>
          <a:p>
            <a:pPr algn="l">
              <a:lnSpc>
                <a:spcPts val="1820"/>
              </a:lnSpc>
            </a:pPr>
            <a:r>
              <a:rPr lang="en-US" sz="1400">
                <a:solidFill>
                  <a:srgbClr val="EDEDED"/>
                </a:solidFill>
                <a:latin typeface="Open Sauce"/>
                <a:ea typeface="Open Sauce"/>
                <a:cs typeface="Open Sauce"/>
                <a:sym typeface="Open Sauce"/>
              </a:rPr>
              <a:t>Online tutoring and course creation now attract independent gig educators worldwide.</a:t>
            </a:r>
          </a:p>
        </p:txBody>
      </p:sp>
      <p:grpSp>
        <p:nvGrpSpPr>
          <p:cNvPr name="Group 3" id="3"/>
          <p:cNvGrpSpPr/>
          <p:nvPr/>
        </p:nvGrpSpPr>
        <p:grpSpPr>
          <a:xfrm rot="0">
            <a:off x="2291783" y="2452196"/>
            <a:ext cx="13704433" cy="7120609"/>
            <a:chOff x="0" y="0"/>
            <a:chExt cx="3609398" cy="1875387"/>
          </a:xfrm>
        </p:grpSpPr>
        <p:sp>
          <p:nvSpPr>
            <p:cNvPr name="Freeform 4" id="4"/>
            <p:cNvSpPr/>
            <p:nvPr/>
          </p:nvSpPr>
          <p:spPr>
            <a:xfrm flipH="false" flipV="false" rot="0">
              <a:off x="0" y="0"/>
              <a:ext cx="3609398" cy="1875387"/>
            </a:xfrm>
            <a:custGeom>
              <a:avLst/>
              <a:gdLst/>
              <a:ahLst/>
              <a:cxnLst/>
              <a:rect r="r" b="b" t="t" l="l"/>
              <a:pathLst>
                <a:path h="1875387" w="3609398">
                  <a:moveTo>
                    <a:pt x="19772" y="0"/>
                  </a:moveTo>
                  <a:lnTo>
                    <a:pt x="3589626" y="0"/>
                  </a:lnTo>
                  <a:cubicBezTo>
                    <a:pt x="3594870" y="0"/>
                    <a:pt x="3599899" y="2083"/>
                    <a:pt x="3603607" y="5791"/>
                  </a:cubicBezTo>
                  <a:cubicBezTo>
                    <a:pt x="3607315" y="9499"/>
                    <a:pt x="3609398" y="14528"/>
                    <a:pt x="3609398" y="19772"/>
                  </a:cubicBezTo>
                  <a:lnTo>
                    <a:pt x="3609398" y="1855614"/>
                  </a:lnTo>
                  <a:cubicBezTo>
                    <a:pt x="3609398" y="1860858"/>
                    <a:pt x="3607315" y="1865887"/>
                    <a:pt x="3603607" y="1869596"/>
                  </a:cubicBezTo>
                  <a:cubicBezTo>
                    <a:pt x="3599899" y="1873303"/>
                    <a:pt x="3594870" y="1875387"/>
                    <a:pt x="3589626" y="1875387"/>
                  </a:cubicBezTo>
                  <a:lnTo>
                    <a:pt x="19772" y="1875387"/>
                  </a:lnTo>
                  <a:cubicBezTo>
                    <a:pt x="14528" y="1875387"/>
                    <a:pt x="9499" y="1873303"/>
                    <a:pt x="5791" y="1869596"/>
                  </a:cubicBezTo>
                  <a:cubicBezTo>
                    <a:pt x="2083" y="1865887"/>
                    <a:pt x="0" y="1860858"/>
                    <a:pt x="0" y="1855614"/>
                  </a:cubicBezTo>
                  <a:lnTo>
                    <a:pt x="0" y="19772"/>
                  </a:lnTo>
                  <a:cubicBezTo>
                    <a:pt x="0" y="14528"/>
                    <a:pt x="2083" y="9499"/>
                    <a:pt x="5791" y="5791"/>
                  </a:cubicBezTo>
                  <a:cubicBezTo>
                    <a:pt x="9499" y="2083"/>
                    <a:pt x="14528" y="0"/>
                    <a:pt x="19772" y="0"/>
                  </a:cubicBezTo>
                  <a:close/>
                </a:path>
              </a:pathLst>
            </a:custGeom>
            <a:solidFill>
              <a:srgbClr val="EDEDED"/>
            </a:solidFill>
            <a:ln w="9525" cap="rnd">
              <a:solidFill>
                <a:srgbClr val="D83030"/>
              </a:solidFill>
              <a:prstDash val="solid"/>
              <a:round/>
            </a:ln>
          </p:spPr>
        </p:sp>
        <p:sp>
          <p:nvSpPr>
            <p:cNvPr name="TextBox 5" id="5"/>
            <p:cNvSpPr txBox="true"/>
            <p:nvPr/>
          </p:nvSpPr>
          <p:spPr>
            <a:xfrm>
              <a:off x="0" y="-19050"/>
              <a:ext cx="3609398" cy="1894437"/>
            </a:xfrm>
            <a:prstGeom prst="rect">
              <a:avLst/>
            </a:prstGeom>
          </p:spPr>
          <p:txBody>
            <a:bodyPr anchor="ctr" rtlCol="false" tIns="50800" lIns="50800" bIns="50800" rIns="50800"/>
            <a:lstStyle/>
            <a:p>
              <a:pPr algn="ctr">
                <a:lnSpc>
                  <a:spcPts val="1820"/>
                </a:lnSpc>
              </a:pPr>
            </a:p>
          </p:txBody>
        </p:sp>
      </p:grpSp>
      <p:graphicFrame>
        <p:nvGraphicFramePr>
          <p:cNvPr name="Table 6" id="6"/>
          <p:cNvGraphicFramePr>
            <a:graphicFrameLocks noGrp="true"/>
          </p:cNvGraphicFramePr>
          <p:nvPr/>
        </p:nvGraphicFramePr>
        <p:xfrm>
          <a:off x="3317678" y="3058157"/>
          <a:ext cx="12086553" cy="5908687"/>
        </p:xfrm>
        <a:graphic>
          <a:graphicData uri="http://schemas.openxmlformats.org/drawingml/2006/table">
            <a:tbl>
              <a:tblPr/>
              <a:tblGrid>
                <a:gridCol w="2373488"/>
                <a:gridCol w="2428266"/>
                <a:gridCol w="2428266"/>
                <a:gridCol w="2428266"/>
                <a:gridCol w="2428266"/>
              </a:tblGrid>
              <a:tr h="1187133">
                <a:tc>
                  <a:txBody>
                    <a:bodyPr anchor="t" rtlCol="false"/>
                    <a:lstStyle/>
                    <a:p>
                      <a:pPr algn="ctr">
                        <a:lnSpc>
                          <a:spcPts val="3359"/>
                        </a:lnSpc>
                        <a:defRPr/>
                      </a:pPr>
                      <a:r>
                        <a:rPr lang="en-US" sz="2400" b="true">
                          <a:solidFill>
                            <a:srgbClr val="1E2031"/>
                          </a:solidFill>
                          <a:latin typeface="Open Sauce Bold"/>
                          <a:ea typeface="Open Sauce Bold"/>
                          <a:cs typeface="Open Sauce Bold"/>
                          <a:sym typeface="Open Sauce Bold"/>
                        </a:rPr>
                        <a:t>Feature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3359"/>
                        </a:lnSpc>
                        <a:defRPr/>
                      </a:pPr>
                      <a:r>
                        <a:rPr lang="en-US" sz="2400" b="true">
                          <a:solidFill>
                            <a:srgbClr val="D83030"/>
                          </a:solidFill>
                          <a:latin typeface="Open Sauce Bold"/>
                          <a:ea typeface="Open Sauce Bold"/>
                          <a:cs typeface="Open Sauce Bold"/>
                          <a:sym typeface="Open Sauce Bold"/>
                        </a:rPr>
                        <a:t>Chipotle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3359"/>
                        </a:lnSpc>
                        <a:defRPr/>
                      </a:pPr>
                      <a:r>
                        <a:rPr lang="en-US" sz="2400" b="true">
                          <a:solidFill>
                            <a:srgbClr val="02483B"/>
                          </a:solidFill>
                          <a:latin typeface="Open Sauce Bold"/>
                          <a:ea typeface="Open Sauce Bold"/>
                          <a:cs typeface="Open Sauce Bold"/>
                          <a:sym typeface="Open Sauce Bold"/>
                        </a:rPr>
                        <a:t>Sweetgreen</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3359"/>
                        </a:lnSpc>
                        <a:defRPr/>
                      </a:pPr>
                      <a:r>
                        <a:rPr lang="en-US" sz="2400" b="true">
                          <a:solidFill>
                            <a:srgbClr val="647000"/>
                          </a:solidFill>
                          <a:latin typeface="Open Sauce Bold"/>
                          <a:ea typeface="Open Sauce Bold"/>
                          <a:cs typeface="Open Sauce Bold"/>
                          <a:sym typeface="Open Sauce Bold"/>
                        </a:rPr>
                        <a:t>Panera Bread</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3359"/>
                        </a:lnSpc>
                        <a:defRPr/>
                      </a:pPr>
                      <a:r>
                        <a:rPr lang="en-US" sz="2400" b="true">
                          <a:solidFill>
                            <a:srgbClr val="F89D1C"/>
                          </a:solidFill>
                          <a:latin typeface="Open Sauce Bold"/>
                          <a:ea typeface="Open Sauce Bold"/>
                          <a:cs typeface="Open Sauce Bold"/>
                          <a:sym typeface="Open Sauce Bold"/>
                        </a:rPr>
                        <a:t>Qdoba</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r>
              <a:tr h="1187133">
                <a:tc>
                  <a:txBody>
                    <a:bodyPr anchor="t" rtlCol="false"/>
                    <a:lstStyle/>
                    <a:p>
                      <a:pPr algn="ctr">
                        <a:lnSpc>
                          <a:spcPts val="2800"/>
                        </a:lnSpc>
                        <a:defRPr/>
                      </a:pPr>
                      <a:r>
                        <a:rPr lang="en-US" sz="2000" b="true">
                          <a:solidFill>
                            <a:srgbClr val="D83030"/>
                          </a:solidFill>
                          <a:latin typeface="Open Sauce Bold"/>
                          <a:ea typeface="Open Sauce Bold"/>
                          <a:cs typeface="Open Sauce Bold"/>
                          <a:sym typeface="Open Sauce Bold"/>
                        </a:rPr>
                        <a:t>Avg. Entrée Price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$9.10</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$10.50</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$9.00</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$10.55</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r>
              <a:tr h="1187133">
                <a:tc>
                  <a:txBody>
                    <a:bodyPr anchor="t" rtlCol="false"/>
                    <a:lstStyle/>
                    <a:p>
                      <a:pPr algn="ctr">
                        <a:lnSpc>
                          <a:spcPts val="2800"/>
                        </a:lnSpc>
                        <a:defRPr/>
                      </a:pPr>
                      <a:r>
                        <a:rPr lang="en-US" sz="2000" b="true">
                          <a:solidFill>
                            <a:srgbClr val="D83030"/>
                          </a:solidFill>
                          <a:latin typeface="Open Sauce Bold"/>
                          <a:ea typeface="Open Sauce Bold"/>
                          <a:cs typeface="Open Sauce Bold"/>
                          <a:sym typeface="Open Sauce Bold"/>
                        </a:rPr>
                        <a:t>Loyalty Program</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Free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Free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$6.99/month</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Free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r>
              <a:tr h="1187133">
                <a:tc>
                  <a:txBody>
                    <a:bodyPr anchor="t" rtlCol="false"/>
                    <a:lstStyle/>
                    <a:p>
                      <a:pPr algn="ctr">
                        <a:lnSpc>
                          <a:spcPts val="2800"/>
                        </a:lnSpc>
                        <a:defRPr/>
                      </a:pPr>
                      <a:r>
                        <a:rPr lang="en-US" sz="2000" b="true">
                          <a:solidFill>
                            <a:srgbClr val="D83030"/>
                          </a:solidFill>
                          <a:latin typeface="Open Sauce Bold"/>
                          <a:ea typeface="Open Sauce Bold"/>
                          <a:cs typeface="Open Sauce Bold"/>
                          <a:sym typeface="Open Sauce Bold"/>
                        </a:rPr>
                        <a:t>Delivery Fees</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Varies</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Varies</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Free w/ subscription</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Varies</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r>
              <a:tr h="1160153">
                <a:tc>
                  <a:txBody>
                    <a:bodyPr anchor="t" rtlCol="false"/>
                    <a:lstStyle/>
                    <a:p>
                      <a:pPr algn="ctr">
                        <a:lnSpc>
                          <a:spcPts val="2800"/>
                        </a:lnSpc>
                        <a:defRPr/>
                      </a:pPr>
                      <a:r>
                        <a:rPr lang="en-US" sz="2000" b="true">
                          <a:solidFill>
                            <a:srgbClr val="D83030"/>
                          </a:solidFill>
                          <a:latin typeface="Open Sauce Bold"/>
                          <a:ea typeface="Open Sauce Bold"/>
                          <a:cs typeface="Open Sauce Bold"/>
                          <a:sym typeface="Open Sauce Bold"/>
                        </a:rPr>
                        <a:t>Guac Charge</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Extra</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Extra</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Included</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c>
                  <a:txBody>
                    <a:bodyPr anchor="t" rtlCol="false"/>
                    <a:lstStyle/>
                    <a:p>
                      <a:pPr algn="ctr">
                        <a:lnSpc>
                          <a:spcPts val="2800"/>
                        </a:lnSpc>
                        <a:defRPr/>
                      </a:pPr>
                      <a:r>
                        <a:rPr lang="en-US" sz="2000">
                          <a:solidFill>
                            <a:srgbClr val="D83030"/>
                          </a:solidFill>
                          <a:latin typeface="Open Sauce"/>
                          <a:ea typeface="Open Sauce"/>
                          <a:cs typeface="Open Sauce"/>
                          <a:sym typeface="Open Sauce"/>
                        </a:rPr>
                        <a:t>Included</a:t>
                      </a:r>
                      <a:endParaRPr lang="en-US" sz="1100"/>
                    </a:p>
                  </a:txBody>
                  <a:tcPr marL="152400" marR="152400" marT="152400" marB="152400" anchor="ctr">
                    <a:lnL cmpd="sng" algn="ctr" cap="flat" w="19050">
                      <a:solidFill>
                        <a:srgbClr val="D83030"/>
                      </a:solidFill>
                      <a:prstDash val="solid"/>
                      <a:round/>
                      <a:headEnd type="none" w="med" len="med"/>
                      <a:tailEnd type="none" w="med" len="med"/>
                    </a:lnL>
                    <a:lnR cmpd="sng" algn="ctr" cap="flat" w="19050">
                      <a:solidFill>
                        <a:srgbClr val="D83030"/>
                      </a:solidFill>
                      <a:prstDash val="solid"/>
                      <a:round/>
                      <a:headEnd type="none" w="med" len="med"/>
                      <a:tailEnd type="none" w="med" len="med"/>
                    </a:lnR>
                    <a:lnT cmpd="sng" algn="ctr" cap="flat" w="19050">
                      <a:solidFill>
                        <a:srgbClr val="D83030"/>
                      </a:solidFill>
                      <a:prstDash val="solid"/>
                      <a:round/>
                      <a:headEnd type="none" w="med" len="med"/>
                      <a:tailEnd type="none" w="med" len="med"/>
                    </a:lnT>
                    <a:lnB cmpd="sng" algn="ctr" cap="flat" w="19050">
                      <a:solidFill>
                        <a:srgbClr val="D83030"/>
                      </a:solidFill>
                      <a:prstDash val="solid"/>
                      <a:round/>
                      <a:headEnd type="none" w="med" len="med"/>
                      <a:tailEnd type="none" w="med" len="med"/>
                    </a:lnB>
                    <a:solidFill>
                      <a:srgbClr val="F4F4F4"/>
                    </a:solidFill>
                  </a:tcPr>
                </a:tc>
              </a:tr>
            </a:tbl>
          </a:graphicData>
        </a:graphic>
      </p:graphicFrame>
      <p:grpSp>
        <p:nvGrpSpPr>
          <p:cNvPr name="Group 7" id="7"/>
          <p:cNvGrpSpPr/>
          <p:nvPr/>
        </p:nvGrpSpPr>
        <p:grpSpPr>
          <a:xfrm rot="0">
            <a:off x="15260054" y="350821"/>
            <a:ext cx="2554652" cy="2554652"/>
            <a:chOff x="0" y="0"/>
            <a:chExt cx="6350000" cy="6350000"/>
          </a:xfrm>
        </p:grpSpPr>
        <p:sp>
          <p:nvSpPr>
            <p:cNvPr name="Freeform 8" id="8"/>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3"/>
              <a:stretch>
                <a:fillRect l="-38888" t="0" r="-38888" b="0"/>
              </a:stretch>
            </a:blipFill>
          </p:spPr>
        </p:sp>
      </p:grpSp>
      <p:sp>
        <p:nvSpPr>
          <p:cNvPr name="TextBox 9" id="9"/>
          <p:cNvSpPr txBox="true"/>
          <p:nvPr/>
        </p:nvSpPr>
        <p:spPr>
          <a:xfrm rot="0">
            <a:off x="754519" y="341296"/>
            <a:ext cx="17212871" cy="1581150"/>
          </a:xfrm>
          <a:prstGeom prst="rect">
            <a:avLst/>
          </a:prstGeom>
        </p:spPr>
        <p:txBody>
          <a:bodyPr anchor="t" rtlCol="false" tIns="0" lIns="0" bIns="0" rIns="0">
            <a:spAutoFit/>
          </a:bodyPr>
          <a:lstStyle/>
          <a:p>
            <a:pPr algn="ctr">
              <a:lnSpc>
                <a:spcPts val="6720"/>
              </a:lnSpc>
            </a:pPr>
            <a:r>
              <a:rPr lang="en-US" b="true" sz="5600" spc="-397">
                <a:solidFill>
                  <a:srgbClr val="000000"/>
                </a:solidFill>
                <a:latin typeface="Open Sauce Medium"/>
                <a:ea typeface="Open Sauce Medium"/>
                <a:cs typeface="Open Sauce Medium"/>
                <a:sym typeface="Open Sauce Medium"/>
              </a:rPr>
              <a:t>Module 3 </a:t>
            </a:r>
          </a:p>
          <a:p>
            <a:pPr algn="ctr">
              <a:lnSpc>
                <a:spcPts val="5759"/>
              </a:lnSpc>
            </a:pPr>
            <a:r>
              <a:rPr lang="en-US" b="true" sz="4800" spc="-340">
                <a:solidFill>
                  <a:srgbClr val="D83030"/>
                </a:solidFill>
                <a:latin typeface="Open Sauce Medium"/>
                <a:ea typeface="Open Sauce Medium"/>
                <a:cs typeface="Open Sauce Medium"/>
                <a:sym typeface="Open Sauce Medium"/>
              </a:rPr>
              <a:t>Del</a:t>
            </a:r>
            <a:r>
              <a:rPr lang="en-US" b="true" sz="4800" spc="-340">
                <a:solidFill>
                  <a:srgbClr val="D83030"/>
                </a:solidFill>
                <a:latin typeface="Open Sauce Medium"/>
                <a:ea typeface="Open Sauce Medium"/>
                <a:cs typeface="Open Sauce Medium"/>
                <a:sym typeface="Open Sauce Medium"/>
              </a:rPr>
              <a:t>ivering Value Without Discounting </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grpSp>
        <p:nvGrpSpPr>
          <p:cNvPr name="Group 2" id="2"/>
          <p:cNvGrpSpPr/>
          <p:nvPr/>
        </p:nvGrpSpPr>
        <p:grpSpPr>
          <a:xfrm rot="0">
            <a:off x="9719424" y="560068"/>
            <a:ext cx="8194459" cy="6436208"/>
            <a:chOff x="0" y="0"/>
            <a:chExt cx="2055318" cy="1614317"/>
          </a:xfrm>
        </p:grpSpPr>
        <p:sp>
          <p:nvSpPr>
            <p:cNvPr name="Freeform 3" id="3"/>
            <p:cNvSpPr/>
            <p:nvPr/>
          </p:nvSpPr>
          <p:spPr>
            <a:xfrm flipH="false" flipV="false" rot="0">
              <a:off x="0" y="0"/>
              <a:ext cx="2055318" cy="1614317"/>
            </a:xfrm>
            <a:custGeom>
              <a:avLst/>
              <a:gdLst/>
              <a:ahLst/>
              <a:cxnLst/>
              <a:rect r="r" b="b" t="t" l="l"/>
              <a:pathLst>
                <a:path h="1614317" w="2055318">
                  <a:moveTo>
                    <a:pt x="23619" y="0"/>
                  </a:moveTo>
                  <a:lnTo>
                    <a:pt x="2031699" y="0"/>
                  </a:lnTo>
                  <a:cubicBezTo>
                    <a:pt x="2037963" y="0"/>
                    <a:pt x="2043971" y="2488"/>
                    <a:pt x="2048400" y="6918"/>
                  </a:cubicBezTo>
                  <a:cubicBezTo>
                    <a:pt x="2052830" y="11347"/>
                    <a:pt x="2055318" y="17355"/>
                    <a:pt x="2055318" y="23619"/>
                  </a:cubicBezTo>
                  <a:lnTo>
                    <a:pt x="2055318" y="1590698"/>
                  </a:lnTo>
                  <a:cubicBezTo>
                    <a:pt x="2055318" y="1603743"/>
                    <a:pt x="2044744" y="1614317"/>
                    <a:pt x="2031699" y="1614317"/>
                  </a:cubicBezTo>
                  <a:lnTo>
                    <a:pt x="23619" y="1614317"/>
                  </a:lnTo>
                  <a:cubicBezTo>
                    <a:pt x="17355" y="1614317"/>
                    <a:pt x="11347" y="1611829"/>
                    <a:pt x="6918" y="1607399"/>
                  </a:cubicBezTo>
                  <a:cubicBezTo>
                    <a:pt x="2488" y="1602970"/>
                    <a:pt x="0" y="1596962"/>
                    <a:pt x="0" y="1590698"/>
                  </a:cubicBezTo>
                  <a:lnTo>
                    <a:pt x="0" y="23619"/>
                  </a:lnTo>
                  <a:cubicBezTo>
                    <a:pt x="0" y="17355"/>
                    <a:pt x="2488" y="11347"/>
                    <a:pt x="6918" y="6918"/>
                  </a:cubicBezTo>
                  <a:cubicBezTo>
                    <a:pt x="11347" y="2488"/>
                    <a:pt x="17355" y="0"/>
                    <a:pt x="23619" y="0"/>
                  </a:cubicBezTo>
                  <a:close/>
                </a:path>
              </a:pathLst>
            </a:custGeom>
            <a:solidFill>
              <a:srgbClr val="EDEDED"/>
            </a:solidFill>
            <a:ln w="9525" cap="rnd">
              <a:solidFill>
                <a:srgbClr val="D83030"/>
              </a:solidFill>
              <a:prstDash val="solid"/>
              <a:round/>
            </a:ln>
          </p:spPr>
        </p:sp>
        <p:sp>
          <p:nvSpPr>
            <p:cNvPr name="TextBox 4" id="4"/>
            <p:cNvSpPr txBox="true"/>
            <p:nvPr/>
          </p:nvSpPr>
          <p:spPr>
            <a:xfrm>
              <a:off x="0" y="-19050"/>
              <a:ext cx="2055318" cy="1633367"/>
            </a:xfrm>
            <a:prstGeom prst="rect">
              <a:avLst/>
            </a:prstGeom>
          </p:spPr>
          <p:txBody>
            <a:bodyPr anchor="ctr" rtlCol="false" tIns="50800" lIns="50800" bIns="50800" rIns="50800"/>
            <a:lstStyle/>
            <a:p>
              <a:pPr algn="ctr">
                <a:lnSpc>
                  <a:spcPts val="1820"/>
                </a:lnSpc>
              </a:pPr>
            </a:p>
          </p:txBody>
        </p:sp>
      </p:grpSp>
      <p:sp>
        <p:nvSpPr>
          <p:cNvPr name="Freeform 5" id="5"/>
          <p:cNvSpPr/>
          <p:nvPr/>
        </p:nvSpPr>
        <p:spPr>
          <a:xfrm flipH="false" flipV="false" rot="0">
            <a:off x="14825595" y="8039033"/>
            <a:ext cx="683486" cy="683486"/>
          </a:xfrm>
          <a:custGeom>
            <a:avLst/>
            <a:gdLst/>
            <a:ahLst/>
            <a:cxnLst/>
            <a:rect r="r" b="b" t="t" l="l"/>
            <a:pathLst>
              <a:path h="683486" w="683486">
                <a:moveTo>
                  <a:pt x="0" y="0"/>
                </a:moveTo>
                <a:lnTo>
                  <a:pt x="683486" y="0"/>
                </a:lnTo>
                <a:lnTo>
                  <a:pt x="683486" y="683486"/>
                </a:lnTo>
                <a:lnTo>
                  <a:pt x="0" y="6834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5415759"/>
            <a:ext cx="7113594" cy="4001396"/>
          </a:xfrm>
          <a:custGeom>
            <a:avLst/>
            <a:gdLst/>
            <a:ahLst/>
            <a:cxnLst/>
            <a:rect r="r" b="b" t="t" l="l"/>
            <a:pathLst>
              <a:path h="4001396" w="7113594">
                <a:moveTo>
                  <a:pt x="0" y="0"/>
                </a:moveTo>
                <a:lnTo>
                  <a:pt x="7113594" y="0"/>
                </a:lnTo>
                <a:lnTo>
                  <a:pt x="7113594" y="4001397"/>
                </a:lnTo>
                <a:lnTo>
                  <a:pt x="0" y="4001397"/>
                </a:lnTo>
                <a:lnTo>
                  <a:pt x="0" y="0"/>
                </a:lnTo>
                <a:close/>
              </a:path>
            </a:pathLst>
          </a:custGeom>
          <a:blipFill>
            <a:blip r:embed="rId4"/>
            <a:stretch>
              <a:fillRect l="0" t="0" r="0" b="0"/>
            </a:stretch>
          </a:blipFill>
        </p:spPr>
      </p:sp>
      <p:grpSp>
        <p:nvGrpSpPr>
          <p:cNvPr name="Group 7" id="7"/>
          <p:cNvGrpSpPr/>
          <p:nvPr/>
        </p:nvGrpSpPr>
        <p:grpSpPr>
          <a:xfrm rot="0">
            <a:off x="8411309" y="6552326"/>
            <a:ext cx="2973412" cy="297341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4999" t="0" r="-25000" b="0"/>
              </a:stretch>
            </a:blipFill>
          </p:spPr>
        </p:sp>
      </p:grpSp>
      <p:sp>
        <p:nvSpPr>
          <p:cNvPr name="TextBox 9" id="9"/>
          <p:cNvSpPr txBox="true"/>
          <p:nvPr/>
        </p:nvSpPr>
        <p:spPr>
          <a:xfrm rot="0">
            <a:off x="10465523" y="1672294"/>
            <a:ext cx="6906790" cy="5323982"/>
          </a:xfrm>
          <a:prstGeom prst="rect">
            <a:avLst/>
          </a:prstGeom>
        </p:spPr>
        <p:txBody>
          <a:bodyPr anchor="t" rtlCol="false" tIns="0" lIns="0" bIns="0" rIns="0">
            <a:spAutoFit/>
          </a:bodyPr>
          <a:lstStyle/>
          <a:p>
            <a:pPr algn="l" marL="604519" indent="-302260" lvl="1">
              <a:lnSpc>
                <a:spcPts val="3639"/>
              </a:lnSpc>
              <a:buFont typeface="Arial"/>
              <a:buChar char="•"/>
            </a:pPr>
            <a:r>
              <a:rPr lang="en-US" b="true" sz="2799">
                <a:solidFill>
                  <a:srgbClr val="D83030"/>
                </a:solidFill>
                <a:latin typeface="Open Sauce Bold"/>
                <a:ea typeface="Open Sauce Bold"/>
                <a:cs typeface="Open Sauce Bold"/>
                <a:sym typeface="Open Sauce Bold"/>
              </a:rPr>
              <a:t>Market Structure:</a:t>
            </a:r>
            <a:r>
              <a:rPr lang="en-US" sz="2799">
                <a:solidFill>
                  <a:srgbClr val="D83030"/>
                </a:solidFill>
                <a:latin typeface="Open Sauce"/>
                <a:ea typeface="Open Sauce"/>
                <a:cs typeface="Open Sauce"/>
                <a:sym typeface="Open Sauce"/>
              </a:rPr>
              <a:t> Monopolistic Competition</a:t>
            </a:r>
          </a:p>
          <a:p>
            <a:pPr algn="l" marL="604519" indent="-302260" lvl="1">
              <a:lnSpc>
                <a:spcPts val="3639"/>
              </a:lnSpc>
              <a:buFont typeface="Arial"/>
              <a:buChar char="•"/>
            </a:pPr>
            <a:r>
              <a:rPr lang="en-US" b="true" sz="2799">
                <a:solidFill>
                  <a:srgbClr val="D83030"/>
                </a:solidFill>
                <a:latin typeface="Open Sauce Bold"/>
                <a:ea typeface="Open Sauce Bold"/>
                <a:cs typeface="Open Sauce Bold"/>
                <a:sym typeface="Open Sauce Bold"/>
              </a:rPr>
              <a:t>Key Characteristics:</a:t>
            </a:r>
          </a:p>
          <a:p>
            <a:pPr algn="l" marL="1209039" indent="-403013" lvl="2">
              <a:lnSpc>
                <a:spcPts val="3639"/>
              </a:lnSpc>
              <a:buFont typeface="Arial"/>
              <a:buChar char="⚬"/>
            </a:pPr>
            <a:r>
              <a:rPr lang="en-US" sz="2799">
                <a:solidFill>
                  <a:srgbClr val="D83030"/>
                </a:solidFill>
                <a:latin typeface="Open Sauce"/>
                <a:ea typeface="Open Sauce"/>
                <a:cs typeface="Open Sauce"/>
                <a:sym typeface="Open Sauce"/>
              </a:rPr>
              <a:t>Many sellers (e.g., Chipotle, Sweetgreen, Qdoba, etc.)</a:t>
            </a:r>
          </a:p>
          <a:p>
            <a:pPr algn="l" marL="1209039" indent="-403013" lvl="2">
              <a:lnSpc>
                <a:spcPts val="3639"/>
              </a:lnSpc>
              <a:buFont typeface="Arial"/>
              <a:buChar char="⚬"/>
            </a:pPr>
            <a:r>
              <a:rPr lang="en-US" sz="2799">
                <a:solidFill>
                  <a:srgbClr val="D83030"/>
                </a:solidFill>
                <a:latin typeface="Open Sauce"/>
                <a:ea typeface="Open Sauce"/>
                <a:cs typeface="Open Sauce"/>
                <a:sym typeface="Open Sauce"/>
              </a:rPr>
              <a:t>Differentiated products</a:t>
            </a:r>
          </a:p>
          <a:p>
            <a:pPr algn="l" marL="1209039" indent="-403013" lvl="2">
              <a:lnSpc>
                <a:spcPts val="3639"/>
              </a:lnSpc>
              <a:buFont typeface="Arial"/>
              <a:buChar char="⚬"/>
            </a:pPr>
            <a:r>
              <a:rPr lang="en-US" sz="2799">
                <a:solidFill>
                  <a:srgbClr val="D83030"/>
                </a:solidFill>
                <a:latin typeface="Open Sauce"/>
                <a:ea typeface="Open Sauce"/>
                <a:cs typeface="Open Sauce"/>
                <a:sym typeface="Open Sauce"/>
              </a:rPr>
              <a:t>Some pricing power</a:t>
            </a:r>
          </a:p>
          <a:p>
            <a:pPr algn="l" marL="1209039" indent="-403013" lvl="2">
              <a:lnSpc>
                <a:spcPts val="3639"/>
              </a:lnSpc>
              <a:buFont typeface="Arial"/>
              <a:buChar char="⚬"/>
            </a:pPr>
            <a:r>
              <a:rPr lang="en-US" sz="2799">
                <a:solidFill>
                  <a:srgbClr val="D83030"/>
                </a:solidFill>
                <a:latin typeface="Open Sauce"/>
                <a:ea typeface="Open Sauce"/>
                <a:cs typeface="Open Sauce"/>
                <a:sym typeface="Open Sauce"/>
              </a:rPr>
              <a:t>Easy entry/exit</a:t>
            </a:r>
          </a:p>
          <a:p>
            <a:pPr algn="l" marL="604519" indent="-302260" lvl="1">
              <a:lnSpc>
                <a:spcPts val="3639"/>
              </a:lnSpc>
              <a:buFont typeface="Arial"/>
              <a:buChar char="•"/>
            </a:pPr>
            <a:r>
              <a:rPr lang="en-US" b="true" sz="2799">
                <a:solidFill>
                  <a:srgbClr val="D83030"/>
                </a:solidFill>
                <a:latin typeface="Open Sauce Bold"/>
                <a:ea typeface="Open Sauce Bold"/>
                <a:cs typeface="Open Sauce Bold"/>
                <a:sym typeface="Open Sauce Bold"/>
              </a:rPr>
              <a:t>Thesis</a:t>
            </a:r>
            <a:r>
              <a:rPr lang="en-US" sz="2799">
                <a:solidFill>
                  <a:srgbClr val="D83030"/>
                </a:solidFill>
                <a:latin typeface="Open Sauce"/>
                <a:ea typeface="Open Sauce"/>
                <a:cs typeface="Open Sauce"/>
                <a:sym typeface="Open Sauce"/>
              </a:rPr>
              <a:t>: Differentiation is key to pricing power and consumer loyalty in fast-casual.</a:t>
            </a:r>
          </a:p>
          <a:p>
            <a:pPr algn="l">
              <a:lnSpc>
                <a:spcPts val="2310"/>
              </a:lnSpc>
            </a:pPr>
          </a:p>
        </p:txBody>
      </p:sp>
      <p:sp>
        <p:nvSpPr>
          <p:cNvPr name="TextBox 10" id="10"/>
          <p:cNvSpPr txBox="true"/>
          <p:nvPr/>
        </p:nvSpPr>
        <p:spPr>
          <a:xfrm rot="0">
            <a:off x="11199175" y="990600"/>
            <a:ext cx="5439486" cy="459740"/>
          </a:xfrm>
          <a:prstGeom prst="rect">
            <a:avLst/>
          </a:prstGeom>
        </p:spPr>
        <p:txBody>
          <a:bodyPr anchor="t" rtlCol="false" tIns="0" lIns="0" bIns="0" rIns="0">
            <a:spAutoFit/>
          </a:bodyPr>
          <a:lstStyle/>
          <a:p>
            <a:pPr algn="l">
              <a:lnSpc>
                <a:spcPts val="3639"/>
              </a:lnSpc>
            </a:pPr>
            <a:r>
              <a:rPr lang="en-US" sz="2799" b="true">
                <a:solidFill>
                  <a:srgbClr val="D83030"/>
                </a:solidFill>
                <a:latin typeface="Open Sauce Bold"/>
                <a:ea typeface="Open Sauce Bold"/>
                <a:cs typeface="Open Sauce Bold"/>
                <a:sym typeface="Open Sauce Bold"/>
              </a:rPr>
              <a:t>Market Structure Overview</a:t>
            </a:r>
          </a:p>
        </p:txBody>
      </p:sp>
      <p:sp>
        <p:nvSpPr>
          <p:cNvPr name="TextBox 11" id="11"/>
          <p:cNvSpPr txBox="true"/>
          <p:nvPr/>
        </p:nvSpPr>
        <p:spPr>
          <a:xfrm rot="0">
            <a:off x="0" y="1775215"/>
            <a:ext cx="9170994" cy="2757805"/>
          </a:xfrm>
          <a:prstGeom prst="rect">
            <a:avLst/>
          </a:prstGeom>
        </p:spPr>
        <p:txBody>
          <a:bodyPr anchor="t" rtlCol="false" tIns="0" lIns="0" bIns="0" rIns="0">
            <a:spAutoFit/>
          </a:bodyPr>
          <a:lstStyle/>
          <a:p>
            <a:pPr algn="ctr">
              <a:lnSpc>
                <a:spcPts val="7280"/>
              </a:lnSpc>
            </a:pPr>
            <a:r>
              <a:rPr lang="en-US" sz="5600" b="true">
                <a:solidFill>
                  <a:srgbClr val="000000"/>
                </a:solidFill>
                <a:latin typeface="Open Sauce Bold"/>
                <a:ea typeface="Open Sauce Bold"/>
                <a:cs typeface="Open Sauce Bold"/>
                <a:sym typeface="Open Sauce Bold"/>
              </a:rPr>
              <a:t>Module 4:</a:t>
            </a:r>
          </a:p>
          <a:p>
            <a:pPr algn="ctr">
              <a:lnSpc>
                <a:spcPts val="7280"/>
              </a:lnSpc>
              <a:spcBef>
                <a:spcPct val="0"/>
              </a:spcBef>
            </a:pPr>
            <a:r>
              <a:rPr lang="en-US" b="true" sz="5600">
                <a:solidFill>
                  <a:srgbClr val="000000"/>
                </a:solidFill>
                <a:latin typeface="Open Sauce Bold"/>
                <a:ea typeface="Open Sauce Bold"/>
                <a:cs typeface="Open Sauce Bold"/>
                <a:sym typeface="Open Sauce Bold"/>
              </a:rPr>
              <a:t>Market Structure and Pricing Strategy</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Freeform 2" id="2"/>
          <p:cNvSpPr/>
          <p:nvPr/>
        </p:nvSpPr>
        <p:spPr>
          <a:xfrm flipH="false" flipV="false" rot="0">
            <a:off x="7315118" y="5386435"/>
            <a:ext cx="876703" cy="876703"/>
          </a:xfrm>
          <a:custGeom>
            <a:avLst/>
            <a:gdLst/>
            <a:ahLst/>
            <a:cxnLst/>
            <a:rect r="r" b="b" t="t" l="l"/>
            <a:pathLst>
              <a:path h="876703" w="876703">
                <a:moveTo>
                  <a:pt x="0" y="0"/>
                </a:moveTo>
                <a:lnTo>
                  <a:pt x="876703" y="0"/>
                </a:lnTo>
                <a:lnTo>
                  <a:pt x="876703" y="876703"/>
                </a:lnTo>
                <a:lnTo>
                  <a:pt x="0" y="876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8416" y="2412895"/>
            <a:ext cx="7836934" cy="4408275"/>
          </a:xfrm>
          <a:custGeom>
            <a:avLst/>
            <a:gdLst/>
            <a:ahLst/>
            <a:cxnLst/>
            <a:rect r="r" b="b" t="t" l="l"/>
            <a:pathLst>
              <a:path h="4408275" w="7836934">
                <a:moveTo>
                  <a:pt x="0" y="0"/>
                </a:moveTo>
                <a:lnTo>
                  <a:pt x="7836934" y="0"/>
                </a:lnTo>
                <a:lnTo>
                  <a:pt x="7836934" y="4408275"/>
                </a:lnTo>
                <a:lnTo>
                  <a:pt x="0" y="4408275"/>
                </a:lnTo>
                <a:lnTo>
                  <a:pt x="0" y="0"/>
                </a:lnTo>
                <a:close/>
              </a:path>
            </a:pathLst>
          </a:custGeom>
          <a:blipFill>
            <a:blip r:embed="rId4"/>
            <a:stretch>
              <a:fillRect l="0" t="0" r="0" b="0"/>
            </a:stretch>
          </a:blipFill>
        </p:spPr>
      </p:sp>
      <p:grpSp>
        <p:nvGrpSpPr>
          <p:cNvPr name="Group 4" id="4"/>
          <p:cNvGrpSpPr/>
          <p:nvPr/>
        </p:nvGrpSpPr>
        <p:grpSpPr>
          <a:xfrm rot="0">
            <a:off x="3280479" y="7260590"/>
            <a:ext cx="2632808" cy="263280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00" t="0" r="-25000" b="0"/>
              </a:stretch>
            </a:blipFill>
          </p:spPr>
        </p:sp>
      </p:grpSp>
      <p:sp>
        <p:nvSpPr>
          <p:cNvPr name="TextBox 6" id="6"/>
          <p:cNvSpPr txBox="true"/>
          <p:nvPr/>
        </p:nvSpPr>
        <p:spPr>
          <a:xfrm rot="0">
            <a:off x="12644776" y="3909008"/>
            <a:ext cx="5077893" cy="1716405"/>
          </a:xfrm>
          <a:prstGeom prst="rect">
            <a:avLst/>
          </a:prstGeom>
        </p:spPr>
        <p:txBody>
          <a:bodyPr anchor="t" rtlCol="false" tIns="0" lIns="0" bIns="0" rIns="0">
            <a:spAutoFit/>
          </a:bodyPr>
          <a:lstStyle/>
          <a:p>
            <a:pPr algn="l" marL="453390" indent="-226695" lvl="1">
              <a:lnSpc>
                <a:spcPts val="2730"/>
              </a:lnSpc>
              <a:buFont typeface="Arial"/>
              <a:buChar char="•"/>
            </a:pPr>
            <a:r>
              <a:rPr lang="en-US" sz="2100">
                <a:solidFill>
                  <a:srgbClr val="D83030"/>
                </a:solidFill>
                <a:latin typeface="Open Sauce"/>
                <a:ea typeface="Open Sauce"/>
                <a:cs typeface="Open Sauce"/>
                <a:sym typeface="Open Sauce"/>
              </a:rPr>
              <a:t>Food With Integrity – fresh, ethically sourced, customizable meals</a:t>
            </a:r>
          </a:p>
          <a:p>
            <a:pPr algn="l" marL="453390" indent="-226695" lvl="1">
              <a:lnSpc>
                <a:spcPts val="2730"/>
              </a:lnSpc>
              <a:buFont typeface="Arial"/>
              <a:buChar char="•"/>
            </a:pPr>
            <a:r>
              <a:rPr lang="en-US" sz="2100">
                <a:solidFill>
                  <a:srgbClr val="D83030"/>
                </a:solidFill>
                <a:latin typeface="Open Sauce"/>
                <a:ea typeface="Open Sauce"/>
                <a:cs typeface="Open Sauce"/>
                <a:sym typeface="Open Sauce"/>
              </a:rPr>
              <a:t>Consistent brand image: healthy, fast, customizable</a:t>
            </a:r>
          </a:p>
        </p:txBody>
      </p:sp>
      <p:sp>
        <p:nvSpPr>
          <p:cNvPr name="TextBox 7" id="7"/>
          <p:cNvSpPr txBox="true"/>
          <p:nvPr/>
        </p:nvSpPr>
        <p:spPr>
          <a:xfrm rot="0">
            <a:off x="9244323" y="3899483"/>
            <a:ext cx="3262714" cy="916940"/>
          </a:xfrm>
          <a:prstGeom prst="rect">
            <a:avLst/>
          </a:prstGeom>
        </p:spPr>
        <p:txBody>
          <a:bodyPr anchor="t" rtlCol="false" tIns="0" lIns="0" bIns="0" rIns="0">
            <a:spAutoFit/>
          </a:bodyPr>
          <a:lstStyle/>
          <a:p>
            <a:pPr algn="l">
              <a:lnSpc>
                <a:spcPts val="3639"/>
              </a:lnSpc>
            </a:pPr>
            <a:r>
              <a:rPr lang="en-US" sz="2799" b="true">
                <a:solidFill>
                  <a:srgbClr val="D83030"/>
                </a:solidFill>
                <a:latin typeface="Open Sauce Bold"/>
                <a:ea typeface="Open Sauce Bold"/>
                <a:cs typeface="Open Sauce Bold"/>
                <a:sym typeface="Open Sauce Bold"/>
              </a:rPr>
              <a:t>Brand Differentiation:</a:t>
            </a:r>
          </a:p>
        </p:txBody>
      </p:sp>
      <p:sp>
        <p:nvSpPr>
          <p:cNvPr name="TextBox 8" id="8"/>
          <p:cNvSpPr txBox="true"/>
          <p:nvPr/>
        </p:nvSpPr>
        <p:spPr>
          <a:xfrm rot="0">
            <a:off x="12644776" y="5880100"/>
            <a:ext cx="5218457" cy="1373505"/>
          </a:xfrm>
          <a:prstGeom prst="rect">
            <a:avLst/>
          </a:prstGeom>
        </p:spPr>
        <p:txBody>
          <a:bodyPr anchor="t" rtlCol="false" tIns="0" lIns="0" bIns="0" rIns="0">
            <a:spAutoFit/>
          </a:bodyPr>
          <a:lstStyle/>
          <a:p>
            <a:pPr algn="l" marL="453390" indent="-226695" lvl="1">
              <a:lnSpc>
                <a:spcPts val="2730"/>
              </a:lnSpc>
              <a:buFont typeface="Arial"/>
              <a:buChar char="•"/>
            </a:pPr>
            <a:r>
              <a:rPr lang="en-US" sz="2100">
                <a:solidFill>
                  <a:srgbClr val="000000"/>
                </a:solidFill>
                <a:latin typeface="Open Sauce"/>
                <a:ea typeface="Open Sauce"/>
                <a:cs typeface="Open Sauce"/>
                <a:sym typeface="Open Sauce"/>
              </a:rPr>
              <a:t>Modest price increases absorbed by loyal customers.</a:t>
            </a:r>
          </a:p>
          <a:p>
            <a:pPr algn="l" marL="453390" indent="-226695" lvl="1">
              <a:lnSpc>
                <a:spcPts val="2730"/>
              </a:lnSpc>
              <a:buFont typeface="Arial"/>
              <a:buChar char="•"/>
            </a:pPr>
            <a:r>
              <a:rPr lang="en-US" sz="2100">
                <a:solidFill>
                  <a:srgbClr val="000000"/>
                </a:solidFill>
                <a:latin typeface="Open Sauce"/>
                <a:ea typeface="Open Sauce"/>
                <a:cs typeface="Open Sauce"/>
                <a:sym typeface="Open Sauce"/>
              </a:rPr>
              <a:t>Real-world example: Price hikes in 2022–2024 didn’t reduce traffic</a:t>
            </a:r>
          </a:p>
        </p:txBody>
      </p:sp>
      <p:sp>
        <p:nvSpPr>
          <p:cNvPr name="TextBox 9" id="9"/>
          <p:cNvSpPr txBox="true"/>
          <p:nvPr/>
        </p:nvSpPr>
        <p:spPr>
          <a:xfrm rot="0">
            <a:off x="9144000" y="6011863"/>
            <a:ext cx="2874632" cy="459740"/>
          </a:xfrm>
          <a:prstGeom prst="rect">
            <a:avLst/>
          </a:prstGeom>
        </p:spPr>
        <p:txBody>
          <a:bodyPr anchor="t" rtlCol="false" tIns="0" lIns="0" bIns="0" rIns="0">
            <a:spAutoFit/>
          </a:bodyPr>
          <a:lstStyle/>
          <a:p>
            <a:pPr algn="l">
              <a:lnSpc>
                <a:spcPts val="3639"/>
              </a:lnSpc>
            </a:pPr>
            <a:r>
              <a:rPr lang="en-US" sz="2799" b="true">
                <a:solidFill>
                  <a:srgbClr val="000000"/>
                </a:solidFill>
                <a:latin typeface="Open Sauce Bold"/>
                <a:ea typeface="Open Sauce Bold"/>
                <a:cs typeface="Open Sauce Bold"/>
                <a:sym typeface="Open Sauce Bold"/>
              </a:rPr>
              <a:t>Pricing Power:</a:t>
            </a:r>
          </a:p>
        </p:txBody>
      </p:sp>
      <p:sp>
        <p:nvSpPr>
          <p:cNvPr name="TextBox 10" id="10"/>
          <p:cNvSpPr txBox="true"/>
          <p:nvPr/>
        </p:nvSpPr>
        <p:spPr>
          <a:xfrm rot="0">
            <a:off x="2732145" y="318400"/>
            <a:ext cx="13323772" cy="1833880"/>
          </a:xfrm>
          <a:prstGeom prst="rect">
            <a:avLst/>
          </a:prstGeom>
        </p:spPr>
        <p:txBody>
          <a:bodyPr anchor="t" rtlCol="false" tIns="0" lIns="0" bIns="0" rIns="0">
            <a:spAutoFit/>
          </a:bodyPr>
          <a:lstStyle/>
          <a:p>
            <a:pPr algn="ctr">
              <a:lnSpc>
                <a:spcPts val="7280"/>
              </a:lnSpc>
            </a:pPr>
            <a:r>
              <a:rPr lang="en-US" sz="5600" b="true">
                <a:solidFill>
                  <a:srgbClr val="D83030"/>
                </a:solidFill>
                <a:latin typeface="Open Sauce Bold"/>
                <a:ea typeface="Open Sauce Bold"/>
                <a:cs typeface="Open Sauce Bold"/>
                <a:sym typeface="Open Sauce Bold"/>
              </a:rPr>
              <a:t>Chipotle’s</a:t>
            </a:r>
          </a:p>
          <a:p>
            <a:pPr algn="ctr">
              <a:lnSpc>
                <a:spcPts val="7280"/>
              </a:lnSpc>
            </a:pPr>
            <a:r>
              <a:rPr lang="en-US" sz="5600" b="true">
                <a:solidFill>
                  <a:srgbClr val="D83030"/>
                </a:solidFill>
                <a:latin typeface="Open Sauce Bold"/>
                <a:ea typeface="Open Sauce Bold"/>
                <a:cs typeface="Open Sauce Bold"/>
                <a:sym typeface="Open Sauce Bold"/>
              </a:rPr>
              <a:t>Differentiation &amp; Pricing Power</a:t>
            </a:r>
          </a:p>
        </p:txBody>
      </p:sp>
      <p:sp>
        <p:nvSpPr>
          <p:cNvPr name="TextBox 11" id="11"/>
          <p:cNvSpPr txBox="true"/>
          <p:nvPr/>
        </p:nvSpPr>
        <p:spPr>
          <a:xfrm rot="0">
            <a:off x="12644776" y="7681278"/>
            <a:ext cx="5218457" cy="687705"/>
          </a:xfrm>
          <a:prstGeom prst="rect">
            <a:avLst/>
          </a:prstGeom>
        </p:spPr>
        <p:txBody>
          <a:bodyPr anchor="t" rtlCol="false" tIns="0" lIns="0" bIns="0" rIns="0">
            <a:spAutoFit/>
          </a:bodyPr>
          <a:lstStyle/>
          <a:p>
            <a:pPr algn="l" marL="453390" indent="-226695" lvl="1">
              <a:lnSpc>
                <a:spcPts val="2730"/>
              </a:lnSpc>
              <a:buFont typeface="Arial"/>
              <a:buChar char="•"/>
            </a:pPr>
            <a:r>
              <a:rPr lang="en-US" sz="2100">
                <a:solidFill>
                  <a:srgbClr val="D83030"/>
                </a:solidFill>
                <a:latin typeface="Open Sauce"/>
                <a:ea typeface="Open Sauce"/>
                <a:cs typeface="Open Sauce"/>
                <a:sym typeface="Open Sauce"/>
              </a:rPr>
              <a:t>Reinforce brand loyalty to maintain flexibility</a:t>
            </a:r>
          </a:p>
        </p:txBody>
      </p:sp>
      <p:sp>
        <p:nvSpPr>
          <p:cNvPr name="TextBox 12" id="12"/>
          <p:cNvSpPr txBox="true"/>
          <p:nvPr/>
        </p:nvSpPr>
        <p:spPr>
          <a:xfrm rot="0">
            <a:off x="9144000" y="7671753"/>
            <a:ext cx="3405589" cy="916940"/>
          </a:xfrm>
          <a:prstGeom prst="rect">
            <a:avLst/>
          </a:prstGeom>
        </p:spPr>
        <p:txBody>
          <a:bodyPr anchor="t" rtlCol="false" tIns="0" lIns="0" bIns="0" rIns="0">
            <a:spAutoFit/>
          </a:bodyPr>
          <a:lstStyle/>
          <a:p>
            <a:pPr algn="l">
              <a:lnSpc>
                <a:spcPts val="3639"/>
              </a:lnSpc>
            </a:pPr>
            <a:r>
              <a:rPr lang="en-US" sz="2799" b="true">
                <a:solidFill>
                  <a:srgbClr val="D83030"/>
                </a:solidFill>
                <a:latin typeface="Open Sauce Bold"/>
                <a:ea typeface="Open Sauce Bold"/>
                <a:cs typeface="Open Sauce Bold"/>
                <a:sym typeface="Open Sauce Bold"/>
              </a:rPr>
              <a:t>Competitive Strategy:</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sp>
        <p:nvSpPr>
          <p:cNvPr name="TextBox 2" id="2"/>
          <p:cNvSpPr txBox="true"/>
          <p:nvPr/>
        </p:nvSpPr>
        <p:spPr>
          <a:xfrm rot="0">
            <a:off x="3324937" y="1383302"/>
            <a:ext cx="8550798" cy="2371725"/>
          </a:xfrm>
          <a:prstGeom prst="rect">
            <a:avLst/>
          </a:prstGeom>
        </p:spPr>
        <p:txBody>
          <a:bodyPr anchor="t" rtlCol="false" tIns="0" lIns="0" bIns="0" rIns="0">
            <a:spAutoFit/>
          </a:bodyPr>
          <a:lstStyle/>
          <a:p>
            <a:pPr algn="l">
              <a:lnSpc>
                <a:spcPts val="9389"/>
              </a:lnSpc>
            </a:pPr>
            <a:r>
              <a:rPr lang="en-US" sz="7824" spc="-555" b="true">
                <a:solidFill>
                  <a:srgbClr val="EDEDED"/>
                </a:solidFill>
                <a:latin typeface="Open Sauce Medium"/>
                <a:ea typeface="Open Sauce Medium"/>
                <a:cs typeface="Open Sauce Medium"/>
                <a:sym typeface="Open Sauce Medium"/>
              </a:rPr>
              <a:t>The Problem – Rising Labor Costs</a:t>
            </a:r>
          </a:p>
        </p:txBody>
      </p:sp>
      <p:grpSp>
        <p:nvGrpSpPr>
          <p:cNvPr name="Group 3" id="3"/>
          <p:cNvGrpSpPr/>
          <p:nvPr/>
        </p:nvGrpSpPr>
        <p:grpSpPr>
          <a:xfrm rot="0">
            <a:off x="1028700" y="4564633"/>
            <a:ext cx="5018018" cy="2048960"/>
            <a:chOff x="0" y="0"/>
            <a:chExt cx="1321618" cy="539644"/>
          </a:xfrm>
        </p:grpSpPr>
        <p:sp>
          <p:nvSpPr>
            <p:cNvPr name="Freeform 4" id="4"/>
            <p:cNvSpPr/>
            <p:nvPr/>
          </p:nvSpPr>
          <p:spPr>
            <a:xfrm flipH="false" flipV="false" rot="0">
              <a:off x="0" y="0"/>
              <a:ext cx="1321618" cy="539644"/>
            </a:xfrm>
            <a:custGeom>
              <a:avLst/>
              <a:gdLst/>
              <a:ahLst/>
              <a:cxnLst/>
              <a:rect r="r" b="b" t="t" l="l"/>
              <a:pathLst>
                <a:path h="539644" w="1321618">
                  <a:moveTo>
                    <a:pt x="53999" y="0"/>
                  </a:moveTo>
                  <a:lnTo>
                    <a:pt x="1267619" y="0"/>
                  </a:lnTo>
                  <a:cubicBezTo>
                    <a:pt x="1297442" y="0"/>
                    <a:pt x="1321618" y="24176"/>
                    <a:pt x="1321618" y="53999"/>
                  </a:cubicBezTo>
                  <a:lnTo>
                    <a:pt x="1321618" y="485645"/>
                  </a:lnTo>
                  <a:cubicBezTo>
                    <a:pt x="1321618" y="515468"/>
                    <a:pt x="1297442" y="539644"/>
                    <a:pt x="1267619" y="539644"/>
                  </a:cubicBezTo>
                  <a:lnTo>
                    <a:pt x="53999" y="539644"/>
                  </a:lnTo>
                  <a:cubicBezTo>
                    <a:pt x="24176" y="539644"/>
                    <a:pt x="0" y="515468"/>
                    <a:pt x="0" y="485645"/>
                  </a:cubicBezTo>
                  <a:lnTo>
                    <a:pt x="0" y="53999"/>
                  </a:lnTo>
                  <a:cubicBezTo>
                    <a:pt x="0" y="24176"/>
                    <a:pt x="24176" y="0"/>
                    <a:pt x="53999" y="0"/>
                  </a:cubicBezTo>
                  <a:close/>
                </a:path>
              </a:pathLst>
            </a:custGeom>
            <a:solidFill>
              <a:srgbClr val="EDEDED"/>
            </a:solidFill>
            <a:ln w="9525" cap="rnd">
              <a:solidFill>
                <a:srgbClr val="F4F4F4"/>
              </a:solidFill>
              <a:prstDash val="solid"/>
              <a:round/>
            </a:ln>
          </p:spPr>
        </p:sp>
        <p:sp>
          <p:nvSpPr>
            <p:cNvPr name="TextBox 5" id="5"/>
            <p:cNvSpPr txBox="true"/>
            <p:nvPr/>
          </p:nvSpPr>
          <p:spPr>
            <a:xfrm>
              <a:off x="0" y="-19050"/>
              <a:ext cx="1321618" cy="558694"/>
            </a:xfrm>
            <a:prstGeom prst="rect">
              <a:avLst/>
            </a:prstGeom>
          </p:spPr>
          <p:txBody>
            <a:bodyPr anchor="ctr" rtlCol="false" tIns="50800" lIns="50800" bIns="50800" rIns="50800"/>
            <a:lstStyle/>
            <a:p>
              <a:pPr algn="ctr">
                <a:lnSpc>
                  <a:spcPts val="1820"/>
                </a:lnSpc>
              </a:pPr>
            </a:p>
          </p:txBody>
        </p:sp>
      </p:grpSp>
      <p:sp>
        <p:nvSpPr>
          <p:cNvPr name="TextBox 6" id="6"/>
          <p:cNvSpPr txBox="true"/>
          <p:nvPr/>
        </p:nvSpPr>
        <p:spPr>
          <a:xfrm rot="0">
            <a:off x="1545005" y="5176088"/>
            <a:ext cx="3985407" cy="1030605"/>
          </a:xfrm>
          <a:prstGeom prst="rect">
            <a:avLst/>
          </a:prstGeom>
        </p:spPr>
        <p:txBody>
          <a:bodyPr anchor="t" rtlCol="false" tIns="0" lIns="0" bIns="0" rIns="0">
            <a:spAutoFit/>
          </a:bodyPr>
          <a:lstStyle/>
          <a:p>
            <a:pPr algn="l">
              <a:lnSpc>
                <a:spcPts val="2730"/>
              </a:lnSpc>
            </a:pPr>
            <a:r>
              <a:rPr lang="en-US" sz="2100">
                <a:solidFill>
                  <a:srgbClr val="D83030"/>
                </a:solidFill>
                <a:latin typeface="Open Sauce"/>
                <a:ea typeface="Open Sauce"/>
                <a:cs typeface="Open Sauce"/>
                <a:sym typeface="Open Sauce"/>
              </a:rPr>
              <a:t>Labor costs are rising sharply—California’s $20/hr minimum wage is a major example.</a:t>
            </a:r>
          </a:p>
        </p:txBody>
      </p:sp>
      <p:sp>
        <p:nvSpPr>
          <p:cNvPr name="TextBox 7" id="7"/>
          <p:cNvSpPr txBox="true"/>
          <p:nvPr/>
        </p:nvSpPr>
        <p:spPr>
          <a:xfrm rot="0">
            <a:off x="1028700" y="1006112"/>
            <a:ext cx="1928413" cy="3088005"/>
          </a:xfrm>
          <a:prstGeom prst="rect">
            <a:avLst/>
          </a:prstGeom>
        </p:spPr>
        <p:txBody>
          <a:bodyPr anchor="t" rtlCol="false" tIns="0" lIns="0" bIns="0" rIns="0">
            <a:spAutoFit/>
          </a:bodyPr>
          <a:lstStyle/>
          <a:p>
            <a:pPr algn="ctr">
              <a:lnSpc>
                <a:spcPts val="2729"/>
              </a:lnSpc>
            </a:pPr>
            <a:r>
              <a:rPr lang="en-US" sz="2099" b="true">
                <a:solidFill>
                  <a:srgbClr val="EDEDED"/>
                </a:solidFill>
                <a:latin typeface="Open Sauce Bold"/>
                <a:ea typeface="Open Sauce Bold"/>
                <a:cs typeface="Open Sauce Bold"/>
                <a:sym typeface="Open Sauce Bold"/>
              </a:rPr>
              <a:t>Chipotle needs to reduce dependency on labor while maintaining service quality.</a:t>
            </a:r>
          </a:p>
          <a:p>
            <a:pPr algn="ctr">
              <a:lnSpc>
                <a:spcPts val="2729"/>
              </a:lnSpc>
            </a:pPr>
          </a:p>
        </p:txBody>
      </p:sp>
      <p:grpSp>
        <p:nvGrpSpPr>
          <p:cNvPr name="Group 8" id="8"/>
          <p:cNvGrpSpPr/>
          <p:nvPr/>
        </p:nvGrpSpPr>
        <p:grpSpPr>
          <a:xfrm rot="0">
            <a:off x="-514964" y="7113149"/>
            <a:ext cx="16230600" cy="3374290"/>
            <a:chOff x="0" y="0"/>
            <a:chExt cx="3383291" cy="703375"/>
          </a:xfrm>
        </p:grpSpPr>
        <p:sp>
          <p:nvSpPr>
            <p:cNvPr name="Freeform 9" id="9"/>
            <p:cNvSpPr/>
            <p:nvPr/>
          </p:nvSpPr>
          <p:spPr>
            <a:xfrm flipH="false" flipV="false" rot="0">
              <a:off x="0" y="0"/>
              <a:ext cx="3383291" cy="703375"/>
            </a:xfrm>
            <a:custGeom>
              <a:avLst/>
              <a:gdLst/>
              <a:ahLst/>
              <a:cxnLst/>
              <a:rect r="r" b="b" t="t" l="l"/>
              <a:pathLst>
                <a:path h="703375" w="3383291">
                  <a:moveTo>
                    <a:pt x="16695" y="0"/>
                  </a:moveTo>
                  <a:lnTo>
                    <a:pt x="3366596" y="0"/>
                  </a:lnTo>
                  <a:cubicBezTo>
                    <a:pt x="3371024" y="0"/>
                    <a:pt x="3375270" y="1759"/>
                    <a:pt x="3378401" y="4890"/>
                  </a:cubicBezTo>
                  <a:cubicBezTo>
                    <a:pt x="3381532" y="8021"/>
                    <a:pt x="3383291" y="12267"/>
                    <a:pt x="3383291" y="16695"/>
                  </a:cubicBezTo>
                  <a:lnTo>
                    <a:pt x="3383291" y="686681"/>
                  </a:lnTo>
                  <a:cubicBezTo>
                    <a:pt x="3383291" y="695901"/>
                    <a:pt x="3375816" y="703375"/>
                    <a:pt x="3366596" y="703375"/>
                  </a:cubicBezTo>
                  <a:lnTo>
                    <a:pt x="16695" y="703375"/>
                  </a:lnTo>
                  <a:cubicBezTo>
                    <a:pt x="12267" y="703375"/>
                    <a:pt x="8021" y="701616"/>
                    <a:pt x="4890" y="698486"/>
                  </a:cubicBezTo>
                  <a:cubicBezTo>
                    <a:pt x="1759" y="695355"/>
                    <a:pt x="0" y="691108"/>
                    <a:pt x="0" y="686681"/>
                  </a:cubicBezTo>
                  <a:lnTo>
                    <a:pt x="0" y="16695"/>
                  </a:lnTo>
                  <a:cubicBezTo>
                    <a:pt x="0" y="12267"/>
                    <a:pt x="1759" y="8021"/>
                    <a:pt x="4890" y="4890"/>
                  </a:cubicBezTo>
                  <a:cubicBezTo>
                    <a:pt x="8021" y="1759"/>
                    <a:pt x="12267" y="0"/>
                    <a:pt x="16695" y="0"/>
                  </a:cubicBezTo>
                  <a:close/>
                </a:path>
              </a:pathLst>
            </a:custGeom>
            <a:blipFill>
              <a:blip r:embed="rId2"/>
              <a:stretch>
                <a:fillRect l="0" t="-113542" r="0" b="-113542"/>
              </a:stretch>
            </a:blipFill>
          </p:spPr>
        </p:sp>
      </p:grpSp>
      <p:grpSp>
        <p:nvGrpSpPr>
          <p:cNvPr name="Group 10" id="10"/>
          <p:cNvGrpSpPr/>
          <p:nvPr/>
        </p:nvGrpSpPr>
        <p:grpSpPr>
          <a:xfrm rot="0">
            <a:off x="6634991" y="4564633"/>
            <a:ext cx="5018018" cy="2048960"/>
            <a:chOff x="0" y="0"/>
            <a:chExt cx="1321618" cy="539644"/>
          </a:xfrm>
        </p:grpSpPr>
        <p:sp>
          <p:nvSpPr>
            <p:cNvPr name="Freeform 11" id="11"/>
            <p:cNvSpPr/>
            <p:nvPr/>
          </p:nvSpPr>
          <p:spPr>
            <a:xfrm flipH="false" flipV="false" rot="0">
              <a:off x="0" y="0"/>
              <a:ext cx="1321618" cy="539644"/>
            </a:xfrm>
            <a:custGeom>
              <a:avLst/>
              <a:gdLst/>
              <a:ahLst/>
              <a:cxnLst/>
              <a:rect r="r" b="b" t="t" l="l"/>
              <a:pathLst>
                <a:path h="539644" w="1321618">
                  <a:moveTo>
                    <a:pt x="53999" y="0"/>
                  </a:moveTo>
                  <a:lnTo>
                    <a:pt x="1267619" y="0"/>
                  </a:lnTo>
                  <a:cubicBezTo>
                    <a:pt x="1297442" y="0"/>
                    <a:pt x="1321618" y="24176"/>
                    <a:pt x="1321618" y="53999"/>
                  </a:cubicBezTo>
                  <a:lnTo>
                    <a:pt x="1321618" y="485645"/>
                  </a:lnTo>
                  <a:cubicBezTo>
                    <a:pt x="1321618" y="515468"/>
                    <a:pt x="1297442" y="539644"/>
                    <a:pt x="1267619" y="539644"/>
                  </a:cubicBezTo>
                  <a:lnTo>
                    <a:pt x="53999" y="539644"/>
                  </a:lnTo>
                  <a:cubicBezTo>
                    <a:pt x="24176" y="539644"/>
                    <a:pt x="0" y="515468"/>
                    <a:pt x="0" y="485645"/>
                  </a:cubicBezTo>
                  <a:lnTo>
                    <a:pt x="0" y="53999"/>
                  </a:lnTo>
                  <a:cubicBezTo>
                    <a:pt x="0" y="24176"/>
                    <a:pt x="24176" y="0"/>
                    <a:pt x="53999" y="0"/>
                  </a:cubicBezTo>
                  <a:close/>
                </a:path>
              </a:pathLst>
            </a:custGeom>
            <a:solidFill>
              <a:srgbClr val="D83030"/>
            </a:solidFill>
            <a:ln w="9525" cap="rnd">
              <a:solidFill>
                <a:srgbClr val="F4F4F4"/>
              </a:solidFill>
              <a:prstDash val="solid"/>
              <a:round/>
            </a:ln>
          </p:spPr>
        </p:sp>
        <p:sp>
          <p:nvSpPr>
            <p:cNvPr name="TextBox 12" id="12"/>
            <p:cNvSpPr txBox="true"/>
            <p:nvPr/>
          </p:nvSpPr>
          <p:spPr>
            <a:xfrm>
              <a:off x="0" y="-19050"/>
              <a:ext cx="1321618" cy="558694"/>
            </a:xfrm>
            <a:prstGeom prst="rect">
              <a:avLst/>
            </a:prstGeom>
          </p:spPr>
          <p:txBody>
            <a:bodyPr anchor="ctr" rtlCol="false" tIns="50800" lIns="50800" bIns="50800" rIns="50800"/>
            <a:lstStyle/>
            <a:p>
              <a:pPr algn="ctr">
                <a:lnSpc>
                  <a:spcPts val="1820"/>
                </a:lnSpc>
              </a:pPr>
            </a:p>
          </p:txBody>
        </p:sp>
      </p:grpSp>
      <p:sp>
        <p:nvSpPr>
          <p:cNvPr name="TextBox 13" id="13"/>
          <p:cNvSpPr txBox="true"/>
          <p:nvPr/>
        </p:nvSpPr>
        <p:spPr>
          <a:xfrm rot="0">
            <a:off x="7151296" y="5115403"/>
            <a:ext cx="3985407" cy="1030605"/>
          </a:xfrm>
          <a:prstGeom prst="rect">
            <a:avLst/>
          </a:prstGeom>
        </p:spPr>
        <p:txBody>
          <a:bodyPr anchor="t" rtlCol="false" tIns="0" lIns="0" bIns="0" rIns="0">
            <a:spAutoFit/>
          </a:bodyPr>
          <a:lstStyle/>
          <a:p>
            <a:pPr algn="l">
              <a:lnSpc>
                <a:spcPts val="2729"/>
              </a:lnSpc>
            </a:pPr>
            <a:r>
              <a:rPr lang="en-US" sz="2099">
                <a:solidFill>
                  <a:srgbClr val="EDEDED"/>
                </a:solidFill>
                <a:latin typeface="Open Sauce"/>
                <a:ea typeface="Open Sauce"/>
                <a:cs typeface="Open Sauce"/>
                <a:sym typeface="Open Sauce"/>
              </a:rPr>
              <a:t>Nationwide labor shortages in the restaurant industry; 70% of operators report vacancies.</a:t>
            </a:r>
          </a:p>
        </p:txBody>
      </p:sp>
      <p:grpSp>
        <p:nvGrpSpPr>
          <p:cNvPr name="Group 14" id="14"/>
          <p:cNvGrpSpPr/>
          <p:nvPr/>
        </p:nvGrpSpPr>
        <p:grpSpPr>
          <a:xfrm rot="0">
            <a:off x="12243559" y="4564633"/>
            <a:ext cx="5018018" cy="2048960"/>
            <a:chOff x="0" y="0"/>
            <a:chExt cx="1321618" cy="539644"/>
          </a:xfrm>
        </p:grpSpPr>
        <p:sp>
          <p:nvSpPr>
            <p:cNvPr name="Freeform 15" id="15"/>
            <p:cNvSpPr/>
            <p:nvPr/>
          </p:nvSpPr>
          <p:spPr>
            <a:xfrm flipH="false" flipV="false" rot="0">
              <a:off x="0" y="0"/>
              <a:ext cx="1321618" cy="539644"/>
            </a:xfrm>
            <a:custGeom>
              <a:avLst/>
              <a:gdLst/>
              <a:ahLst/>
              <a:cxnLst/>
              <a:rect r="r" b="b" t="t" l="l"/>
              <a:pathLst>
                <a:path h="539644" w="1321618">
                  <a:moveTo>
                    <a:pt x="53999" y="0"/>
                  </a:moveTo>
                  <a:lnTo>
                    <a:pt x="1267619" y="0"/>
                  </a:lnTo>
                  <a:cubicBezTo>
                    <a:pt x="1297442" y="0"/>
                    <a:pt x="1321618" y="24176"/>
                    <a:pt x="1321618" y="53999"/>
                  </a:cubicBezTo>
                  <a:lnTo>
                    <a:pt x="1321618" y="485645"/>
                  </a:lnTo>
                  <a:cubicBezTo>
                    <a:pt x="1321618" y="515468"/>
                    <a:pt x="1297442" y="539644"/>
                    <a:pt x="1267619" y="539644"/>
                  </a:cubicBezTo>
                  <a:lnTo>
                    <a:pt x="53999" y="539644"/>
                  </a:lnTo>
                  <a:cubicBezTo>
                    <a:pt x="24176" y="539644"/>
                    <a:pt x="0" y="515468"/>
                    <a:pt x="0" y="485645"/>
                  </a:cubicBezTo>
                  <a:lnTo>
                    <a:pt x="0" y="53999"/>
                  </a:lnTo>
                  <a:cubicBezTo>
                    <a:pt x="0" y="24176"/>
                    <a:pt x="24176" y="0"/>
                    <a:pt x="53999" y="0"/>
                  </a:cubicBezTo>
                  <a:close/>
                </a:path>
              </a:pathLst>
            </a:custGeom>
            <a:solidFill>
              <a:srgbClr val="EDEDED"/>
            </a:solidFill>
            <a:ln w="9525" cap="rnd">
              <a:solidFill>
                <a:srgbClr val="F4F4F4"/>
              </a:solidFill>
              <a:prstDash val="solid"/>
              <a:round/>
            </a:ln>
          </p:spPr>
        </p:sp>
        <p:sp>
          <p:nvSpPr>
            <p:cNvPr name="TextBox 16" id="16"/>
            <p:cNvSpPr txBox="true"/>
            <p:nvPr/>
          </p:nvSpPr>
          <p:spPr>
            <a:xfrm>
              <a:off x="0" y="-19050"/>
              <a:ext cx="1321618" cy="558694"/>
            </a:xfrm>
            <a:prstGeom prst="rect">
              <a:avLst/>
            </a:prstGeom>
          </p:spPr>
          <p:txBody>
            <a:bodyPr anchor="ctr" rtlCol="false" tIns="50800" lIns="50800" bIns="50800" rIns="50800"/>
            <a:lstStyle/>
            <a:p>
              <a:pPr algn="ctr">
                <a:lnSpc>
                  <a:spcPts val="1820"/>
                </a:lnSpc>
              </a:pPr>
            </a:p>
          </p:txBody>
        </p:sp>
      </p:grpSp>
      <p:sp>
        <p:nvSpPr>
          <p:cNvPr name="TextBox 17" id="17"/>
          <p:cNvSpPr txBox="true"/>
          <p:nvPr/>
        </p:nvSpPr>
        <p:spPr>
          <a:xfrm rot="0">
            <a:off x="12759865" y="4943953"/>
            <a:ext cx="3985407" cy="1373505"/>
          </a:xfrm>
          <a:prstGeom prst="rect">
            <a:avLst/>
          </a:prstGeom>
        </p:spPr>
        <p:txBody>
          <a:bodyPr anchor="t" rtlCol="false" tIns="0" lIns="0" bIns="0" rIns="0">
            <a:spAutoFit/>
          </a:bodyPr>
          <a:lstStyle/>
          <a:p>
            <a:pPr algn="l">
              <a:lnSpc>
                <a:spcPts val="2729"/>
              </a:lnSpc>
            </a:pPr>
            <a:r>
              <a:rPr lang="en-US" sz="2099">
                <a:solidFill>
                  <a:srgbClr val="D83030"/>
                </a:solidFill>
                <a:latin typeface="Open Sauce"/>
                <a:ea typeface="Open Sauce"/>
                <a:cs typeface="Open Sauce"/>
                <a:sym typeface="Open Sauce"/>
              </a:rPr>
              <a:t>Chipotle's labor costs historically make up 25–30% of revenue—pressure is increasing.</a:t>
            </a:r>
          </a:p>
        </p:txBody>
      </p:sp>
      <p:sp>
        <p:nvSpPr>
          <p:cNvPr name="Freeform 18" id="18"/>
          <p:cNvSpPr/>
          <p:nvPr/>
        </p:nvSpPr>
        <p:spPr>
          <a:xfrm flipH="false" flipV="false" rot="0">
            <a:off x="10476568" y="647972"/>
            <a:ext cx="782707" cy="782707"/>
          </a:xfrm>
          <a:custGeom>
            <a:avLst/>
            <a:gdLst/>
            <a:ahLst/>
            <a:cxnLst/>
            <a:rect r="r" b="b" t="t" l="l"/>
            <a:pathLst>
              <a:path h="782707" w="782707">
                <a:moveTo>
                  <a:pt x="0" y="0"/>
                </a:moveTo>
                <a:lnTo>
                  <a:pt x="782707" y="0"/>
                </a:lnTo>
                <a:lnTo>
                  <a:pt x="782707" y="782707"/>
                </a:lnTo>
                <a:lnTo>
                  <a:pt x="0" y="7827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2243559" y="1034687"/>
            <a:ext cx="5015741" cy="2755013"/>
            <a:chOff x="0" y="0"/>
            <a:chExt cx="1045538" cy="574286"/>
          </a:xfrm>
        </p:grpSpPr>
        <p:sp>
          <p:nvSpPr>
            <p:cNvPr name="Freeform 20" id="20"/>
            <p:cNvSpPr/>
            <p:nvPr/>
          </p:nvSpPr>
          <p:spPr>
            <a:xfrm flipH="false" flipV="false" rot="0">
              <a:off x="0" y="0"/>
              <a:ext cx="1045538" cy="574286"/>
            </a:xfrm>
            <a:custGeom>
              <a:avLst/>
              <a:gdLst/>
              <a:ahLst/>
              <a:cxnLst/>
              <a:rect r="r" b="b" t="t" l="l"/>
              <a:pathLst>
                <a:path h="574286" w="1045538">
                  <a:moveTo>
                    <a:pt x="54023" y="0"/>
                  </a:moveTo>
                  <a:lnTo>
                    <a:pt x="991515" y="0"/>
                  </a:lnTo>
                  <a:cubicBezTo>
                    <a:pt x="1021351" y="0"/>
                    <a:pt x="1045538" y="24187"/>
                    <a:pt x="1045538" y="54023"/>
                  </a:cubicBezTo>
                  <a:lnTo>
                    <a:pt x="1045538" y="520263"/>
                  </a:lnTo>
                  <a:cubicBezTo>
                    <a:pt x="1045538" y="534591"/>
                    <a:pt x="1039846" y="548332"/>
                    <a:pt x="1029715" y="558463"/>
                  </a:cubicBezTo>
                  <a:cubicBezTo>
                    <a:pt x="1019584" y="568594"/>
                    <a:pt x="1005843" y="574286"/>
                    <a:pt x="991515" y="574286"/>
                  </a:cubicBezTo>
                  <a:lnTo>
                    <a:pt x="54023" y="574286"/>
                  </a:lnTo>
                  <a:cubicBezTo>
                    <a:pt x="24187" y="574286"/>
                    <a:pt x="0" y="550099"/>
                    <a:pt x="0" y="520263"/>
                  </a:cubicBezTo>
                  <a:lnTo>
                    <a:pt x="0" y="54023"/>
                  </a:lnTo>
                  <a:cubicBezTo>
                    <a:pt x="0" y="24187"/>
                    <a:pt x="24187" y="0"/>
                    <a:pt x="54023" y="0"/>
                  </a:cubicBezTo>
                  <a:close/>
                </a:path>
              </a:pathLst>
            </a:custGeom>
            <a:blipFill>
              <a:blip r:embed="rId5"/>
              <a:stretch>
                <a:fillRect l="0" t="0" r="0" b="-21296"/>
              </a:stretch>
            </a:blipFill>
          </p:spPr>
        </p:sp>
      </p:grpSp>
      <p:sp>
        <p:nvSpPr>
          <p:cNvPr name="TextBox 21" id="21"/>
          <p:cNvSpPr txBox="true"/>
          <p:nvPr/>
        </p:nvSpPr>
        <p:spPr>
          <a:xfrm rot="0">
            <a:off x="9139238" y="5019040"/>
            <a:ext cx="9525" cy="229870"/>
          </a:xfrm>
          <a:prstGeom prst="rect">
            <a:avLst/>
          </a:prstGeom>
        </p:spPr>
        <p:txBody>
          <a:bodyPr anchor="t" rtlCol="false" tIns="0" lIns="0" bIns="0" rIns="0">
            <a:spAutoFit/>
          </a:bodyPr>
          <a:lstStyle/>
          <a:p>
            <a:pPr algn="ctr">
              <a:lnSpc>
                <a:spcPts val="1820"/>
              </a:lnSpc>
              <a:spcBef>
                <a:spcPct val="0"/>
              </a:spcBef>
            </a:pPr>
          </a:p>
        </p:txBody>
      </p:sp>
      <p:sp>
        <p:nvSpPr>
          <p:cNvPr name="TextBox 22" id="22"/>
          <p:cNvSpPr txBox="true"/>
          <p:nvPr/>
        </p:nvSpPr>
        <p:spPr>
          <a:xfrm rot="0">
            <a:off x="3324937" y="562247"/>
            <a:ext cx="2772668" cy="811530"/>
          </a:xfrm>
          <a:prstGeom prst="rect">
            <a:avLst/>
          </a:prstGeom>
        </p:spPr>
        <p:txBody>
          <a:bodyPr anchor="t" rtlCol="false" tIns="0" lIns="0" bIns="0" rIns="0">
            <a:spAutoFit/>
          </a:bodyPr>
          <a:lstStyle/>
          <a:p>
            <a:pPr algn="ctr">
              <a:lnSpc>
                <a:spcPts val="6719"/>
              </a:lnSpc>
            </a:pPr>
            <a:r>
              <a:rPr lang="en-US" sz="4800" b="true">
                <a:solidFill>
                  <a:srgbClr val="FFFFFF"/>
                </a:solidFill>
                <a:latin typeface="Canva Sans Bold"/>
                <a:ea typeface="Canva Sans Bold"/>
                <a:cs typeface="Canva Sans Bold"/>
                <a:sym typeface="Canva Sans Bold"/>
              </a:rPr>
              <a:t>Mo</a:t>
            </a:r>
            <a:r>
              <a:rPr lang="en-US" b="true" sz="4800">
                <a:solidFill>
                  <a:srgbClr val="FFFFFF"/>
                </a:solidFill>
                <a:latin typeface="Canva Sans Bold"/>
                <a:ea typeface="Canva Sans Bold"/>
                <a:cs typeface="Canva Sans Bold"/>
                <a:sym typeface="Canva Sans Bold"/>
              </a:rPr>
              <a:t>dule 5</a:t>
            </a:r>
          </a:p>
        </p:txBody>
      </p:sp>
      <p:grpSp>
        <p:nvGrpSpPr>
          <p:cNvPr name="Group 23" id="23"/>
          <p:cNvGrpSpPr/>
          <p:nvPr/>
        </p:nvGrpSpPr>
        <p:grpSpPr>
          <a:xfrm rot="0">
            <a:off x="14562050" y="7113149"/>
            <a:ext cx="2973412" cy="297341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38333" r="0" b="-38333"/>
              </a:stretch>
            </a:blipFill>
          </p:spPr>
        </p:sp>
      </p:gr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name="TextBox 2" id="2"/>
          <p:cNvSpPr txBox="true"/>
          <p:nvPr/>
        </p:nvSpPr>
        <p:spPr>
          <a:xfrm rot="0">
            <a:off x="9508983" y="5756115"/>
            <a:ext cx="8065935" cy="3835507"/>
          </a:xfrm>
          <a:prstGeom prst="rect">
            <a:avLst/>
          </a:prstGeom>
        </p:spPr>
        <p:txBody>
          <a:bodyPr anchor="t" rtlCol="false" tIns="0" lIns="0" bIns="0" rIns="0">
            <a:spAutoFit/>
          </a:bodyPr>
          <a:lstStyle/>
          <a:p>
            <a:pPr algn="l">
              <a:lnSpc>
                <a:spcPts val="10045"/>
              </a:lnSpc>
            </a:pPr>
            <a:r>
              <a:rPr lang="en-US" sz="8371" spc="-594" b="true">
                <a:solidFill>
                  <a:srgbClr val="D83030"/>
                </a:solidFill>
                <a:latin typeface="Open Sauce Medium"/>
                <a:ea typeface="Open Sauce Medium"/>
                <a:cs typeface="Open Sauce Medium"/>
                <a:sym typeface="Open Sauce Medium"/>
              </a:rPr>
              <a:t>Automation as a Strategic Response</a:t>
            </a:r>
          </a:p>
        </p:txBody>
      </p:sp>
      <p:sp>
        <p:nvSpPr>
          <p:cNvPr name="TextBox 3" id="3"/>
          <p:cNvSpPr txBox="true"/>
          <p:nvPr/>
        </p:nvSpPr>
        <p:spPr>
          <a:xfrm rot="0">
            <a:off x="12424668" y="1965725"/>
            <a:ext cx="4834632" cy="388620"/>
          </a:xfrm>
          <a:prstGeom prst="rect">
            <a:avLst/>
          </a:prstGeom>
        </p:spPr>
        <p:txBody>
          <a:bodyPr anchor="t" rtlCol="false" tIns="0" lIns="0" bIns="0" rIns="0">
            <a:spAutoFit/>
          </a:bodyPr>
          <a:lstStyle/>
          <a:p>
            <a:pPr algn="l">
              <a:lnSpc>
                <a:spcPts val="3119"/>
              </a:lnSpc>
            </a:pPr>
            <a:r>
              <a:rPr lang="en-US" sz="2399">
                <a:solidFill>
                  <a:srgbClr val="D83030"/>
                </a:solidFill>
                <a:latin typeface="Open Sauce"/>
                <a:ea typeface="Open Sauce"/>
                <a:cs typeface="Open Sauce"/>
                <a:sym typeface="Open Sauce"/>
              </a:rPr>
              <a:t>Cuts costs</a:t>
            </a:r>
          </a:p>
        </p:txBody>
      </p:sp>
      <p:sp>
        <p:nvSpPr>
          <p:cNvPr name="TextBox 4" id="4"/>
          <p:cNvSpPr txBox="true"/>
          <p:nvPr/>
        </p:nvSpPr>
        <p:spPr>
          <a:xfrm rot="0">
            <a:off x="12424668" y="2478170"/>
            <a:ext cx="4834632" cy="388620"/>
          </a:xfrm>
          <a:prstGeom prst="rect">
            <a:avLst/>
          </a:prstGeom>
        </p:spPr>
        <p:txBody>
          <a:bodyPr anchor="t" rtlCol="false" tIns="0" lIns="0" bIns="0" rIns="0">
            <a:spAutoFit/>
          </a:bodyPr>
          <a:lstStyle/>
          <a:p>
            <a:pPr algn="l">
              <a:lnSpc>
                <a:spcPts val="3119"/>
              </a:lnSpc>
            </a:pPr>
            <a:r>
              <a:rPr lang="en-US" sz="2399">
                <a:solidFill>
                  <a:srgbClr val="000000"/>
                </a:solidFill>
                <a:latin typeface="Open Sauce"/>
                <a:ea typeface="Open Sauce"/>
                <a:cs typeface="Open Sauce"/>
                <a:sym typeface="Open Sauce"/>
              </a:rPr>
              <a:t>Increases throughput</a:t>
            </a:r>
          </a:p>
        </p:txBody>
      </p:sp>
      <p:sp>
        <p:nvSpPr>
          <p:cNvPr name="TextBox 5" id="5"/>
          <p:cNvSpPr txBox="true"/>
          <p:nvPr/>
        </p:nvSpPr>
        <p:spPr>
          <a:xfrm rot="0">
            <a:off x="8878055" y="3642476"/>
            <a:ext cx="2368456" cy="916940"/>
          </a:xfrm>
          <a:prstGeom prst="rect">
            <a:avLst/>
          </a:prstGeom>
        </p:spPr>
        <p:txBody>
          <a:bodyPr anchor="t" rtlCol="false" tIns="0" lIns="0" bIns="0" rIns="0">
            <a:spAutoFit/>
          </a:bodyPr>
          <a:lstStyle/>
          <a:p>
            <a:pPr algn="l">
              <a:lnSpc>
                <a:spcPts val="3639"/>
              </a:lnSpc>
            </a:pPr>
            <a:r>
              <a:rPr lang="en-US" sz="2799" b="true">
                <a:solidFill>
                  <a:srgbClr val="D83030"/>
                </a:solidFill>
                <a:latin typeface="Open Sauce Bold"/>
                <a:ea typeface="Open Sauce Bold"/>
                <a:cs typeface="Open Sauce Bold"/>
                <a:sym typeface="Open Sauce Bold"/>
              </a:rPr>
              <a:t>Why automation?</a:t>
            </a:r>
          </a:p>
        </p:txBody>
      </p:sp>
      <p:sp>
        <p:nvSpPr>
          <p:cNvPr name="TextBox 6" id="6"/>
          <p:cNvSpPr txBox="true"/>
          <p:nvPr/>
        </p:nvSpPr>
        <p:spPr>
          <a:xfrm rot="0">
            <a:off x="12424668" y="3030930"/>
            <a:ext cx="4834632" cy="388620"/>
          </a:xfrm>
          <a:prstGeom prst="rect">
            <a:avLst/>
          </a:prstGeom>
        </p:spPr>
        <p:txBody>
          <a:bodyPr anchor="t" rtlCol="false" tIns="0" lIns="0" bIns="0" rIns="0">
            <a:spAutoFit/>
          </a:bodyPr>
          <a:lstStyle/>
          <a:p>
            <a:pPr algn="l">
              <a:lnSpc>
                <a:spcPts val="3120"/>
              </a:lnSpc>
            </a:pPr>
            <a:r>
              <a:rPr lang="en-US" sz="2400">
                <a:solidFill>
                  <a:srgbClr val="D83030"/>
                </a:solidFill>
                <a:latin typeface="Open Sauce"/>
                <a:ea typeface="Open Sauce"/>
                <a:cs typeface="Open Sauce"/>
                <a:sym typeface="Open Sauce"/>
              </a:rPr>
              <a:t>Enhances consistency</a:t>
            </a:r>
          </a:p>
        </p:txBody>
      </p:sp>
      <p:sp>
        <p:nvSpPr>
          <p:cNvPr name="TextBox 7" id="7"/>
          <p:cNvSpPr txBox="true"/>
          <p:nvPr/>
        </p:nvSpPr>
        <p:spPr>
          <a:xfrm rot="0">
            <a:off x="12424668" y="3652001"/>
            <a:ext cx="4834632" cy="779145"/>
          </a:xfrm>
          <a:prstGeom prst="rect">
            <a:avLst/>
          </a:prstGeom>
        </p:spPr>
        <p:txBody>
          <a:bodyPr anchor="t" rtlCol="false" tIns="0" lIns="0" bIns="0" rIns="0">
            <a:spAutoFit/>
          </a:bodyPr>
          <a:lstStyle/>
          <a:p>
            <a:pPr algn="l">
              <a:lnSpc>
                <a:spcPts val="3120"/>
              </a:lnSpc>
            </a:pPr>
            <a:r>
              <a:rPr lang="en-US" sz="2400">
                <a:solidFill>
                  <a:srgbClr val="000000"/>
                </a:solidFill>
                <a:latin typeface="Open Sauce"/>
                <a:ea typeface="Open Sauce"/>
                <a:cs typeface="Open Sauce"/>
                <a:sym typeface="Open Sauce"/>
              </a:rPr>
              <a:t>Frees up staff for customer-facing roles</a:t>
            </a:r>
          </a:p>
        </p:txBody>
      </p:sp>
      <p:grpSp>
        <p:nvGrpSpPr>
          <p:cNvPr name="Group 8" id="8"/>
          <p:cNvGrpSpPr/>
          <p:nvPr/>
        </p:nvGrpSpPr>
        <p:grpSpPr>
          <a:xfrm rot="0">
            <a:off x="1348939" y="3531953"/>
            <a:ext cx="6571660" cy="5794194"/>
            <a:chOff x="0" y="0"/>
            <a:chExt cx="1815150" cy="1600407"/>
          </a:xfrm>
        </p:grpSpPr>
        <p:sp>
          <p:nvSpPr>
            <p:cNvPr name="Freeform 9" id="9"/>
            <p:cNvSpPr/>
            <p:nvPr/>
          </p:nvSpPr>
          <p:spPr>
            <a:xfrm flipH="false" flipV="false" rot="0">
              <a:off x="0" y="0"/>
              <a:ext cx="1815150" cy="1600407"/>
            </a:xfrm>
            <a:custGeom>
              <a:avLst/>
              <a:gdLst/>
              <a:ahLst/>
              <a:cxnLst/>
              <a:rect r="r" b="b" t="t" l="l"/>
              <a:pathLst>
                <a:path h="1600407" w="1815150">
                  <a:moveTo>
                    <a:pt x="41233" y="0"/>
                  </a:moveTo>
                  <a:lnTo>
                    <a:pt x="1773917" y="0"/>
                  </a:lnTo>
                  <a:cubicBezTo>
                    <a:pt x="1784853" y="0"/>
                    <a:pt x="1795341" y="4344"/>
                    <a:pt x="1803073" y="12077"/>
                  </a:cubicBezTo>
                  <a:cubicBezTo>
                    <a:pt x="1810806" y="19809"/>
                    <a:pt x="1815150" y="30297"/>
                    <a:pt x="1815150" y="41233"/>
                  </a:cubicBezTo>
                  <a:lnTo>
                    <a:pt x="1815150" y="1559175"/>
                  </a:lnTo>
                  <a:cubicBezTo>
                    <a:pt x="1815150" y="1570110"/>
                    <a:pt x="1810806" y="1580598"/>
                    <a:pt x="1803073" y="1588331"/>
                  </a:cubicBezTo>
                  <a:cubicBezTo>
                    <a:pt x="1795341" y="1596063"/>
                    <a:pt x="1784853" y="1600407"/>
                    <a:pt x="1773917" y="1600407"/>
                  </a:cubicBezTo>
                  <a:lnTo>
                    <a:pt x="41233" y="1600407"/>
                  </a:lnTo>
                  <a:cubicBezTo>
                    <a:pt x="30297" y="1600407"/>
                    <a:pt x="19809" y="1596063"/>
                    <a:pt x="12077" y="1588331"/>
                  </a:cubicBezTo>
                  <a:cubicBezTo>
                    <a:pt x="4344" y="1580598"/>
                    <a:pt x="0" y="1570110"/>
                    <a:pt x="0" y="1559175"/>
                  </a:cubicBezTo>
                  <a:lnTo>
                    <a:pt x="0" y="41233"/>
                  </a:lnTo>
                  <a:cubicBezTo>
                    <a:pt x="0" y="30297"/>
                    <a:pt x="4344" y="19809"/>
                    <a:pt x="12077" y="12077"/>
                  </a:cubicBezTo>
                  <a:cubicBezTo>
                    <a:pt x="19809" y="4344"/>
                    <a:pt x="30297" y="0"/>
                    <a:pt x="41233" y="0"/>
                  </a:cubicBezTo>
                  <a:close/>
                </a:path>
              </a:pathLst>
            </a:custGeom>
            <a:solidFill>
              <a:srgbClr val="EDEDED"/>
            </a:solidFill>
            <a:ln w="9525" cap="rnd">
              <a:solidFill>
                <a:srgbClr val="D83030"/>
              </a:solidFill>
              <a:prstDash val="solid"/>
              <a:round/>
            </a:ln>
          </p:spPr>
        </p:sp>
        <p:sp>
          <p:nvSpPr>
            <p:cNvPr name="TextBox 10" id="10"/>
            <p:cNvSpPr txBox="true"/>
            <p:nvPr/>
          </p:nvSpPr>
          <p:spPr>
            <a:xfrm>
              <a:off x="0" y="-19050"/>
              <a:ext cx="1815150" cy="1619457"/>
            </a:xfrm>
            <a:prstGeom prst="rect">
              <a:avLst/>
            </a:prstGeom>
          </p:spPr>
          <p:txBody>
            <a:bodyPr anchor="ctr" rtlCol="false" tIns="50800" lIns="50800" bIns="50800" rIns="50800"/>
            <a:lstStyle/>
            <a:p>
              <a:pPr algn="ctr">
                <a:lnSpc>
                  <a:spcPts val="1820"/>
                </a:lnSpc>
              </a:pPr>
            </a:p>
          </p:txBody>
        </p:sp>
      </p:grpSp>
      <p:grpSp>
        <p:nvGrpSpPr>
          <p:cNvPr name="Group 11" id="11"/>
          <p:cNvGrpSpPr/>
          <p:nvPr/>
        </p:nvGrpSpPr>
        <p:grpSpPr>
          <a:xfrm rot="0">
            <a:off x="2183391" y="4293435"/>
            <a:ext cx="4745893" cy="4343902"/>
            <a:chOff x="0" y="0"/>
            <a:chExt cx="395871" cy="362339"/>
          </a:xfrm>
        </p:grpSpPr>
        <p:sp>
          <p:nvSpPr>
            <p:cNvPr name="Freeform 12" id="12"/>
            <p:cNvSpPr/>
            <p:nvPr/>
          </p:nvSpPr>
          <p:spPr>
            <a:xfrm flipH="false" flipV="false" rot="0">
              <a:off x="0" y="0"/>
              <a:ext cx="395871" cy="362339"/>
            </a:xfrm>
            <a:custGeom>
              <a:avLst/>
              <a:gdLst/>
              <a:ahLst/>
              <a:cxnLst/>
              <a:rect r="r" b="b" t="t" l="l"/>
              <a:pathLst>
                <a:path h="362339" w="395871">
                  <a:moveTo>
                    <a:pt x="57095" y="0"/>
                  </a:moveTo>
                  <a:lnTo>
                    <a:pt x="338776" y="0"/>
                  </a:lnTo>
                  <a:cubicBezTo>
                    <a:pt x="370308" y="0"/>
                    <a:pt x="395871" y="25562"/>
                    <a:pt x="395871" y="57095"/>
                  </a:cubicBezTo>
                  <a:lnTo>
                    <a:pt x="395871" y="305244"/>
                  </a:lnTo>
                  <a:cubicBezTo>
                    <a:pt x="395871" y="336777"/>
                    <a:pt x="370308" y="362339"/>
                    <a:pt x="338776" y="362339"/>
                  </a:cubicBezTo>
                  <a:lnTo>
                    <a:pt x="57095" y="362339"/>
                  </a:lnTo>
                  <a:cubicBezTo>
                    <a:pt x="25562" y="362339"/>
                    <a:pt x="0" y="336777"/>
                    <a:pt x="0" y="305244"/>
                  </a:cubicBezTo>
                  <a:lnTo>
                    <a:pt x="0" y="57095"/>
                  </a:lnTo>
                  <a:cubicBezTo>
                    <a:pt x="0" y="25562"/>
                    <a:pt x="25562" y="0"/>
                    <a:pt x="57095" y="0"/>
                  </a:cubicBezTo>
                  <a:close/>
                </a:path>
              </a:pathLst>
            </a:custGeom>
            <a:blipFill>
              <a:blip r:embed="rId2"/>
              <a:stretch>
                <a:fillRect l="0" t="-4627" r="0" b="-4627"/>
              </a:stretch>
            </a:blipFill>
          </p:spPr>
        </p:sp>
      </p:grpSp>
      <p:sp>
        <p:nvSpPr>
          <p:cNvPr name="Freeform 13" id="13"/>
          <p:cNvSpPr/>
          <p:nvPr/>
        </p:nvSpPr>
        <p:spPr>
          <a:xfrm flipH="false" flipV="false" rot="0">
            <a:off x="7482247" y="5990699"/>
            <a:ext cx="876703" cy="876703"/>
          </a:xfrm>
          <a:custGeom>
            <a:avLst/>
            <a:gdLst/>
            <a:ahLst/>
            <a:cxnLst/>
            <a:rect r="r" b="b" t="t" l="l"/>
            <a:pathLst>
              <a:path h="876703" w="876703">
                <a:moveTo>
                  <a:pt x="0" y="0"/>
                </a:moveTo>
                <a:lnTo>
                  <a:pt x="876703" y="0"/>
                </a:lnTo>
                <a:lnTo>
                  <a:pt x="876703" y="876703"/>
                </a:lnTo>
                <a:lnTo>
                  <a:pt x="0" y="8767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66800" y="837323"/>
            <a:ext cx="9459827" cy="2402205"/>
          </a:xfrm>
          <a:prstGeom prst="rect">
            <a:avLst/>
          </a:prstGeom>
        </p:spPr>
        <p:txBody>
          <a:bodyPr anchor="t" rtlCol="false" tIns="0" lIns="0" bIns="0" rIns="0">
            <a:spAutoFit/>
          </a:bodyPr>
          <a:lstStyle/>
          <a:p>
            <a:pPr algn="l">
              <a:lnSpc>
                <a:spcPts val="2730"/>
              </a:lnSpc>
            </a:pPr>
            <a:r>
              <a:rPr lang="en-US" sz="2100">
                <a:solidFill>
                  <a:srgbClr val="D83030"/>
                </a:solidFill>
                <a:latin typeface="Open Sauce"/>
                <a:ea typeface="Open Sauce"/>
                <a:cs typeface="Open Sauce"/>
                <a:sym typeface="Open Sauce"/>
              </a:rPr>
              <a:t>Key tools:</a:t>
            </a:r>
          </a:p>
          <a:p>
            <a:pPr algn="l" marL="453390" indent="-226695" lvl="1">
              <a:lnSpc>
                <a:spcPts val="2730"/>
              </a:lnSpc>
              <a:buFont typeface="Arial"/>
              <a:buChar char="•"/>
            </a:pPr>
            <a:r>
              <a:rPr lang="en-US" sz="2100">
                <a:solidFill>
                  <a:srgbClr val="D83030"/>
                </a:solidFill>
                <a:latin typeface="Open Sauce"/>
                <a:ea typeface="Open Sauce"/>
                <a:cs typeface="Open Sauce"/>
                <a:sym typeface="Open Sauce"/>
              </a:rPr>
              <a:t>Dig</a:t>
            </a:r>
            <a:r>
              <a:rPr lang="en-US" sz="2100">
                <a:solidFill>
                  <a:srgbClr val="D83030"/>
                </a:solidFill>
                <a:latin typeface="Open Sauce"/>
                <a:ea typeface="Open Sauce"/>
                <a:cs typeface="Open Sauce"/>
                <a:sym typeface="Open Sauce"/>
              </a:rPr>
              <a:t>ital Makeline: Automates online order prep, improves peak-hour capacity by 20%.</a:t>
            </a:r>
          </a:p>
          <a:p>
            <a:pPr algn="l" marL="453390" indent="-226695" lvl="1">
              <a:lnSpc>
                <a:spcPts val="2730"/>
              </a:lnSpc>
              <a:buFont typeface="Arial"/>
              <a:buChar char="•"/>
            </a:pPr>
            <a:r>
              <a:rPr lang="en-US" sz="2100">
                <a:solidFill>
                  <a:srgbClr val="D83030"/>
                </a:solidFill>
                <a:latin typeface="Open Sauce"/>
                <a:ea typeface="Open Sauce"/>
                <a:cs typeface="Open Sauce"/>
                <a:sym typeface="Open Sauce"/>
              </a:rPr>
              <a:t>Autocado: Avocado prep robot; saves $30,000+/store/year.</a:t>
            </a:r>
          </a:p>
          <a:p>
            <a:pPr algn="l" marL="453390" indent="-226695" lvl="1">
              <a:lnSpc>
                <a:spcPts val="2730"/>
              </a:lnSpc>
              <a:buFont typeface="Arial"/>
              <a:buChar char="•"/>
            </a:pPr>
            <a:r>
              <a:rPr lang="en-US" sz="2100">
                <a:solidFill>
                  <a:srgbClr val="D83030"/>
                </a:solidFill>
                <a:latin typeface="Open Sauce"/>
                <a:ea typeface="Open Sauce"/>
                <a:cs typeface="Open Sauce"/>
                <a:sym typeface="Open Sauce"/>
              </a:rPr>
              <a:t>Chippy: Robot for chip frying and seasoning; reduces labor by 60% for that task.</a:t>
            </a:r>
          </a:p>
          <a:p>
            <a:pPr algn="l">
              <a:lnSpc>
                <a:spcPts val="2730"/>
              </a:lnSpc>
            </a:pPr>
          </a:p>
        </p:txBody>
      </p:sp>
      <p:grpSp>
        <p:nvGrpSpPr>
          <p:cNvPr name="Group 15" id="15"/>
          <p:cNvGrpSpPr/>
          <p:nvPr/>
        </p:nvGrpSpPr>
        <p:grpSpPr>
          <a:xfrm rot="0">
            <a:off x="15258566" y="7313588"/>
            <a:ext cx="2973412" cy="297341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38333" r="0" b="-38333"/>
              </a:stretch>
            </a:blipFill>
          </p:spPr>
        </p:sp>
      </p:gr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sp>
        <p:nvSpPr>
          <p:cNvPr name="TextBox 2" id="2"/>
          <p:cNvSpPr txBox="true"/>
          <p:nvPr/>
        </p:nvSpPr>
        <p:spPr>
          <a:xfrm rot="0">
            <a:off x="7977452" y="1019175"/>
            <a:ext cx="10310548" cy="1254135"/>
          </a:xfrm>
          <a:prstGeom prst="rect">
            <a:avLst/>
          </a:prstGeom>
        </p:spPr>
        <p:txBody>
          <a:bodyPr anchor="t" rtlCol="false" tIns="0" lIns="0" bIns="0" rIns="0">
            <a:spAutoFit/>
          </a:bodyPr>
          <a:lstStyle/>
          <a:p>
            <a:pPr algn="l">
              <a:lnSpc>
                <a:spcPts val="9828"/>
              </a:lnSpc>
            </a:pPr>
            <a:r>
              <a:rPr lang="en-US" sz="8190" spc="-581" b="true">
                <a:solidFill>
                  <a:srgbClr val="EDEDED"/>
                </a:solidFill>
                <a:latin typeface="Open Sauce Medium"/>
                <a:ea typeface="Open Sauce Medium"/>
                <a:cs typeface="Open Sauce Medium"/>
                <a:sym typeface="Open Sauce Medium"/>
              </a:rPr>
              <a:t>Economic Rationale</a:t>
            </a:r>
          </a:p>
        </p:txBody>
      </p:sp>
      <p:grpSp>
        <p:nvGrpSpPr>
          <p:cNvPr name="Group 3" id="3"/>
          <p:cNvGrpSpPr/>
          <p:nvPr/>
        </p:nvGrpSpPr>
        <p:grpSpPr>
          <a:xfrm rot="0">
            <a:off x="6937351" y="2947844"/>
            <a:ext cx="10105624" cy="5168784"/>
            <a:chOff x="0" y="0"/>
            <a:chExt cx="2661563" cy="1361326"/>
          </a:xfrm>
        </p:grpSpPr>
        <p:sp>
          <p:nvSpPr>
            <p:cNvPr name="Freeform 4" id="4"/>
            <p:cNvSpPr/>
            <p:nvPr/>
          </p:nvSpPr>
          <p:spPr>
            <a:xfrm flipH="false" flipV="false" rot="0">
              <a:off x="0" y="0"/>
              <a:ext cx="2661564" cy="1361326"/>
            </a:xfrm>
            <a:custGeom>
              <a:avLst/>
              <a:gdLst/>
              <a:ahLst/>
              <a:cxnLst/>
              <a:rect r="r" b="b" t="t" l="l"/>
              <a:pathLst>
                <a:path h="1361326" w="2661564">
                  <a:moveTo>
                    <a:pt x="26814" y="0"/>
                  </a:moveTo>
                  <a:lnTo>
                    <a:pt x="2634750" y="0"/>
                  </a:lnTo>
                  <a:cubicBezTo>
                    <a:pt x="2649559" y="0"/>
                    <a:pt x="2661564" y="12005"/>
                    <a:pt x="2661564" y="26814"/>
                  </a:cubicBezTo>
                  <a:lnTo>
                    <a:pt x="2661564" y="1334512"/>
                  </a:lnTo>
                  <a:cubicBezTo>
                    <a:pt x="2661564" y="1341624"/>
                    <a:pt x="2658738" y="1348444"/>
                    <a:pt x="2653710" y="1353472"/>
                  </a:cubicBezTo>
                  <a:cubicBezTo>
                    <a:pt x="2648682" y="1358501"/>
                    <a:pt x="2641861" y="1361326"/>
                    <a:pt x="2634750" y="1361326"/>
                  </a:cubicBezTo>
                  <a:lnTo>
                    <a:pt x="26814" y="1361326"/>
                  </a:lnTo>
                  <a:cubicBezTo>
                    <a:pt x="19702" y="1361326"/>
                    <a:pt x="12882" y="1358501"/>
                    <a:pt x="7853" y="1353472"/>
                  </a:cubicBezTo>
                  <a:cubicBezTo>
                    <a:pt x="2825" y="1348444"/>
                    <a:pt x="0" y="1341624"/>
                    <a:pt x="0" y="1334512"/>
                  </a:cubicBezTo>
                  <a:lnTo>
                    <a:pt x="0" y="26814"/>
                  </a:lnTo>
                  <a:cubicBezTo>
                    <a:pt x="0" y="12005"/>
                    <a:pt x="12005" y="0"/>
                    <a:pt x="26814" y="0"/>
                  </a:cubicBezTo>
                  <a:close/>
                </a:path>
              </a:pathLst>
            </a:custGeom>
            <a:solidFill>
              <a:srgbClr val="D83030"/>
            </a:solidFill>
            <a:ln w="9525" cap="rnd">
              <a:solidFill>
                <a:srgbClr val="F4F4F4"/>
              </a:solidFill>
              <a:prstDash val="solid"/>
              <a:round/>
            </a:ln>
          </p:spPr>
        </p:sp>
        <p:sp>
          <p:nvSpPr>
            <p:cNvPr name="TextBox 5" id="5"/>
            <p:cNvSpPr txBox="true"/>
            <p:nvPr/>
          </p:nvSpPr>
          <p:spPr>
            <a:xfrm>
              <a:off x="0" y="-19050"/>
              <a:ext cx="2661563" cy="1380376"/>
            </a:xfrm>
            <a:prstGeom prst="rect">
              <a:avLst/>
            </a:prstGeom>
          </p:spPr>
          <p:txBody>
            <a:bodyPr anchor="ctr" rtlCol="false" tIns="50800" lIns="50800" bIns="50800" rIns="50800"/>
            <a:lstStyle/>
            <a:p>
              <a:pPr algn="ctr">
                <a:lnSpc>
                  <a:spcPts val="1820"/>
                </a:lnSpc>
              </a:pPr>
            </a:p>
          </p:txBody>
        </p:sp>
      </p:grpSp>
      <p:grpSp>
        <p:nvGrpSpPr>
          <p:cNvPr name="Group 6" id="6"/>
          <p:cNvGrpSpPr/>
          <p:nvPr/>
        </p:nvGrpSpPr>
        <p:grpSpPr>
          <a:xfrm rot="0">
            <a:off x="367903" y="5336560"/>
            <a:ext cx="7448814" cy="4653975"/>
            <a:chOff x="0" y="0"/>
            <a:chExt cx="1961828" cy="1225738"/>
          </a:xfrm>
        </p:grpSpPr>
        <p:sp>
          <p:nvSpPr>
            <p:cNvPr name="Freeform 7" id="7"/>
            <p:cNvSpPr/>
            <p:nvPr/>
          </p:nvSpPr>
          <p:spPr>
            <a:xfrm flipH="false" flipV="false" rot="0">
              <a:off x="0" y="0"/>
              <a:ext cx="1961828" cy="1225738"/>
            </a:xfrm>
            <a:custGeom>
              <a:avLst/>
              <a:gdLst/>
              <a:ahLst/>
              <a:cxnLst/>
              <a:rect r="r" b="b" t="t" l="l"/>
              <a:pathLst>
                <a:path h="1225738" w="1961828">
                  <a:moveTo>
                    <a:pt x="36377" y="0"/>
                  </a:moveTo>
                  <a:lnTo>
                    <a:pt x="1925450" y="0"/>
                  </a:lnTo>
                  <a:cubicBezTo>
                    <a:pt x="1935098" y="0"/>
                    <a:pt x="1944351" y="3833"/>
                    <a:pt x="1951173" y="10655"/>
                  </a:cubicBezTo>
                  <a:cubicBezTo>
                    <a:pt x="1957995" y="17477"/>
                    <a:pt x="1961828" y="26729"/>
                    <a:pt x="1961828" y="36377"/>
                  </a:cubicBezTo>
                  <a:lnTo>
                    <a:pt x="1961828" y="1189361"/>
                  </a:lnTo>
                  <a:cubicBezTo>
                    <a:pt x="1961828" y="1209452"/>
                    <a:pt x="1945541" y="1225738"/>
                    <a:pt x="1925450" y="1225738"/>
                  </a:cubicBezTo>
                  <a:lnTo>
                    <a:pt x="36377" y="1225738"/>
                  </a:lnTo>
                  <a:cubicBezTo>
                    <a:pt x="16287" y="1225738"/>
                    <a:pt x="0" y="1209452"/>
                    <a:pt x="0" y="1189361"/>
                  </a:cubicBezTo>
                  <a:lnTo>
                    <a:pt x="0" y="36377"/>
                  </a:lnTo>
                  <a:cubicBezTo>
                    <a:pt x="0" y="16287"/>
                    <a:pt x="16287" y="0"/>
                    <a:pt x="36377" y="0"/>
                  </a:cubicBezTo>
                  <a:close/>
                </a:path>
              </a:pathLst>
            </a:custGeom>
            <a:solidFill>
              <a:srgbClr val="EDEDED"/>
            </a:solidFill>
            <a:ln w="9525" cap="rnd">
              <a:solidFill>
                <a:srgbClr val="F4F4F4"/>
              </a:solidFill>
              <a:prstDash val="solid"/>
              <a:round/>
            </a:ln>
          </p:spPr>
        </p:sp>
        <p:sp>
          <p:nvSpPr>
            <p:cNvPr name="TextBox 8" id="8"/>
            <p:cNvSpPr txBox="true"/>
            <p:nvPr/>
          </p:nvSpPr>
          <p:spPr>
            <a:xfrm>
              <a:off x="0" y="-19050"/>
              <a:ext cx="1961828" cy="1244788"/>
            </a:xfrm>
            <a:prstGeom prst="rect">
              <a:avLst/>
            </a:prstGeom>
          </p:spPr>
          <p:txBody>
            <a:bodyPr anchor="ctr" rtlCol="false" tIns="50800" lIns="50800" bIns="50800" rIns="50800"/>
            <a:lstStyle/>
            <a:p>
              <a:pPr algn="ctr">
                <a:lnSpc>
                  <a:spcPts val="1820"/>
                </a:lnSpc>
              </a:pPr>
            </a:p>
          </p:txBody>
        </p:sp>
      </p:grpSp>
      <p:sp>
        <p:nvSpPr>
          <p:cNvPr name="TextBox 9" id="9"/>
          <p:cNvSpPr txBox="true"/>
          <p:nvPr/>
        </p:nvSpPr>
        <p:spPr>
          <a:xfrm rot="0">
            <a:off x="696861" y="5660113"/>
            <a:ext cx="6456815" cy="4116705"/>
          </a:xfrm>
          <a:prstGeom prst="rect">
            <a:avLst/>
          </a:prstGeom>
        </p:spPr>
        <p:txBody>
          <a:bodyPr anchor="t" rtlCol="false" tIns="0" lIns="0" bIns="0" rIns="0">
            <a:spAutoFit/>
          </a:bodyPr>
          <a:lstStyle/>
          <a:p>
            <a:pPr algn="just" marL="453390" indent="-226695" lvl="1">
              <a:lnSpc>
                <a:spcPts val="2730"/>
              </a:lnSpc>
              <a:buFont typeface="Arial"/>
              <a:buChar char="•"/>
            </a:pPr>
            <a:r>
              <a:rPr lang="en-US" b="true" sz="2100">
                <a:solidFill>
                  <a:srgbClr val="D83030"/>
                </a:solidFill>
                <a:latin typeface="Open Sauce Bold"/>
                <a:ea typeface="Open Sauce Bold"/>
                <a:cs typeface="Open Sauce Bold"/>
                <a:sym typeface="Open Sauce Bold"/>
              </a:rPr>
              <a:t>Capital for Labor Substitution: Classic microeconomic concept—shift short-run average cost curve downward.</a:t>
            </a:r>
          </a:p>
          <a:p>
            <a:pPr algn="just" marL="453390" indent="-226695" lvl="1">
              <a:lnSpc>
                <a:spcPts val="2730"/>
              </a:lnSpc>
              <a:buFont typeface="Arial"/>
              <a:buChar char="•"/>
            </a:pPr>
            <a:r>
              <a:rPr lang="en-US" b="true" sz="2100">
                <a:solidFill>
                  <a:srgbClr val="D83030"/>
                </a:solidFill>
                <a:latin typeface="Open Sauce Bold"/>
                <a:ea typeface="Open Sauce Bold"/>
                <a:cs typeface="Open Sauce Bold"/>
                <a:sym typeface="Open Sauce Bold"/>
              </a:rPr>
              <a:t>Improves Total Factor Productivity: Same output with fewer labor hours.</a:t>
            </a:r>
          </a:p>
          <a:p>
            <a:pPr algn="just" marL="453390" indent="-226695" lvl="1">
              <a:lnSpc>
                <a:spcPts val="2730"/>
              </a:lnSpc>
              <a:buFont typeface="Arial"/>
              <a:buChar char="•"/>
            </a:pPr>
            <a:r>
              <a:rPr lang="en-US" b="true" sz="2100">
                <a:solidFill>
                  <a:srgbClr val="D83030"/>
                </a:solidFill>
                <a:latin typeface="Open Sauce Bold"/>
                <a:ea typeface="Open Sauce Bold"/>
                <a:cs typeface="Open Sauce Bold"/>
                <a:sym typeface="Open Sauce Bold"/>
              </a:rPr>
              <a:t>Automation helps sustain profit margins without constant price increases.</a:t>
            </a:r>
          </a:p>
          <a:p>
            <a:pPr algn="just" marL="453390" indent="-226695" lvl="1">
              <a:lnSpc>
                <a:spcPts val="2730"/>
              </a:lnSpc>
              <a:buFont typeface="Arial"/>
              <a:buChar char="•"/>
            </a:pPr>
            <a:r>
              <a:rPr lang="en-US" b="true" sz="2100">
                <a:solidFill>
                  <a:srgbClr val="D83030"/>
                </a:solidFill>
                <a:latin typeface="Open Sauce Bold"/>
                <a:ea typeface="Open Sauce Bold"/>
                <a:cs typeface="Open Sauce Bold"/>
                <a:sym typeface="Open Sauce Bold"/>
              </a:rPr>
              <a:t>Mini economic insight: This is Chipotle's way of managing a tighter labor market using technology instead of layoffs or massive price hikes.</a:t>
            </a:r>
          </a:p>
          <a:p>
            <a:pPr algn="just">
              <a:lnSpc>
                <a:spcPts val="2730"/>
              </a:lnSpc>
            </a:pPr>
          </a:p>
        </p:txBody>
      </p:sp>
      <p:grpSp>
        <p:nvGrpSpPr>
          <p:cNvPr name="Group 10" id="10"/>
          <p:cNvGrpSpPr/>
          <p:nvPr/>
        </p:nvGrpSpPr>
        <p:grpSpPr>
          <a:xfrm rot="0">
            <a:off x="8461385" y="3736554"/>
            <a:ext cx="7881332" cy="3591364"/>
            <a:chOff x="0" y="0"/>
            <a:chExt cx="533363" cy="243043"/>
          </a:xfrm>
        </p:grpSpPr>
        <p:sp>
          <p:nvSpPr>
            <p:cNvPr name="Freeform 11" id="11"/>
            <p:cNvSpPr/>
            <p:nvPr/>
          </p:nvSpPr>
          <p:spPr>
            <a:xfrm flipH="false" flipV="false" rot="0">
              <a:off x="0" y="0"/>
              <a:ext cx="533363" cy="243043"/>
            </a:xfrm>
            <a:custGeom>
              <a:avLst/>
              <a:gdLst/>
              <a:ahLst/>
              <a:cxnLst/>
              <a:rect r="r" b="b" t="t" l="l"/>
              <a:pathLst>
                <a:path h="243043" w="533363">
                  <a:moveTo>
                    <a:pt x="34381" y="0"/>
                  </a:moveTo>
                  <a:lnTo>
                    <a:pt x="498982" y="0"/>
                  </a:lnTo>
                  <a:cubicBezTo>
                    <a:pt x="517970" y="0"/>
                    <a:pt x="533363" y="15393"/>
                    <a:pt x="533363" y="34381"/>
                  </a:cubicBezTo>
                  <a:lnTo>
                    <a:pt x="533363" y="208662"/>
                  </a:lnTo>
                  <a:cubicBezTo>
                    <a:pt x="533363" y="227650"/>
                    <a:pt x="517970" y="243043"/>
                    <a:pt x="498982" y="243043"/>
                  </a:cubicBezTo>
                  <a:lnTo>
                    <a:pt x="34381" y="243043"/>
                  </a:lnTo>
                  <a:cubicBezTo>
                    <a:pt x="25263" y="243043"/>
                    <a:pt x="16518" y="239421"/>
                    <a:pt x="10070" y="232973"/>
                  </a:cubicBezTo>
                  <a:cubicBezTo>
                    <a:pt x="3622" y="226525"/>
                    <a:pt x="0" y="217780"/>
                    <a:pt x="0" y="208662"/>
                  </a:cubicBezTo>
                  <a:lnTo>
                    <a:pt x="0" y="34381"/>
                  </a:lnTo>
                  <a:cubicBezTo>
                    <a:pt x="0" y="15393"/>
                    <a:pt x="15393" y="0"/>
                    <a:pt x="34381" y="0"/>
                  </a:cubicBezTo>
                  <a:close/>
                </a:path>
              </a:pathLst>
            </a:custGeom>
            <a:blipFill>
              <a:blip r:embed="rId2"/>
              <a:stretch>
                <a:fillRect l="0" t="-23242" r="0" b="-23242"/>
              </a:stretch>
            </a:blipFill>
          </p:spPr>
        </p:sp>
      </p:grpSp>
      <p:sp>
        <p:nvSpPr>
          <p:cNvPr name="Freeform 12" id="12"/>
          <p:cNvSpPr/>
          <p:nvPr/>
        </p:nvSpPr>
        <p:spPr>
          <a:xfrm flipH="false" flipV="false" rot="0">
            <a:off x="8927675" y="2556491"/>
            <a:ext cx="782707" cy="782707"/>
          </a:xfrm>
          <a:custGeom>
            <a:avLst/>
            <a:gdLst/>
            <a:ahLst/>
            <a:cxnLst/>
            <a:rect r="r" b="b" t="t" l="l"/>
            <a:pathLst>
              <a:path h="782707" w="782707">
                <a:moveTo>
                  <a:pt x="0" y="0"/>
                </a:moveTo>
                <a:lnTo>
                  <a:pt x="782706" y="0"/>
                </a:lnTo>
                <a:lnTo>
                  <a:pt x="782706" y="782707"/>
                </a:lnTo>
                <a:lnTo>
                  <a:pt x="0" y="7827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2302410" y="-274885"/>
            <a:ext cx="3579800" cy="3591364"/>
            <a:chOff x="0" y="0"/>
            <a:chExt cx="242260" cy="243043"/>
          </a:xfrm>
        </p:grpSpPr>
        <p:sp>
          <p:nvSpPr>
            <p:cNvPr name="Freeform 14" id="14"/>
            <p:cNvSpPr/>
            <p:nvPr/>
          </p:nvSpPr>
          <p:spPr>
            <a:xfrm flipH="false" flipV="false" rot="0">
              <a:off x="0" y="0"/>
              <a:ext cx="242260" cy="243043"/>
            </a:xfrm>
            <a:custGeom>
              <a:avLst/>
              <a:gdLst/>
              <a:ahLst/>
              <a:cxnLst/>
              <a:rect r="r" b="b" t="t" l="l"/>
              <a:pathLst>
                <a:path h="243043" w="242260">
                  <a:moveTo>
                    <a:pt x="75693" y="0"/>
                  </a:moveTo>
                  <a:lnTo>
                    <a:pt x="166567" y="0"/>
                  </a:lnTo>
                  <a:cubicBezTo>
                    <a:pt x="186642" y="0"/>
                    <a:pt x="205895" y="7975"/>
                    <a:pt x="220090" y="22170"/>
                  </a:cubicBezTo>
                  <a:cubicBezTo>
                    <a:pt x="234285" y="36365"/>
                    <a:pt x="242260" y="55618"/>
                    <a:pt x="242260" y="75693"/>
                  </a:cubicBezTo>
                  <a:lnTo>
                    <a:pt x="242260" y="167349"/>
                  </a:lnTo>
                  <a:cubicBezTo>
                    <a:pt x="242260" y="187425"/>
                    <a:pt x="234285" y="206677"/>
                    <a:pt x="220090" y="220873"/>
                  </a:cubicBezTo>
                  <a:cubicBezTo>
                    <a:pt x="205895" y="235068"/>
                    <a:pt x="186642" y="243043"/>
                    <a:pt x="166567" y="243043"/>
                  </a:cubicBezTo>
                  <a:lnTo>
                    <a:pt x="75693" y="243043"/>
                  </a:lnTo>
                  <a:cubicBezTo>
                    <a:pt x="55618" y="243043"/>
                    <a:pt x="36365" y="235068"/>
                    <a:pt x="22170" y="220873"/>
                  </a:cubicBezTo>
                  <a:cubicBezTo>
                    <a:pt x="7975" y="206677"/>
                    <a:pt x="0" y="187425"/>
                    <a:pt x="0" y="167349"/>
                  </a:cubicBezTo>
                  <a:lnTo>
                    <a:pt x="0" y="75693"/>
                  </a:lnTo>
                  <a:cubicBezTo>
                    <a:pt x="0" y="55618"/>
                    <a:pt x="7975" y="36365"/>
                    <a:pt x="22170" y="22170"/>
                  </a:cubicBezTo>
                  <a:cubicBezTo>
                    <a:pt x="36365" y="7975"/>
                    <a:pt x="55618" y="0"/>
                    <a:pt x="75693" y="0"/>
                  </a:cubicBezTo>
                  <a:close/>
                </a:path>
              </a:pathLst>
            </a:custGeom>
            <a:blipFill>
              <a:blip r:embed="rId5"/>
              <a:stretch>
                <a:fillRect l="-5704" t="0" r="-45726" b="0"/>
              </a:stretch>
            </a:blipFill>
          </p:spPr>
        </p:sp>
      </p:grpSp>
      <p:sp>
        <p:nvSpPr>
          <p:cNvPr name="Freeform 15" id="15"/>
          <p:cNvSpPr/>
          <p:nvPr/>
        </p:nvSpPr>
        <p:spPr>
          <a:xfrm flipH="false" flipV="false" rot="0">
            <a:off x="17042975" y="9314913"/>
            <a:ext cx="923810" cy="923810"/>
          </a:xfrm>
          <a:custGeom>
            <a:avLst/>
            <a:gdLst/>
            <a:ahLst/>
            <a:cxnLst/>
            <a:rect r="r" b="b" t="t" l="l"/>
            <a:pathLst>
              <a:path h="923810" w="923810">
                <a:moveTo>
                  <a:pt x="0" y="0"/>
                </a:moveTo>
                <a:lnTo>
                  <a:pt x="923810" y="0"/>
                </a:lnTo>
                <a:lnTo>
                  <a:pt x="923810" y="923810"/>
                </a:lnTo>
                <a:lnTo>
                  <a:pt x="0" y="9238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14993372" y="7017122"/>
            <a:ext cx="2973412" cy="29734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38333" r="0" b="-38333"/>
              </a:stretch>
            </a:blipFill>
          </p:spPr>
        </p:sp>
      </p:gr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1028700" y="5939367"/>
            <a:ext cx="4280646" cy="1766587"/>
            <a:chOff x="0" y="0"/>
            <a:chExt cx="1073663" cy="443092"/>
          </a:xfrm>
        </p:grpSpPr>
        <p:sp>
          <p:nvSpPr>
            <p:cNvPr name="Freeform 3" id="3"/>
            <p:cNvSpPr/>
            <p:nvPr/>
          </p:nvSpPr>
          <p:spPr>
            <a:xfrm flipH="false" flipV="false" rot="0">
              <a:off x="0" y="0"/>
              <a:ext cx="1073663" cy="443092"/>
            </a:xfrm>
            <a:custGeom>
              <a:avLst/>
              <a:gdLst/>
              <a:ahLst/>
              <a:cxnLst/>
              <a:rect r="r" b="b" t="t" l="l"/>
              <a:pathLst>
                <a:path h="443092" w="1073663">
                  <a:moveTo>
                    <a:pt x="45215" y="0"/>
                  </a:moveTo>
                  <a:lnTo>
                    <a:pt x="1028449" y="0"/>
                  </a:lnTo>
                  <a:cubicBezTo>
                    <a:pt x="1053420" y="0"/>
                    <a:pt x="1073663" y="20243"/>
                    <a:pt x="1073663" y="45215"/>
                  </a:cubicBezTo>
                  <a:lnTo>
                    <a:pt x="1073663" y="397877"/>
                  </a:lnTo>
                  <a:cubicBezTo>
                    <a:pt x="1073663" y="422849"/>
                    <a:pt x="1053420" y="443092"/>
                    <a:pt x="1028449" y="443092"/>
                  </a:cubicBezTo>
                  <a:lnTo>
                    <a:pt x="45215" y="443092"/>
                  </a:lnTo>
                  <a:cubicBezTo>
                    <a:pt x="33223" y="443092"/>
                    <a:pt x="21722" y="438328"/>
                    <a:pt x="13243" y="429849"/>
                  </a:cubicBezTo>
                  <a:cubicBezTo>
                    <a:pt x="4764" y="421370"/>
                    <a:pt x="0" y="409869"/>
                    <a:pt x="0" y="397877"/>
                  </a:cubicBezTo>
                  <a:lnTo>
                    <a:pt x="0" y="45215"/>
                  </a:lnTo>
                  <a:cubicBezTo>
                    <a:pt x="0" y="20243"/>
                    <a:pt x="20243" y="0"/>
                    <a:pt x="45215" y="0"/>
                  </a:cubicBezTo>
                  <a:close/>
                </a:path>
              </a:pathLst>
            </a:custGeom>
            <a:solidFill>
              <a:srgbClr val="D83030"/>
            </a:solidFill>
            <a:ln w="9525" cap="rnd">
              <a:solidFill>
                <a:srgbClr val="D83030"/>
              </a:solidFill>
              <a:prstDash val="solid"/>
              <a:round/>
            </a:ln>
          </p:spPr>
        </p:sp>
        <p:sp>
          <p:nvSpPr>
            <p:cNvPr name="TextBox 4" id="4"/>
            <p:cNvSpPr txBox="true"/>
            <p:nvPr/>
          </p:nvSpPr>
          <p:spPr>
            <a:xfrm>
              <a:off x="0" y="-19050"/>
              <a:ext cx="1073663" cy="462142"/>
            </a:xfrm>
            <a:prstGeom prst="rect">
              <a:avLst/>
            </a:prstGeom>
          </p:spPr>
          <p:txBody>
            <a:bodyPr anchor="ctr" rtlCol="false" tIns="50800" lIns="50800" bIns="50800" rIns="50800"/>
            <a:lstStyle/>
            <a:p>
              <a:pPr algn="ctr">
                <a:lnSpc>
                  <a:spcPts val="1820"/>
                </a:lnSpc>
              </a:pPr>
            </a:p>
          </p:txBody>
        </p:sp>
      </p:grpSp>
      <p:grpSp>
        <p:nvGrpSpPr>
          <p:cNvPr name="Group 5" id="5"/>
          <p:cNvGrpSpPr/>
          <p:nvPr/>
        </p:nvGrpSpPr>
        <p:grpSpPr>
          <a:xfrm rot="0">
            <a:off x="5733750" y="7705954"/>
            <a:ext cx="4280646" cy="1766587"/>
            <a:chOff x="0" y="0"/>
            <a:chExt cx="1073663" cy="443092"/>
          </a:xfrm>
        </p:grpSpPr>
        <p:sp>
          <p:nvSpPr>
            <p:cNvPr name="Freeform 6" id="6"/>
            <p:cNvSpPr/>
            <p:nvPr/>
          </p:nvSpPr>
          <p:spPr>
            <a:xfrm flipH="false" flipV="false" rot="0">
              <a:off x="0" y="0"/>
              <a:ext cx="1073663" cy="443092"/>
            </a:xfrm>
            <a:custGeom>
              <a:avLst/>
              <a:gdLst/>
              <a:ahLst/>
              <a:cxnLst/>
              <a:rect r="r" b="b" t="t" l="l"/>
              <a:pathLst>
                <a:path h="443092" w="1073663">
                  <a:moveTo>
                    <a:pt x="45215" y="0"/>
                  </a:moveTo>
                  <a:lnTo>
                    <a:pt x="1028449" y="0"/>
                  </a:lnTo>
                  <a:cubicBezTo>
                    <a:pt x="1053420" y="0"/>
                    <a:pt x="1073663" y="20243"/>
                    <a:pt x="1073663" y="45215"/>
                  </a:cubicBezTo>
                  <a:lnTo>
                    <a:pt x="1073663" y="397877"/>
                  </a:lnTo>
                  <a:cubicBezTo>
                    <a:pt x="1073663" y="422849"/>
                    <a:pt x="1053420" y="443092"/>
                    <a:pt x="1028449" y="443092"/>
                  </a:cubicBezTo>
                  <a:lnTo>
                    <a:pt x="45215" y="443092"/>
                  </a:lnTo>
                  <a:cubicBezTo>
                    <a:pt x="33223" y="443092"/>
                    <a:pt x="21722" y="438328"/>
                    <a:pt x="13243" y="429849"/>
                  </a:cubicBezTo>
                  <a:cubicBezTo>
                    <a:pt x="4764" y="421370"/>
                    <a:pt x="0" y="409869"/>
                    <a:pt x="0" y="397877"/>
                  </a:cubicBezTo>
                  <a:lnTo>
                    <a:pt x="0" y="45215"/>
                  </a:lnTo>
                  <a:cubicBezTo>
                    <a:pt x="0" y="20243"/>
                    <a:pt x="20243" y="0"/>
                    <a:pt x="45215" y="0"/>
                  </a:cubicBezTo>
                  <a:close/>
                </a:path>
              </a:pathLst>
            </a:custGeom>
            <a:solidFill>
              <a:srgbClr val="EDEDED"/>
            </a:solidFill>
            <a:ln w="9525" cap="rnd">
              <a:solidFill>
                <a:srgbClr val="D83030"/>
              </a:solidFill>
              <a:prstDash val="solid"/>
              <a:round/>
            </a:ln>
          </p:spPr>
        </p:sp>
        <p:sp>
          <p:nvSpPr>
            <p:cNvPr name="TextBox 7" id="7"/>
            <p:cNvSpPr txBox="true"/>
            <p:nvPr/>
          </p:nvSpPr>
          <p:spPr>
            <a:xfrm>
              <a:off x="0" y="-19050"/>
              <a:ext cx="1073663" cy="462142"/>
            </a:xfrm>
            <a:prstGeom prst="rect">
              <a:avLst/>
            </a:prstGeom>
          </p:spPr>
          <p:txBody>
            <a:bodyPr anchor="ctr" rtlCol="false" tIns="50800" lIns="50800" bIns="50800" rIns="50800"/>
            <a:lstStyle/>
            <a:p>
              <a:pPr algn="ctr">
                <a:lnSpc>
                  <a:spcPts val="1820"/>
                </a:lnSpc>
              </a:pPr>
            </a:p>
          </p:txBody>
        </p:sp>
      </p:grpSp>
      <p:grpSp>
        <p:nvGrpSpPr>
          <p:cNvPr name="Group 8" id="8"/>
          <p:cNvGrpSpPr/>
          <p:nvPr/>
        </p:nvGrpSpPr>
        <p:grpSpPr>
          <a:xfrm rot="0">
            <a:off x="1714240" y="1360926"/>
            <a:ext cx="4705050" cy="3782574"/>
            <a:chOff x="0" y="0"/>
            <a:chExt cx="318411" cy="255983"/>
          </a:xfrm>
        </p:grpSpPr>
        <p:sp>
          <p:nvSpPr>
            <p:cNvPr name="Freeform 9" id="9"/>
            <p:cNvSpPr/>
            <p:nvPr/>
          </p:nvSpPr>
          <p:spPr>
            <a:xfrm flipH="false" flipV="false" rot="0">
              <a:off x="0" y="0"/>
              <a:ext cx="318411" cy="255983"/>
            </a:xfrm>
            <a:custGeom>
              <a:avLst/>
              <a:gdLst/>
              <a:ahLst/>
              <a:cxnLst/>
              <a:rect r="r" b="b" t="t" l="l"/>
              <a:pathLst>
                <a:path h="255983" w="318411">
                  <a:moveTo>
                    <a:pt x="57591" y="0"/>
                  </a:moveTo>
                  <a:lnTo>
                    <a:pt x="260820" y="0"/>
                  </a:lnTo>
                  <a:cubicBezTo>
                    <a:pt x="276094" y="0"/>
                    <a:pt x="290742" y="6068"/>
                    <a:pt x="301543" y="16868"/>
                  </a:cubicBezTo>
                  <a:cubicBezTo>
                    <a:pt x="312343" y="27668"/>
                    <a:pt x="318411" y="42317"/>
                    <a:pt x="318411" y="57591"/>
                  </a:cubicBezTo>
                  <a:lnTo>
                    <a:pt x="318411" y="198392"/>
                  </a:lnTo>
                  <a:cubicBezTo>
                    <a:pt x="318411" y="230199"/>
                    <a:pt x="292626" y="255983"/>
                    <a:pt x="260820" y="255983"/>
                  </a:cubicBezTo>
                  <a:lnTo>
                    <a:pt x="57591" y="255983"/>
                  </a:lnTo>
                  <a:cubicBezTo>
                    <a:pt x="25784" y="255983"/>
                    <a:pt x="0" y="230199"/>
                    <a:pt x="0" y="198392"/>
                  </a:cubicBezTo>
                  <a:lnTo>
                    <a:pt x="0" y="57591"/>
                  </a:lnTo>
                  <a:cubicBezTo>
                    <a:pt x="0" y="25784"/>
                    <a:pt x="25784" y="0"/>
                    <a:pt x="57591" y="0"/>
                  </a:cubicBezTo>
                  <a:close/>
                </a:path>
              </a:pathLst>
            </a:custGeom>
            <a:blipFill>
              <a:blip r:embed="rId2"/>
              <a:stretch>
                <a:fillRect l="0" t="-12193" r="0" b="-12193"/>
              </a:stretch>
            </a:blipFill>
          </p:spPr>
        </p:sp>
      </p:grpSp>
      <p:sp>
        <p:nvSpPr>
          <p:cNvPr name="Freeform 10" id="10"/>
          <p:cNvSpPr/>
          <p:nvPr/>
        </p:nvSpPr>
        <p:spPr>
          <a:xfrm flipH="false" flipV="false" rot="0">
            <a:off x="595639" y="3033838"/>
            <a:ext cx="876703" cy="876703"/>
          </a:xfrm>
          <a:custGeom>
            <a:avLst/>
            <a:gdLst/>
            <a:ahLst/>
            <a:cxnLst/>
            <a:rect r="r" b="b" t="t" l="l"/>
            <a:pathLst>
              <a:path h="876703" w="876703">
                <a:moveTo>
                  <a:pt x="0" y="0"/>
                </a:moveTo>
                <a:lnTo>
                  <a:pt x="876703" y="0"/>
                </a:lnTo>
                <a:lnTo>
                  <a:pt x="876703" y="876702"/>
                </a:lnTo>
                <a:lnTo>
                  <a:pt x="0" y="8767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11956455" y="5438352"/>
            <a:ext cx="4788817" cy="4416949"/>
            <a:chOff x="0" y="0"/>
            <a:chExt cx="324080" cy="298914"/>
          </a:xfrm>
        </p:grpSpPr>
        <p:sp>
          <p:nvSpPr>
            <p:cNvPr name="Freeform 12" id="12"/>
            <p:cNvSpPr/>
            <p:nvPr/>
          </p:nvSpPr>
          <p:spPr>
            <a:xfrm flipH="false" flipV="false" rot="0">
              <a:off x="0" y="0"/>
              <a:ext cx="324080" cy="298914"/>
            </a:xfrm>
            <a:custGeom>
              <a:avLst/>
              <a:gdLst/>
              <a:ahLst/>
              <a:cxnLst/>
              <a:rect r="r" b="b" t="t" l="l"/>
              <a:pathLst>
                <a:path h="298914" w="324080">
                  <a:moveTo>
                    <a:pt x="56583" y="0"/>
                  </a:moveTo>
                  <a:lnTo>
                    <a:pt x="267496" y="0"/>
                  </a:lnTo>
                  <a:cubicBezTo>
                    <a:pt x="282503" y="0"/>
                    <a:pt x="296895" y="5961"/>
                    <a:pt x="307507" y="16573"/>
                  </a:cubicBezTo>
                  <a:cubicBezTo>
                    <a:pt x="318118" y="27184"/>
                    <a:pt x="324080" y="41576"/>
                    <a:pt x="324080" y="56583"/>
                  </a:cubicBezTo>
                  <a:lnTo>
                    <a:pt x="324080" y="242330"/>
                  </a:lnTo>
                  <a:cubicBezTo>
                    <a:pt x="324080" y="273580"/>
                    <a:pt x="298746" y="298914"/>
                    <a:pt x="267496" y="298914"/>
                  </a:cubicBezTo>
                  <a:lnTo>
                    <a:pt x="56583" y="298914"/>
                  </a:lnTo>
                  <a:cubicBezTo>
                    <a:pt x="41576" y="298914"/>
                    <a:pt x="27184" y="292952"/>
                    <a:pt x="16573" y="282341"/>
                  </a:cubicBezTo>
                  <a:cubicBezTo>
                    <a:pt x="5961" y="271729"/>
                    <a:pt x="0" y="257337"/>
                    <a:pt x="0" y="242330"/>
                  </a:cubicBezTo>
                  <a:lnTo>
                    <a:pt x="0" y="56583"/>
                  </a:lnTo>
                  <a:cubicBezTo>
                    <a:pt x="0" y="41576"/>
                    <a:pt x="5961" y="27184"/>
                    <a:pt x="16573" y="16573"/>
                  </a:cubicBezTo>
                  <a:cubicBezTo>
                    <a:pt x="27184" y="5961"/>
                    <a:pt x="41576" y="0"/>
                    <a:pt x="56583" y="0"/>
                  </a:cubicBezTo>
                  <a:close/>
                </a:path>
              </a:pathLst>
            </a:custGeom>
            <a:blipFill>
              <a:blip r:embed="rId5"/>
              <a:stretch>
                <a:fillRect l="0" t="-4209" r="0" b="-4209"/>
              </a:stretch>
            </a:blipFill>
          </p:spPr>
        </p:sp>
      </p:grpSp>
      <p:sp>
        <p:nvSpPr>
          <p:cNvPr name="TextBox 13" id="13"/>
          <p:cNvSpPr txBox="true"/>
          <p:nvPr/>
        </p:nvSpPr>
        <p:spPr>
          <a:xfrm rot="0">
            <a:off x="7713686" y="1360926"/>
            <a:ext cx="3714135" cy="2415469"/>
          </a:xfrm>
          <a:prstGeom prst="rect">
            <a:avLst/>
          </a:prstGeom>
        </p:spPr>
        <p:txBody>
          <a:bodyPr anchor="t" rtlCol="false" tIns="0" lIns="0" bIns="0" rIns="0">
            <a:spAutoFit/>
          </a:bodyPr>
          <a:lstStyle/>
          <a:p>
            <a:pPr algn="l">
              <a:lnSpc>
                <a:spcPts val="9537"/>
              </a:lnSpc>
            </a:pPr>
            <a:r>
              <a:rPr lang="en-US" sz="7947" spc="-564" b="true">
                <a:solidFill>
                  <a:srgbClr val="D83030"/>
                </a:solidFill>
                <a:latin typeface="Open Sauce Medium"/>
                <a:ea typeface="Open Sauce Medium"/>
                <a:cs typeface="Open Sauce Medium"/>
                <a:sym typeface="Open Sauce Medium"/>
              </a:rPr>
              <a:t>Broader Benefits</a:t>
            </a:r>
          </a:p>
        </p:txBody>
      </p:sp>
      <p:sp>
        <p:nvSpPr>
          <p:cNvPr name="TextBox 14" id="14"/>
          <p:cNvSpPr txBox="true"/>
          <p:nvPr/>
        </p:nvSpPr>
        <p:spPr>
          <a:xfrm rot="0">
            <a:off x="1472342" y="6357349"/>
            <a:ext cx="3393362" cy="965200"/>
          </a:xfrm>
          <a:prstGeom prst="rect">
            <a:avLst/>
          </a:prstGeom>
        </p:spPr>
        <p:txBody>
          <a:bodyPr anchor="t" rtlCol="false" tIns="0" lIns="0" bIns="0" rIns="0">
            <a:spAutoFit/>
          </a:bodyPr>
          <a:lstStyle/>
          <a:p>
            <a:pPr algn="l">
              <a:lnSpc>
                <a:spcPts val="2599"/>
              </a:lnSpc>
            </a:pPr>
            <a:r>
              <a:rPr lang="en-US" sz="1999">
                <a:solidFill>
                  <a:srgbClr val="EDEDED"/>
                </a:solidFill>
                <a:latin typeface="Open Sauce"/>
                <a:ea typeface="Open Sauce"/>
                <a:cs typeface="Open Sauce"/>
                <a:sym typeface="Open Sauce"/>
              </a:rPr>
              <a:t>Staff Relief: Reduces burnout by eliminating repetitive tasks.</a:t>
            </a:r>
          </a:p>
        </p:txBody>
      </p:sp>
      <p:sp>
        <p:nvSpPr>
          <p:cNvPr name="TextBox 15" id="15"/>
          <p:cNvSpPr txBox="true"/>
          <p:nvPr/>
        </p:nvSpPr>
        <p:spPr>
          <a:xfrm rot="0">
            <a:off x="6177392" y="7935198"/>
            <a:ext cx="3393362" cy="1289050"/>
          </a:xfrm>
          <a:prstGeom prst="rect">
            <a:avLst/>
          </a:prstGeom>
        </p:spPr>
        <p:txBody>
          <a:bodyPr anchor="t" rtlCol="false" tIns="0" lIns="0" bIns="0" rIns="0">
            <a:spAutoFit/>
          </a:bodyPr>
          <a:lstStyle/>
          <a:p>
            <a:pPr algn="l">
              <a:lnSpc>
                <a:spcPts val="2599"/>
              </a:lnSpc>
            </a:pPr>
            <a:r>
              <a:rPr lang="en-US" sz="1999">
                <a:solidFill>
                  <a:srgbClr val="D83030"/>
                </a:solidFill>
                <a:latin typeface="Open Sauce"/>
                <a:ea typeface="Open Sauce"/>
                <a:cs typeface="Open Sauce"/>
                <a:sym typeface="Open Sauce"/>
              </a:rPr>
              <a:t>Consistency: Robotics ensure uniform product quality, improving customer satisfaction.</a:t>
            </a:r>
          </a:p>
        </p:txBody>
      </p:sp>
      <p:grpSp>
        <p:nvGrpSpPr>
          <p:cNvPr name="Group 16" id="16"/>
          <p:cNvGrpSpPr/>
          <p:nvPr/>
        </p:nvGrpSpPr>
        <p:grpSpPr>
          <a:xfrm rot="0">
            <a:off x="6809034" y="5056074"/>
            <a:ext cx="4280646" cy="1766587"/>
            <a:chOff x="0" y="0"/>
            <a:chExt cx="1073663" cy="443092"/>
          </a:xfrm>
        </p:grpSpPr>
        <p:sp>
          <p:nvSpPr>
            <p:cNvPr name="Freeform 17" id="17"/>
            <p:cNvSpPr/>
            <p:nvPr/>
          </p:nvSpPr>
          <p:spPr>
            <a:xfrm flipH="false" flipV="false" rot="0">
              <a:off x="0" y="0"/>
              <a:ext cx="1073663" cy="443092"/>
            </a:xfrm>
            <a:custGeom>
              <a:avLst/>
              <a:gdLst/>
              <a:ahLst/>
              <a:cxnLst/>
              <a:rect r="r" b="b" t="t" l="l"/>
              <a:pathLst>
                <a:path h="443092" w="1073663">
                  <a:moveTo>
                    <a:pt x="45215" y="0"/>
                  </a:moveTo>
                  <a:lnTo>
                    <a:pt x="1028449" y="0"/>
                  </a:lnTo>
                  <a:cubicBezTo>
                    <a:pt x="1053420" y="0"/>
                    <a:pt x="1073663" y="20243"/>
                    <a:pt x="1073663" y="45215"/>
                  </a:cubicBezTo>
                  <a:lnTo>
                    <a:pt x="1073663" y="397877"/>
                  </a:lnTo>
                  <a:cubicBezTo>
                    <a:pt x="1073663" y="422849"/>
                    <a:pt x="1053420" y="443092"/>
                    <a:pt x="1028449" y="443092"/>
                  </a:cubicBezTo>
                  <a:lnTo>
                    <a:pt x="45215" y="443092"/>
                  </a:lnTo>
                  <a:cubicBezTo>
                    <a:pt x="33223" y="443092"/>
                    <a:pt x="21722" y="438328"/>
                    <a:pt x="13243" y="429849"/>
                  </a:cubicBezTo>
                  <a:cubicBezTo>
                    <a:pt x="4764" y="421370"/>
                    <a:pt x="0" y="409869"/>
                    <a:pt x="0" y="397877"/>
                  </a:cubicBezTo>
                  <a:lnTo>
                    <a:pt x="0" y="45215"/>
                  </a:lnTo>
                  <a:cubicBezTo>
                    <a:pt x="0" y="20243"/>
                    <a:pt x="20243" y="0"/>
                    <a:pt x="45215" y="0"/>
                  </a:cubicBezTo>
                  <a:close/>
                </a:path>
              </a:pathLst>
            </a:custGeom>
            <a:solidFill>
              <a:srgbClr val="D83030"/>
            </a:solidFill>
            <a:ln w="9525" cap="rnd">
              <a:solidFill>
                <a:srgbClr val="D83030"/>
              </a:solidFill>
              <a:prstDash val="solid"/>
              <a:round/>
            </a:ln>
          </p:spPr>
        </p:sp>
        <p:sp>
          <p:nvSpPr>
            <p:cNvPr name="TextBox 18" id="18"/>
            <p:cNvSpPr txBox="true"/>
            <p:nvPr/>
          </p:nvSpPr>
          <p:spPr>
            <a:xfrm>
              <a:off x="0" y="-19050"/>
              <a:ext cx="1073663" cy="462142"/>
            </a:xfrm>
            <a:prstGeom prst="rect">
              <a:avLst/>
            </a:prstGeom>
          </p:spPr>
          <p:txBody>
            <a:bodyPr anchor="ctr" rtlCol="false" tIns="50800" lIns="50800" bIns="50800" rIns="50800"/>
            <a:lstStyle/>
            <a:p>
              <a:pPr algn="ctr">
                <a:lnSpc>
                  <a:spcPts val="1820"/>
                </a:lnSpc>
              </a:pPr>
            </a:p>
          </p:txBody>
        </p:sp>
      </p:grpSp>
      <p:sp>
        <p:nvSpPr>
          <p:cNvPr name="TextBox 19" id="19"/>
          <p:cNvSpPr txBox="true"/>
          <p:nvPr/>
        </p:nvSpPr>
        <p:spPr>
          <a:xfrm rot="0">
            <a:off x="7238814" y="5409777"/>
            <a:ext cx="3421086" cy="1030605"/>
          </a:xfrm>
          <a:prstGeom prst="rect">
            <a:avLst/>
          </a:prstGeom>
        </p:spPr>
        <p:txBody>
          <a:bodyPr anchor="t" rtlCol="false" tIns="0" lIns="0" bIns="0" rIns="0">
            <a:spAutoFit/>
          </a:bodyPr>
          <a:lstStyle/>
          <a:p>
            <a:pPr algn="l">
              <a:lnSpc>
                <a:spcPts val="2730"/>
              </a:lnSpc>
            </a:pPr>
            <a:r>
              <a:rPr lang="en-US" sz="2100">
                <a:solidFill>
                  <a:srgbClr val="FFFFFF"/>
                </a:solidFill>
                <a:latin typeface="Open Sauce"/>
                <a:ea typeface="Open Sauce"/>
                <a:cs typeface="Open Sauce"/>
                <a:sym typeface="Open Sauce"/>
              </a:rPr>
              <a:t>Scalability: Tech solutions are replicable across 3,200+ stores.</a:t>
            </a:r>
          </a:p>
        </p:txBody>
      </p:sp>
      <p:grpSp>
        <p:nvGrpSpPr>
          <p:cNvPr name="Group 20" id="20"/>
          <p:cNvGrpSpPr/>
          <p:nvPr/>
        </p:nvGrpSpPr>
        <p:grpSpPr>
          <a:xfrm rot="0">
            <a:off x="12864157" y="1152103"/>
            <a:ext cx="2973412" cy="297341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38333" r="0" b="-38333"/>
              </a:stretch>
            </a:blipFill>
          </p:spPr>
        </p:sp>
      </p:gr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sp>
        <p:nvSpPr>
          <p:cNvPr name="Freeform 2" id="2"/>
          <p:cNvSpPr/>
          <p:nvPr/>
        </p:nvSpPr>
        <p:spPr>
          <a:xfrm flipH="false" flipV="false" rot="0">
            <a:off x="16575814" y="8574814"/>
            <a:ext cx="683486" cy="683486"/>
          </a:xfrm>
          <a:custGeom>
            <a:avLst/>
            <a:gdLst/>
            <a:ahLst/>
            <a:cxnLst/>
            <a:rect r="r" b="b" t="t" l="l"/>
            <a:pathLst>
              <a:path h="683486" w="683486">
                <a:moveTo>
                  <a:pt x="0" y="0"/>
                </a:moveTo>
                <a:lnTo>
                  <a:pt x="683486" y="0"/>
                </a:lnTo>
                <a:lnTo>
                  <a:pt x="683486" y="683486"/>
                </a:lnTo>
                <a:lnTo>
                  <a:pt x="0" y="6834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1139504" y="2294757"/>
          <a:ext cx="13285542" cy="6079579"/>
        </p:xfrm>
        <a:graphic>
          <a:graphicData uri="http://schemas.openxmlformats.org/drawingml/2006/table">
            <a:tbl>
              <a:tblPr/>
              <a:tblGrid>
                <a:gridCol w="4428514"/>
                <a:gridCol w="4428514"/>
                <a:gridCol w="4428514"/>
              </a:tblGrid>
              <a:tr h="1545453">
                <a:tc>
                  <a:txBody>
                    <a:bodyPr anchor="t" rtlCol="false"/>
                    <a:lstStyle/>
                    <a:p>
                      <a:pPr algn="ctr">
                        <a:lnSpc>
                          <a:spcPts val="3919"/>
                        </a:lnSpc>
                        <a:defRPr/>
                      </a:pPr>
                      <a:r>
                        <a:rPr lang="en-US" sz="2799" b="true">
                          <a:solidFill>
                            <a:srgbClr val="000000"/>
                          </a:solidFill>
                          <a:latin typeface="Open Sauce Bold"/>
                          <a:ea typeface="Open Sauce Bold"/>
                          <a:cs typeface="Open Sauce Bold"/>
                          <a:sym typeface="Open Sauce Bold"/>
                        </a:rPr>
                        <a:t>Tool</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c>
                  <a:txBody>
                    <a:bodyPr anchor="t" rtlCol="false"/>
                    <a:lstStyle/>
                    <a:p>
                      <a:pPr algn="ctr">
                        <a:lnSpc>
                          <a:spcPts val="3919"/>
                        </a:lnSpc>
                        <a:defRPr/>
                      </a:pPr>
                      <a:r>
                        <a:rPr lang="en-US" sz="2799" b="true">
                          <a:solidFill>
                            <a:srgbClr val="000000"/>
                          </a:solidFill>
                          <a:latin typeface="Open Sauce Bold"/>
                          <a:ea typeface="Open Sauce Bold"/>
                          <a:cs typeface="Open Sauce Bold"/>
                          <a:sym typeface="Open Sauce Bold"/>
                        </a:rPr>
                        <a:t>Estimated Annual Savings</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c>
                  <a:txBody>
                    <a:bodyPr anchor="t" rtlCol="false"/>
                    <a:lstStyle/>
                    <a:p>
                      <a:pPr algn="ctr">
                        <a:lnSpc>
                          <a:spcPts val="3919"/>
                        </a:lnSpc>
                        <a:defRPr/>
                      </a:pPr>
                      <a:r>
                        <a:rPr lang="en-US" sz="2799" b="true">
                          <a:solidFill>
                            <a:srgbClr val="000000"/>
                          </a:solidFill>
                          <a:latin typeface="Canva Sans Bold"/>
                          <a:ea typeface="Canva Sans Bold"/>
                          <a:cs typeface="Canva Sans Bold"/>
                          <a:sym typeface="Canva Sans Bold"/>
                        </a:rPr>
                        <a:t>Operational Benefit</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r>
              <a:tr h="1511375">
                <a:tc>
                  <a:txBody>
                    <a:bodyPr anchor="t" rtlCol="false"/>
                    <a:lstStyle/>
                    <a:p>
                      <a:pPr algn="ctr">
                        <a:lnSpc>
                          <a:spcPts val="2940"/>
                        </a:lnSpc>
                        <a:defRPr/>
                      </a:pPr>
                      <a:r>
                        <a:rPr lang="en-US" sz="2100">
                          <a:solidFill>
                            <a:srgbClr val="000000"/>
                          </a:solidFill>
                          <a:latin typeface="Canva Sans"/>
                          <a:ea typeface="Canva Sans"/>
                          <a:cs typeface="Canva Sans"/>
                          <a:sym typeface="Canva Sans"/>
                        </a:rPr>
                        <a:t>Autocado</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$30,000+</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50% faster guac prep</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1511375">
                <a:tc>
                  <a:txBody>
                    <a:bodyPr anchor="t" rtlCol="false"/>
                    <a:lstStyle/>
                    <a:p>
                      <a:pPr algn="ctr">
                        <a:lnSpc>
                          <a:spcPts val="2940"/>
                        </a:lnSpc>
                        <a:defRPr/>
                      </a:pPr>
                      <a:r>
                        <a:rPr lang="en-US" sz="2100">
                          <a:solidFill>
                            <a:srgbClr val="000000"/>
                          </a:solidFill>
                          <a:latin typeface="Canva Sans"/>
                          <a:ea typeface="Canva Sans"/>
                          <a:cs typeface="Canva Sans"/>
                          <a:sym typeface="Canva Sans"/>
                        </a:rPr>
                        <a:t>Chippy</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N/A (labor reduction)</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60% less labor for chip making</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1511375">
                <a:tc>
                  <a:txBody>
                    <a:bodyPr anchor="t" rtlCol="false"/>
                    <a:lstStyle/>
                    <a:p>
                      <a:pPr algn="ctr">
                        <a:lnSpc>
                          <a:spcPts val="2940"/>
                        </a:lnSpc>
                        <a:defRPr/>
                      </a:pPr>
                      <a:r>
                        <a:rPr lang="en-US" sz="2100">
                          <a:solidFill>
                            <a:srgbClr val="000000"/>
                          </a:solidFill>
                          <a:latin typeface="Open Sauce"/>
                          <a:ea typeface="Open Sauce"/>
                          <a:cs typeface="Open Sauce"/>
                          <a:sym typeface="Open Sauce"/>
                        </a:rPr>
                        <a:t>Makeline</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Revenue increase</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940"/>
                        </a:lnSpc>
                        <a:defRPr/>
                      </a:pPr>
                      <a:r>
                        <a:rPr lang="en-US" sz="2100">
                          <a:solidFill>
                            <a:srgbClr val="000000"/>
                          </a:solidFill>
                          <a:latin typeface="Open Sauce"/>
                          <a:ea typeface="Open Sauce"/>
                          <a:cs typeface="Open Sauce"/>
                          <a:sym typeface="Open Sauce"/>
                        </a:rPr>
                        <a:t>+20% throughput</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bl>
          </a:graphicData>
        </a:graphic>
      </p:graphicFrame>
      <p:sp>
        <p:nvSpPr>
          <p:cNvPr name="TextBox 4" id="4"/>
          <p:cNvSpPr txBox="true"/>
          <p:nvPr/>
        </p:nvSpPr>
        <p:spPr>
          <a:xfrm rot="0">
            <a:off x="4242247" y="580257"/>
            <a:ext cx="12196662" cy="1371600"/>
          </a:xfrm>
          <a:prstGeom prst="rect">
            <a:avLst/>
          </a:prstGeom>
        </p:spPr>
        <p:txBody>
          <a:bodyPr anchor="t" rtlCol="false" tIns="0" lIns="0" bIns="0" rIns="0">
            <a:spAutoFit/>
          </a:bodyPr>
          <a:lstStyle/>
          <a:p>
            <a:pPr algn="ctr">
              <a:lnSpc>
                <a:spcPts val="10820"/>
              </a:lnSpc>
            </a:pPr>
            <a:r>
              <a:rPr lang="en-US" b="true" sz="9016" spc="-640">
                <a:solidFill>
                  <a:srgbClr val="EDEDED"/>
                </a:solidFill>
                <a:latin typeface="Open Sauce Medium"/>
                <a:ea typeface="Open Sauce Medium"/>
                <a:cs typeface="Open Sauce Medium"/>
                <a:sym typeface="Open Sauce Medium"/>
              </a:rPr>
              <a:t>ROI and Future Vision</a:t>
            </a:r>
          </a:p>
        </p:txBody>
      </p:sp>
      <p:sp>
        <p:nvSpPr>
          <p:cNvPr name="TextBox 5" id="5"/>
          <p:cNvSpPr txBox="true"/>
          <p:nvPr/>
        </p:nvSpPr>
        <p:spPr>
          <a:xfrm rot="0">
            <a:off x="2501229" y="8696642"/>
            <a:ext cx="11857492" cy="1104265"/>
          </a:xfrm>
          <a:prstGeom prst="rect">
            <a:avLst/>
          </a:prstGeom>
        </p:spPr>
        <p:txBody>
          <a:bodyPr anchor="t" rtlCol="false" tIns="0" lIns="0" bIns="0" rIns="0">
            <a:spAutoFit/>
          </a:bodyPr>
          <a:lstStyle/>
          <a:p>
            <a:pPr algn="l" marL="496566" indent="-248283" lvl="1">
              <a:lnSpc>
                <a:spcPts val="2989"/>
              </a:lnSpc>
              <a:buFont typeface="Arial"/>
              <a:buChar char="•"/>
            </a:pPr>
            <a:r>
              <a:rPr lang="en-US" sz="2299">
                <a:solidFill>
                  <a:srgbClr val="FFFFFF"/>
                </a:solidFill>
                <a:latin typeface="Open Sauce"/>
                <a:ea typeface="Open Sauce"/>
                <a:cs typeface="Open Sauce"/>
                <a:sym typeface="Open Sauce"/>
              </a:rPr>
              <a:t>Break-even on robotics is often &lt;1 year in high-wage states.</a:t>
            </a:r>
          </a:p>
          <a:p>
            <a:pPr algn="l" marL="496566" indent="-248283" lvl="1">
              <a:lnSpc>
                <a:spcPts val="2989"/>
              </a:lnSpc>
              <a:buFont typeface="Arial"/>
              <a:buChar char="•"/>
            </a:pPr>
            <a:r>
              <a:rPr lang="en-US" sz="2299">
                <a:solidFill>
                  <a:srgbClr val="FFFFFF"/>
                </a:solidFill>
                <a:latin typeface="Open Sauce"/>
                <a:ea typeface="Open Sauce"/>
                <a:cs typeface="Open Sauce"/>
                <a:sym typeface="Open Sauce"/>
              </a:rPr>
              <a:t>Chipotle’s $100M Cultivate Fund invests in new food tech startups (Hyphen, Vebu).</a:t>
            </a:r>
          </a:p>
        </p:txBody>
      </p:sp>
      <p:grpSp>
        <p:nvGrpSpPr>
          <p:cNvPr name="Group 6" id="6"/>
          <p:cNvGrpSpPr/>
          <p:nvPr/>
        </p:nvGrpSpPr>
        <p:grpSpPr>
          <a:xfrm rot="0">
            <a:off x="14952203" y="6599213"/>
            <a:ext cx="2973412" cy="297341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38333" r="0" b="-38333"/>
              </a:stretch>
            </a:blipFill>
          </p:spPr>
        </p:sp>
      </p:grpSp>
      <p:sp>
        <p:nvSpPr>
          <p:cNvPr name="Freeform 8" id="8"/>
          <p:cNvSpPr/>
          <p:nvPr/>
        </p:nvSpPr>
        <p:spPr>
          <a:xfrm flipH="false" flipV="false" rot="0">
            <a:off x="16184460" y="1903404"/>
            <a:ext cx="782707" cy="782707"/>
          </a:xfrm>
          <a:custGeom>
            <a:avLst/>
            <a:gdLst/>
            <a:ahLst/>
            <a:cxnLst/>
            <a:rect r="r" b="b" t="t" l="l"/>
            <a:pathLst>
              <a:path h="782707" w="782707">
                <a:moveTo>
                  <a:pt x="0" y="0"/>
                </a:moveTo>
                <a:lnTo>
                  <a:pt x="782707" y="0"/>
                </a:lnTo>
                <a:lnTo>
                  <a:pt x="782707" y="782707"/>
                </a:lnTo>
                <a:lnTo>
                  <a:pt x="0" y="7827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15353"/>
        </a:solidFill>
      </p:bgPr>
    </p:bg>
    <p:spTree>
      <p:nvGrpSpPr>
        <p:cNvPr id="1" name=""/>
        <p:cNvGrpSpPr/>
        <p:nvPr/>
      </p:nvGrpSpPr>
      <p:grpSpPr>
        <a:xfrm>
          <a:off x="0" y="0"/>
          <a:ext cx="0" cy="0"/>
          <a:chOff x="0" y="0"/>
          <a:chExt cx="0" cy="0"/>
        </a:xfrm>
      </p:grpSpPr>
      <p:sp>
        <p:nvSpPr>
          <p:cNvPr name="Freeform 2" id="2"/>
          <p:cNvSpPr/>
          <p:nvPr/>
        </p:nvSpPr>
        <p:spPr>
          <a:xfrm flipH="false" flipV="false" rot="-3554022">
            <a:off x="2393197" y="-7963828"/>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255500" y="5143500"/>
            <a:ext cx="5556250" cy="4114800"/>
            <a:chOff x="0" y="0"/>
            <a:chExt cx="1463374" cy="1083733"/>
          </a:xfrm>
        </p:grpSpPr>
        <p:sp>
          <p:nvSpPr>
            <p:cNvPr name="Freeform 4" id="4"/>
            <p:cNvSpPr/>
            <p:nvPr/>
          </p:nvSpPr>
          <p:spPr>
            <a:xfrm flipH="false" flipV="false" rot="0">
              <a:off x="0" y="0"/>
              <a:ext cx="1463375" cy="1083733"/>
            </a:xfrm>
            <a:custGeom>
              <a:avLst/>
              <a:gdLst/>
              <a:ahLst/>
              <a:cxnLst/>
              <a:rect r="r" b="b" t="t" l="l"/>
              <a:pathLst>
                <a:path h="1083733" w="1463375">
                  <a:moveTo>
                    <a:pt x="0" y="0"/>
                  </a:moveTo>
                  <a:lnTo>
                    <a:pt x="1463375" y="0"/>
                  </a:lnTo>
                  <a:lnTo>
                    <a:pt x="1463375" y="1083733"/>
                  </a:lnTo>
                  <a:lnTo>
                    <a:pt x="0" y="1083733"/>
                  </a:lnTo>
                  <a:close/>
                </a:path>
              </a:pathLst>
            </a:custGeom>
            <a:solidFill>
              <a:srgbClr val="7D1818"/>
            </a:solidFill>
          </p:spPr>
        </p:sp>
        <p:sp>
          <p:nvSpPr>
            <p:cNvPr name="TextBox 5" id="5"/>
            <p:cNvSpPr txBox="true"/>
            <p:nvPr/>
          </p:nvSpPr>
          <p:spPr>
            <a:xfrm>
              <a:off x="0" y="0"/>
              <a:ext cx="1463374" cy="1083733"/>
            </a:xfrm>
            <a:prstGeom prst="rect">
              <a:avLst/>
            </a:prstGeom>
          </p:spPr>
          <p:txBody>
            <a:bodyPr anchor="ctr" rtlCol="false" tIns="50800" lIns="50800" bIns="50800" rIns="50800"/>
            <a:lstStyle/>
            <a:p>
              <a:pPr algn="ctr">
                <a:lnSpc>
                  <a:spcPts val="2160"/>
                </a:lnSpc>
              </a:pPr>
            </a:p>
          </p:txBody>
        </p:sp>
      </p:grpSp>
      <p:grpSp>
        <p:nvGrpSpPr>
          <p:cNvPr name="Group 6" id="6"/>
          <p:cNvGrpSpPr/>
          <p:nvPr/>
        </p:nvGrpSpPr>
        <p:grpSpPr>
          <a:xfrm rot="0">
            <a:off x="6365875" y="5143500"/>
            <a:ext cx="5556250" cy="4114800"/>
            <a:chOff x="0" y="0"/>
            <a:chExt cx="1463374" cy="1083733"/>
          </a:xfrm>
        </p:grpSpPr>
        <p:sp>
          <p:nvSpPr>
            <p:cNvPr name="Freeform 7" id="7"/>
            <p:cNvSpPr/>
            <p:nvPr/>
          </p:nvSpPr>
          <p:spPr>
            <a:xfrm flipH="false" flipV="false" rot="0">
              <a:off x="0" y="0"/>
              <a:ext cx="1463375" cy="1083733"/>
            </a:xfrm>
            <a:custGeom>
              <a:avLst/>
              <a:gdLst/>
              <a:ahLst/>
              <a:cxnLst/>
              <a:rect r="r" b="b" t="t" l="l"/>
              <a:pathLst>
                <a:path h="1083733" w="1463375">
                  <a:moveTo>
                    <a:pt x="0" y="0"/>
                  </a:moveTo>
                  <a:lnTo>
                    <a:pt x="1463375" y="0"/>
                  </a:lnTo>
                  <a:lnTo>
                    <a:pt x="1463375" y="1083733"/>
                  </a:lnTo>
                  <a:lnTo>
                    <a:pt x="0" y="1083733"/>
                  </a:lnTo>
                  <a:close/>
                </a:path>
              </a:pathLst>
            </a:custGeom>
            <a:gradFill rotWithShape="true">
              <a:gsLst>
                <a:gs pos="0">
                  <a:srgbClr val="FDF7EF">
                    <a:alpha val="100000"/>
                  </a:srgbClr>
                </a:gs>
                <a:gs pos="100000">
                  <a:srgbClr val="FFFFFF">
                    <a:alpha val="100000"/>
                  </a:srgbClr>
                </a:gs>
              </a:gsLst>
              <a:lin ang="0"/>
            </a:gradFill>
          </p:spPr>
        </p:sp>
        <p:sp>
          <p:nvSpPr>
            <p:cNvPr name="TextBox 8" id="8"/>
            <p:cNvSpPr txBox="true"/>
            <p:nvPr/>
          </p:nvSpPr>
          <p:spPr>
            <a:xfrm>
              <a:off x="0" y="0"/>
              <a:ext cx="1463374" cy="1083733"/>
            </a:xfrm>
            <a:prstGeom prst="rect">
              <a:avLst/>
            </a:prstGeom>
          </p:spPr>
          <p:txBody>
            <a:bodyPr anchor="ctr" rtlCol="false" tIns="50800" lIns="50800" bIns="50800" rIns="50800"/>
            <a:lstStyle/>
            <a:p>
              <a:pPr algn="ctr">
                <a:lnSpc>
                  <a:spcPts val="2160"/>
                </a:lnSpc>
              </a:pPr>
            </a:p>
          </p:txBody>
        </p:sp>
      </p:grpSp>
      <p:grpSp>
        <p:nvGrpSpPr>
          <p:cNvPr name="Group 9" id="9"/>
          <p:cNvGrpSpPr/>
          <p:nvPr/>
        </p:nvGrpSpPr>
        <p:grpSpPr>
          <a:xfrm rot="0">
            <a:off x="476250" y="5143500"/>
            <a:ext cx="5556250" cy="4114800"/>
            <a:chOff x="0" y="0"/>
            <a:chExt cx="1463374" cy="1083733"/>
          </a:xfrm>
        </p:grpSpPr>
        <p:sp>
          <p:nvSpPr>
            <p:cNvPr name="Freeform 10" id="10"/>
            <p:cNvSpPr/>
            <p:nvPr/>
          </p:nvSpPr>
          <p:spPr>
            <a:xfrm flipH="false" flipV="false" rot="0">
              <a:off x="0" y="0"/>
              <a:ext cx="1463375" cy="1083733"/>
            </a:xfrm>
            <a:custGeom>
              <a:avLst/>
              <a:gdLst/>
              <a:ahLst/>
              <a:cxnLst/>
              <a:rect r="r" b="b" t="t" l="l"/>
              <a:pathLst>
                <a:path h="1083733" w="1463375">
                  <a:moveTo>
                    <a:pt x="0" y="0"/>
                  </a:moveTo>
                  <a:lnTo>
                    <a:pt x="1463375" y="0"/>
                  </a:lnTo>
                  <a:lnTo>
                    <a:pt x="1463375" y="1083733"/>
                  </a:lnTo>
                  <a:lnTo>
                    <a:pt x="0" y="1083733"/>
                  </a:lnTo>
                  <a:close/>
                </a:path>
              </a:pathLst>
            </a:custGeom>
            <a:solidFill>
              <a:srgbClr val="7D1818"/>
            </a:solidFill>
          </p:spPr>
        </p:sp>
        <p:sp>
          <p:nvSpPr>
            <p:cNvPr name="TextBox 11" id="11"/>
            <p:cNvSpPr txBox="true"/>
            <p:nvPr/>
          </p:nvSpPr>
          <p:spPr>
            <a:xfrm>
              <a:off x="0" y="0"/>
              <a:ext cx="1463374" cy="1083733"/>
            </a:xfrm>
            <a:prstGeom prst="rect">
              <a:avLst/>
            </a:prstGeom>
          </p:spPr>
          <p:txBody>
            <a:bodyPr anchor="ctr" rtlCol="false" tIns="50800" lIns="50800" bIns="50800" rIns="50800"/>
            <a:lstStyle/>
            <a:p>
              <a:pPr algn="ctr">
                <a:lnSpc>
                  <a:spcPts val="2160"/>
                </a:lnSpc>
              </a:pPr>
            </a:p>
          </p:txBody>
        </p:sp>
      </p:grpSp>
      <p:grpSp>
        <p:nvGrpSpPr>
          <p:cNvPr name="Group 12" id="12"/>
          <p:cNvGrpSpPr/>
          <p:nvPr/>
        </p:nvGrpSpPr>
        <p:grpSpPr>
          <a:xfrm rot="0">
            <a:off x="12915169" y="310176"/>
            <a:ext cx="4563206" cy="456320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38333" r="0" b="-38333"/>
              </a:stretch>
            </a:blipFill>
          </p:spPr>
        </p:sp>
      </p:grpSp>
      <p:sp>
        <p:nvSpPr>
          <p:cNvPr name="TextBox 14" id="14"/>
          <p:cNvSpPr txBox="true"/>
          <p:nvPr/>
        </p:nvSpPr>
        <p:spPr>
          <a:xfrm rot="0">
            <a:off x="816921" y="5884410"/>
            <a:ext cx="4616939" cy="786765"/>
          </a:xfrm>
          <a:prstGeom prst="rect">
            <a:avLst/>
          </a:prstGeom>
        </p:spPr>
        <p:txBody>
          <a:bodyPr anchor="t" rtlCol="false" tIns="0" lIns="0" bIns="0" rIns="0">
            <a:spAutoFit/>
          </a:bodyPr>
          <a:lstStyle/>
          <a:p>
            <a:pPr algn="ctr" marL="0" indent="0" lvl="0">
              <a:lnSpc>
                <a:spcPts val="5759"/>
              </a:lnSpc>
              <a:spcBef>
                <a:spcPct val="0"/>
              </a:spcBef>
            </a:pPr>
            <a:r>
              <a:rPr lang="en-US" sz="6399">
                <a:solidFill>
                  <a:srgbClr val="1C1C1C"/>
                </a:solidFill>
                <a:latin typeface="Monument Bold"/>
                <a:ea typeface="Monument Bold"/>
                <a:cs typeface="Monument Bold"/>
                <a:sym typeface="Monument Bold"/>
              </a:rPr>
              <a:t>01</a:t>
            </a:r>
          </a:p>
        </p:txBody>
      </p:sp>
      <p:sp>
        <p:nvSpPr>
          <p:cNvPr name="TextBox 15" id="15"/>
          <p:cNvSpPr txBox="true"/>
          <p:nvPr/>
        </p:nvSpPr>
        <p:spPr>
          <a:xfrm rot="0">
            <a:off x="6835530" y="5884410"/>
            <a:ext cx="4616939" cy="786765"/>
          </a:xfrm>
          <a:prstGeom prst="rect">
            <a:avLst/>
          </a:prstGeom>
        </p:spPr>
        <p:txBody>
          <a:bodyPr anchor="t" rtlCol="false" tIns="0" lIns="0" bIns="0" rIns="0">
            <a:spAutoFit/>
          </a:bodyPr>
          <a:lstStyle/>
          <a:p>
            <a:pPr algn="ctr" marL="0" indent="0" lvl="0">
              <a:lnSpc>
                <a:spcPts val="5759"/>
              </a:lnSpc>
              <a:spcBef>
                <a:spcPct val="0"/>
              </a:spcBef>
            </a:pPr>
            <a:r>
              <a:rPr lang="en-US" sz="6399">
                <a:solidFill>
                  <a:srgbClr val="1C1C1C"/>
                </a:solidFill>
                <a:latin typeface="Monument Bold"/>
                <a:ea typeface="Monument Bold"/>
                <a:cs typeface="Monument Bold"/>
                <a:sym typeface="Monument Bold"/>
              </a:rPr>
              <a:t>02</a:t>
            </a:r>
          </a:p>
        </p:txBody>
      </p:sp>
      <p:sp>
        <p:nvSpPr>
          <p:cNvPr name="TextBox 16" id="16"/>
          <p:cNvSpPr txBox="true"/>
          <p:nvPr/>
        </p:nvSpPr>
        <p:spPr>
          <a:xfrm rot="0">
            <a:off x="12855575" y="5884410"/>
            <a:ext cx="4622800" cy="786765"/>
          </a:xfrm>
          <a:prstGeom prst="rect">
            <a:avLst/>
          </a:prstGeom>
        </p:spPr>
        <p:txBody>
          <a:bodyPr anchor="t" rtlCol="false" tIns="0" lIns="0" bIns="0" rIns="0">
            <a:spAutoFit/>
          </a:bodyPr>
          <a:lstStyle/>
          <a:p>
            <a:pPr algn="ctr" marL="0" indent="0" lvl="0">
              <a:lnSpc>
                <a:spcPts val="5759"/>
              </a:lnSpc>
              <a:spcBef>
                <a:spcPct val="0"/>
              </a:spcBef>
            </a:pPr>
            <a:r>
              <a:rPr lang="en-US" sz="6399">
                <a:solidFill>
                  <a:srgbClr val="FFFFFF"/>
                </a:solidFill>
                <a:latin typeface="Monument Bold"/>
                <a:ea typeface="Monument Bold"/>
                <a:cs typeface="Monument Bold"/>
                <a:sym typeface="Monument Bold"/>
              </a:rPr>
              <a:t>03</a:t>
            </a:r>
          </a:p>
        </p:txBody>
      </p:sp>
      <p:sp>
        <p:nvSpPr>
          <p:cNvPr name="TextBox 17" id="17"/>
          <p:cNvSpPr txBox="true"/>
          <p:nvPr/>
        </p:nvSpPr>
        <p:spPr>
          <a:xfrm rot="0">
            <a:off x="1397671" y="6741268"/>
            <a:ext cx="3705470" cy="2152015"/>
          </a:xfrm>
          <a:prstGeom prst="rect">
            <a:avLst/>
          </a:prstGeom>
        </p:spPr>
        <p:txBody>
          <a:bodyPr anchor="t" rtlCol="false" tIns="0" lIns="0" bIns="0" rIns="0">
            <a:spAutoFit/>
          </a:bodyPr>
          <a:lstStyle/>
          <a:p>
            <a:pPr algn="ctr">
              <a:lnSpc>
                <a:spcPts val="4339"/>
              </a:lnSpc>
            </a:pPr>
            <a:r>
              <a:rPr lang="en-US" sz="2799">
                <a:solidFill>
                  <a:srgbClr val="1C1C1C"/>
                </a:solidFill>
                <a:latin typeface="Open Sauce"/>
                <a:ea typeface="Open Sauce"/>
                <a:cs typeface="Open Sauce"/>
                <a:sym typeface="Open Sauce"/>
              </a:rPr>
              <a:t>132M lbs of avocados sourced annually</a:t>
            </a:r>
          </a:p>
          <a:p>
            <a:pPr algn="ctr" marL="0" indent="0" lvl="0">
              <a:lnSpc>
                <a:spcPts val="4339"/>
              </a:lnSpc>
            </a:pPr>
          </a:p>
        </p:txBody>
      </p:sp>
      <p:sp>
        <p:nvSpPr>
          <p:cNvPr name="TextBox 18" id="18"/>
          <p:cNvSpPr txBox="true"/>
          <p:nvPr/>
        </p:nvSpPr>
        <p:spPr>
          <a:xfrm rot="0">
            <a:off x="7060132" y="6760318"/>
            <a:ext cx="4167736" cy="2098422"/>
          </a:xfrm>
          <a:prstGeom prst="rect">
            <a:avLst/>
          </a:prstGeom>
        </p:spPr>
        <p:txBody>
          <a:bodyPr anchor="t" rtlCol="false" tIns="0" lIns="0" bIns="0" rIns="0">
            <a:spAutoFit/>
          </a:bodyPr>
          <a:lstStyle/>
          <a:p>
            <a:pPr algn="ctr">
              <a:lnSpc>
                <a:spcPts val="4215"/>
              </a:lnSpc>
            </a:pPr>
            <a:r>
              <a:rPr lang="en-US" sz="2719">
                <a:solidFill>
                  <a:srgbClr val="1C1C1C"/>
                </a:solidFill>
                <a:latin typeface="Open Sauce"/>
                <a:ea typeface="Open Sauce"/>
                <a:cs typeface="Open Sauce"/>
                <a:sym typeface="Open Sauce"/>
              </a:rPr>
              <a:t>88–90% of U.S. avocados &amp; 97% of limes from Mexico</a:t>
            </a:r>
          </a:p>
          <a:p>
            <a:pPr algn="ctr" marL="0" indent="0" lvl="0">
              <a:lnSpc>
                <a:spcPts val="4215"/>
              </a:lnSpc>
            </a:pPr>
          </a:p>
        </p:txBody>
      </p:sp>
      <p:sp>
        <p:nvSpPr>
          <p:cNvPr name="TextBox 19" id="19"/>
          <p:cNvSpPr txBox="true"/>
          <p:nvPr/>
        </p:nvSpPr>
        <p:spPr>
          <a:xfrm rot="0">
            <a:off x="13188950" y="6566400"/>
            <a:ext cx="3967279" cy="2152015"/>
          </a:xfrm>
          <a:prstGeom prst="rect">
            <a:avLst/>
          </a:prstGeom>
        </p:spPr>
        <p:txBody>
          <a:bodyPr anchor="t" rtlCol="false" tIns="0" lIns="0" bIns="0" rIns="0">
            <a:spAutoFit/>
          </a:bodyPr>
          <a:lstStyle/>
          <a:p>
            <a:pPr algn="ctr">
              <a:lnSpc>
                <a:spcPts val="4339"/>
              </a:lnSpc>
            </a:pPr>
            <a:r>
              <a:rPr lang="en-US" sz="2799">
                <a:solidFill>
                  <a:srgbClr val="FFFFFF"/>
                </a:solidFill>
                <a:latin typeface="Open Sauce"/>
                <a:ea typeface="Open Sauce"/>
                <a:cs typeface="Open Sauce"/>
                <a:sym typeface="Open Sauce"/>
              </a:rPr>
              <a:t>Heavy reliance makes Chipotle vulnerable to trade disruptions</a:t>
            </a:r>
          </a:p>
          <a:p>
            <a:pPr algn="l" marL="0" indent="0" lvl="0">
              <a:lnSpc>
                <a:spcPts val="4339"/>
              </a:lnSpc>
            </a:pPr>
          </a:p>
        </p:txBody>
      </p:sp>
      <p:sp>
        <p:nvSpPr>
          <p:cNvPr name="TextBox 20" id="20"/>
          <p:cNvSpPr txBox="true"/>
          <p:nvPr/>
        </p:nvSpPr>
        <p:spPr>
          <a:xfrm rot="0">
            <a:off x="476250" y="1748452"/>
            <a:ext cx="13758840" cy="1914526"/>
          </a:xfrm>
          <a:prstGeom prst="rect">
            <a:avLst/>
          </a:prstGeom>
        </p:spPr>
        <p:txBody>
          <a:bodyPr anchor="t" rtlCol="false" tIns="0" lIns="0" bIns="0" rIns="0">
            <a:spAutoFit/>
          </a:bodyPr>
          <a:lstStyle/>
          <a:p>
            <a:pPr algn="l" marL="0" indent="0" lvl="0">
              <a:lnSpc>
                <a:spcPts val="7200"/>
              </a:lnSpc>
              <a:spcBef>
                <a:spcPct val="0"/>
              </a:spcBef>
            </a:pPr>
            <a:r>
              <a:rPr lang="en-US" b="true" sz="8000">
                <a:solidFill>
                  <a:srgbClr val="1C1C1C"/>
                </a:solidFill>
                <a:latin typeface="Open Sauce Bold"/>
                <a:ea typeface="Open Sauce Bold"/>
                <a:cs typeface="Open Sauce Bold"/>
                <a:sym typeface="Open Sauce Bold"/>
              </a:rPr>
              <a:t>International Trade and Global Risks</a:t>
            </a:r>
          </a:p>
        </p:txBody>
      </p:sp>
      <p:sp>
        <p:nvSpPr>
          <p:cNvPr name="TextBox 21" id="21"/>
          <p:cNvSpPr txBox="true"/>
          <p:nvPr/>
        </p:nvSpPr>
        <p:spPr>
          <a:xfrm rot="0">
            <a:off x="484188" y="529251"/>
            <a:ext cx="5548312" cy="1000126"/>
          </a:xfrm>
          <a:prstGeom prst="rect">
            <a:avLst/>
          </a:prstGeom>
        </p:spPr>
        <p:txBody>
          <a:bodyPr anchor="t" rtlCol="false" tIns="0" lIns="0" bIns="0" rIns="0">
            <a:spAutoFit/>
          </a:bodyPr>
          <a:lstStyle/>
          <a:p>
            <a:pPr algn="l" marL="0" indent="0" lvl="0">
              <a:lnSpc>
                <a:spcPts val="7200"/>
              </a:lnSpc>
              <a:spcBef>
                <a:spcPct val="0"/>
              </a:spcBef>
            </a:pPr>
            <a:r>
              <a:rPr lang="en-US" b="true" sz="8000">
                <a:solidFill>
                  <a:srgbClr val="1C1C1C"/>
                </a:solidFill>
                <a:latin typeface="Open Sauce Bold"/>
                <a:ea typeface="Open Sauce Bold"/>
                <a:cs typeface="Open Sauce Bold"/>
                <a:sym typeface="Open Sauce Bold"/>
              </a:rPr>
              <a:t>MODULE 6</a:t>
            </a:r>
          </a:p>
        </p:txBody>
      </p:sp>
      <p:sp>
        <p:nvSpPr>
          <p:cNvPr name="TextBox 22" id="22"/>
          <p:cNvSpPr txBox="true"/>
          <p:nvPr/>
        </p:nvSpPr>
        <p:spPr>
          <a:xfrm rot="0">
            <a:off x="476250" y="3996353"/>
            <a:ext cx="12851249" cy="352493"/>
          </a:xfrm>
          <a:prstGeom prst="rect">
            <a:avLst/>
          </a:prstGeom>
        </p:spPr>
        <p:txBody>
          <a:bodyPr anchor="t" rtlCol="false" tIns="0" lIns="0" bIns="0" rIns="0">
            <a:spAutoFit/>
          </a:bodyPr>
          <a:lstStyle/>
          <a:p>
            <a:pPr algn="l">
              <a:lnSpc>
                <a:spcPts val="2918"/>
              </a:lnSpc>
              <a:spcBef>
                <a:spcPct val="0"/>
              </a:spcBef>
            </a:pPr>
            <a:r>
              <a:rPr lang="en-US" sz="2244">
                <a:solidFill>
                  <a:srgbClr val="000000"/>
                </a:solidFill>
                <a:latin typeface="Open Sauce"/>
                <a:ea typeface="Open Sauce"/>
                <a:cs typeface="Open Sauce"/>
                <a:sym typeface="Open Sauce"/>
              </a:rPr>
              <a:t>HOW GLOBAL SOURCING OF INGREDIENTS EXPOSES CHIPOTLE TO TRADE RISK</a:t>
            </a:r>
          </a:p>
        </p:txBody>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sp>
        <p:nvSpPr>
          <p:cNvPr name="Freeform 2" id="2"/>
          <p:cNvSpPr/>
          <p:nvPr/>
        </p:nvSpPr>
        <p:spPr>
          <a:xfrm flipH="false" flipV="false" rot="0">
            <a:off x="9661816" y="1842547"/>
            <a:ext cx="426172" cy="426172"/>
          </a:xfrm>
          <a:custGeom>
            <a:avLst/>
            <a:gdLst/>
            <a:ahLst/>
            <a:cxnLst/>
            <a:rect r="r" b="b" t="t" l="l"/>
            <a:pathLst>
              <a:path h="426172" w="426172">
                <a:moveTo>
                  <a:pt x="0" y="0"/>
                </a:moveTo>
                <a:lnTo>
                  <a:pt x="426172" y="0"/>
                </a:lnTo>
                <a:lnTo>
                  <a:pt x="426172" y="426172"/>
                </a:lnTo>
                <a:lnTo>
                  <a:pt x="0" y="4261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9661816" y="4559695"/>
            <a:ext cx="426172" cy="426172"/>
          </a:xfrm>
          <a:custGeom>
            <a:avLst/>
            <a:gdLst/>
            <a:ahLst/>
            <a:cxnLst/>
            <a:rect r="r" b="b" t="t" l="l"/>
            <a:pathLst>
              <a:path h="426172" w="426172">
                <a:moveTo>
                  <a:pt x="0" y="0"/>
                </a:moveTo>
                <a:lnTo>
                  <a:pt x="426172" y="0"/>
                </a:lnTo>
                <a:lnTo>
                  <a:pt x="426172" y="426172"/>
                </a:lnTo>
                <a:lnTo>
                  <a:pt x="0" y="4261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9661816" y="7276842"/>
            <a:ext cx="426172" cy="426172"/>
          </a:xfrm>
          <a:custGeom>
            <a:avLst/>
            <a:gdLst/>
            <a:ahLst/>
            <a:cxnLst/>
            <a:rect r="r" b="b" t="t" l="l"/>
            <a:pathLst>
              <a:path h="426172" w="426172">
                <a:moveTo>
                  <a:pt x="0" y="0"/>
                </a:moveTo>
                <a:lnTo>
                  <a:pt x="426172" y="0"/>
                </a:lnTo>
                <a:lnTo>
                  <a:pt x="426172" y="426173"/>
                </a:lnTo>
                <a:lnTo>
                  <a:pt x="0" y="426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5" id="5"/>
          <p:cNvSpPr/>
          <p:nvPr/>
        </p:nvSpPr>
        <p:spPr>
          <a:xfrm>
            <a:off x="9661816" y="4046547"/>
            <a:ext cx="8626184" cy="0"/>
          </a:xfrm>
          <a:prstGeom prst="line">
            <a:avLst/>
          </a:prstGeom>
          <a:ln cap="flat" w="19050">
            <a:solidFill>
              <a:srgbClr val="EDEAE1"/>
            </a:solidFill>
            <a:prstDash val="solid"/>
            <a:headEnd type="none" len="sm" w="sm"/>
            <a:tailEnd type="none" len="sm" w="sm"/>
          </a:ln>
        </p:spPr>
      </p:sp>
      <p:sp>
        <p:nvSpPr>
          <p:cNvPr name="AutoShape 6" id="6"/>
          <p:cNvSpPr/>
          <p:nvPr/>
        </p:nvSpPr>
        <p:spPr>
          <a:xfrm>
            <a:off x="9661816" y="6763695"/>
            <a:ext cx="8626184" cy="0"/>
          </a:xfrm>
          <a:prstGeom prst="line">
            <a:avLst/>
          </a:prstGeom>
          <a:ln cap="flat" w="19050">
            <a:solidFill>
              <a:srgbClr val="EDEAE1"/>
            </a:solidFill>
            <a:prstDash val="solid"/>
            <a:headEnd type="none" len="sm" w="sm"/>
            <a:tailEnd type="none" len="sm" w="sm"/>
          </a:ln>
        </p:spPr>
      </p:sp>
      <p:sp>
        <p:nvSpPr>
          <p:cNvPr name="AutoShape 7" id="7"/>
          <p:cNvSpPr/>
          <p:nvPr/>
        </p:nvSpPr>
        <p:spPr>
          <a:xfrm>
            <a:off x="9661816" y="9480843"/>
            <a:ext cx="8626184" cy="0"/>
          </a:xfrm>
          <a:prstGeom prst="line">
            <a:avLst/>
          </a:prstGeom>
          <a:ln cap="flat" w="19050">
            <a:solidFill>
              <a:srgbClr val="EDEAE1"/>
            </a:solidFill>
            <a:prstDash val="solid"/>
            <a:headEnd type="none" len="sm" w="sm"/>
            <a:tailEnd type="none" len="sm" w="sm"/>
          </a:ln>
        </p:spPr>
      </p:sp>
      <p:grpSp>
        <p:nvGrpSpPr>
          <p:cNvPr name="Group 8" id="8"/>
          <p:cNvGrpSpPr/>
          <p:nvPr/>
        </p:nvGrpSpPr>
        <p:grpSpPr>
          <a:xfrm rot="0">
            <a:off x="1779413" y="532610"/>
            <a:ext cx="5246370" cy="524637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38333" r="0" b="-38333"/>
              </a:stretch>
            </a:blipFill>
          </p:spPr>
        </p:sp>
      </p:grpSp>
      <p:sp>
        <p:nvSpPr>
          <p:cNvPr name="TextBox 10" id="10"/>
          <p:cNvSpPr txBox="true"/>
          <p:nvPr/>
        </p:nvSpPr>
        <p:spPr>
          <a:xfrm rot="0">
            <a:off x="878220" y="6281177"/>
            <a:ext cx="7620256" cy="3609253"/>
          </a:xfrm>
          <a:prstGeom prst="rect">
            <a:avLst/>
          </a:prstGeom>
        </p:spPr>
        <p:txBody>
          <a:bodyPr anchor="t" rtlCol="false" tIns="0" lIns="0" bIns="0" rIns="0">
            <a:spAutoFit/>
          </a:bodyPr>
          <a:lstStyle/>
          <a:p>
            <a:pPr algn="ctr" marL="0" indent="0" lvl="1">
              <a:lnSpc>
                <a:spcPts val="9303"/>
              </a:lnSpc>
              <a:spcBef>
                <a:spcPct val="0"/>
              </a:spcBef>
            </a:pPr>
            <a:r>
              <a:rPr lang="en-US" sz="9792" i="true" spc="-851">
                <a:solidFill>
                  <a:srgbClr val="F1EFE9"/>
                </a:solidFill>
                <a:latin typeface="Open Sauce Italics"/>
                <a:ea typeface="Open Sauce Italics"/>
                <a:cs typeface="Open Sauce Italics"/>
                <a:sym typeface="Open Sauce Italics"/>
              </a:rPr>
              <a:t>TIMELINE: MAJOR TRADE EVENTS</a:t>
            </a:r>
          </a:p>
        </p:txBody>
      </p:sp>
      <p:sp>
        <p:nvSpPr>
          <p:cNvPr name="TextBox 11" id="11"/>
          <p:cNvSpPr txBox="true"/>
          <p:nvPr/>
        </p:nvSpPr>
        <p:spPr>
          <a:xfrm rot="0">
            <a:off x="16163566" y="676275"/>
            <a:ext cx="1095734" cy="323215"/>
          </a:xfrm>
          <a:prstGeom prst="rect">
            <a:avLst/>
          </a:prstGeom>
        </p:spPr>
        <p:txBody>
          <a:bodyPr anchor="t" rtlCol="false" tIns="0" lIns="0" bIns="0" rIns="0">
            <a:spAutoFit/>
          </a:bodyPr>
          <a:lstStyle/>
          <a:p>
            <a:pPr algn="r" marL="0" indent="0" lvl="0">
              <a:lnSpc>
                <a:spcPts val="2659"/>
              </a:lnSpc>
              <a:spcBef>
                <a:spcPct val="0"/>
              </a:spcBef>
            </a:pPr>
            <a:r>
              <a:rPr lang="en-US" b="true" sz="1899" spc="-66">
                <a:solidFill>
                  <a:srgbClr val="F1EFE9"/>
                </a:solidFill>
                <a:latin typeface="Arial Nova Bold"/>
                <a:ea typeface="Arial Nova Bold"/>
                <a:cs typeface="Arial Nova Bold"/>
                <a:sym typeface="Arial Nova Bold"/>
              </a:rPr>
              <a:t>2025</a:t>
            </a:r>
          </a:p>
        </p:txBody>
      </p:sp>
      <p:sp>
        <p:nvSpPr>
          <p:cNvPr name="TextBox 12" id="12"/>
          <p:cNvSpPr txBox="true"/>
          <p:nvPr/>
        </p:nvSpPr>
        <p:spPr>
          <a:xfrm rot="0">
            <a:off x="10900125" y="2574389"/>
            <a:ext cx="6359175" cy="1143762"/>
          </a:xfrm>
          <a:prstGeom prst="rect">
            <a:avLst/>
          </a:prstGeom>
        </p:spPr>
        <p:txBody>
          <a:bodyPr anchor="t" rtlCol="false" tIns="0" lIns="0" bIns="0" rIns="0">
            <a:spAutoFit/>
          </a:bodyPr>
          <a:lstStyle/>
          <a:p>
            <a:pPr algn="just" marL="0" indent="0" lvl="0">
              <a:lnSpc>
                <a:spcPts val="3024"/>
              </a:lnSpc>
              <a:spcBef>
                <a:spcPct val="0"/>
              </a:spcBef>
            </a:pPr>
            <a:r>
              <a:rPr lang="en-US" sz="2400" spc="-91">
                <a:solidFill>
                  <a:srgbClr val="F1EFE9"/>
                </a:solidFill>
                <a:latin typeface="Open Sauce"/>
                <a:ea typeface="Open Sauce"/>
                <a:cs typeface="Open Sauce"/>
                <a:sym typeface="Open Sauce"/>
              </a:rPr>
              <a:t>USMCA replaces NAFTA (tariff free) </a:t>
            </a:r>
            <a:r>
              <a:rPr lang="en-US" sz="2400" spc="-91" strike="noStrike" u="none">
                <a:solidFill>
                  <a:srgbClr val="F1EFE9"/>
                </a:solidFill>
                <a:latin typeface="Open Sauce"/>
                <a:ea typeface="Open Sauce"/>
                <a:cs typeface="Open Sauce"/>
                <a:sym typeface="Open Sauce"/>
              </a:rPr>
              <a:t>Tariff- free access to Mexican produce (avocados and limes) continues.</a:t>
            </a:r>
          </a:p>
        </p:txBody>
      </p:sp>
      <p:sp>
        <p:nvSpPr>
          <p:cNvPr name="TextBox 13" id="13"/>
          <p:cNvSpPr txBox="true"/>
          <p:nvPr/>
        </p:nvSpPr>
        <p:spPr>
          <a:xfrm rot="0">
            <a:off x="10900125" y="5300537"/>
            <a:ext cx="6846134" cy="1143762"/>
          </a:xfrm>
          <a:prstGeom prst="rect">
            <a:avLst/>
          </a:prstGeom>
        </p:spPr>
        <p:txBody>
          <a:bodyPr anchor="t" rtlCol="false" tIns="0" lIns="0" bIns="0" rIns="0">
            <a:spAutoFit/>
          </a:bodyPr>
          <a:lstStyle/>
          <a:p>
            <a:pPr algn="just" marL="0" indent="0" lvl="0">
              <a:lnSpc>
                <a:spcPts val="3024"/>
              </a:lnSpc>
              <a:spcBef>
                <a:spcPct val="0"/>
              </a:spcBef>
            </a:pPr>
            <a:r>
              <a:rPr lang="en-US" sz="2400" spc="-91">
                <a:solidFill>
                  <a:srgbClr val="F1EFE9"/>
                </a:solidFill>
                <a:latin typeface="Open Sauce"/>
                <a:ea typeface="Open Sauce"/>
                <a:cs typeface="Open Sauce"/>
                <a:sym typeface="Open Sauce"/>
              </a:rPr>
              <a:t>COVID AND shipping crisis increase costs</a:t>
            </a:r>
          </a:p>
          <a:p>
            <a:pPr algn="just" marL="0" indent="0" lvl="0">
              <a:lnSpc>
                <a:spcPts val="3024"/>
              </a:lnSpc>
              <a:spcBef>
                <a:spcPct val="0"/>
              </a:spcBef>
            </a:pPr>
            <a:r>
              <a:rPr lang="en-US" sz="2400" spc="-91" strike="noStrike" u="none">
                <a:solidFill>
                  <a:srgbClr val="F1EFE9"/>
                </a:solidFill>
                <a:latin typeface="Open Sauce"/>
                <a:ea typeface="Open Sauce"/>
                <a:cs typeface="Open Sauce"/>
                <a:sym typeface="Open Sauce"/>
              </a:rPr>
              <a:t>Port congestion and high freight costs affect import timing and prices.</a:t>
            </a:r>
          </a:p>
        </p:txBody>
      </p:sp>
      <p:sp>
        <p:nvSpPr>
          <p:cNvPr name="TextBox 14" id="14"/>
          <p:cNvSpPr txBox="true"/>
          <p:nvPr/>
        </p:nvSpPr>
        <p:spPr>
          <a:xfrm rot="0">
            <a:off x="10900125" y="8085803"/>
            <a:ext cx="6359175" cy="1143762"/>
          </a:xfrm>
          <a:prstGeom prst="rect">
            <a:avLst/>
          </a:prstGeom>
        </p:spPr>
        <p:txBody>
          <a:bodyPr anchor="t" rtlCol="false" tIns="0" lIns="0" bIns="0" rIns="0">
            <a:spAutoFit/>
          </a:bodyPr>
          <a:lstStyle/>
          <a:p>
            <a:pPr algn="just" marL="0" indent="0" lvl="0">
              <a:lnSpc>
                <a:spcPts val="3024"/>
              </a:lnSpc>
              <a:spcBef>
                <a:spcPct val="0"/>
              </a:spcBef>
            </a:pPr>
            <a:r>
              <a:rPr lang="en-US" sz="2400" spc="-91">
                <a:solidFill>
                  <a:srgbClr val="F1EFE9"/>
                </a:solidFill>
                <a:latin typeface="Open Sauce"/>
                <a:ea typeface="Open Sauce"/>
                <a:cs typeface="Open Sauce"/>
                <a:sym typeface="Open Sauce"/>
              </a:rPr>
              <a:t>USDA suspends Mexican avocado imports temporarily </a:t>
            </a:r>
            <a:r>
              <a:rPr lang="en-US" sz="2400" spc="-91" strike="noStrike" u="none">
                <a:solidFill>
                  <a:srgbClr val="F1EFE9"/>
                </a:solidFill>
                <a:latin typeface="Open Sauce"/>
                <a:ea typeface="Open Sauce"/>
                <a:cs typeface="Open Sauce"/>
                <a:sym typeface="Open Sauce"/>
              </a:rPr>
              <a:t>USDA halts imports after cartel threaths ; prices spike.</a:t>
            </a:r>
          </a:p>
        </p:txBody>
      </p:sp>
      <p:sp>
        <p:nvSpPr>
          <p:cNvPr name="TextBox 15" id="15"/>
          <p:cNvSpPr txBox="true"/>
          <p:nvPr/>
        </p:nvSpPr>
        <p:spPr>
          <a:xfrm rot="0">
            <a:off x="10900125" y="1705978"/>
            <a:ext cx="6846134" cy="720557"/>
          </a:xfrm>
          <a:prstGeom prst="rect">
            <a:avLst/>
          </a:prstGeom>
        </p:spPr>
        <p:txBody>
          <a:bodyPr anchor="t" rtlCol="false" tIns="0" lIns="0" bIns="0" rIns="0">
            <a:spAutoFit/>
          </a:bodyPr>
          <a:lstStyle/>
          <a:p>
            <a:pPr algn="just" marL="0" indent="0" lvl="1">
              <a:lnSpc>
                <a:spcPts val="5314"/>
              </a:lnSpc>
              <a:spcBef>
                <a:spcPct val="0"/>
              </a:spcBef>
            </a:pPr>
            <a:r>
              <a:rPr lang="en-US" sz="5594" spc="-486">
                <a:solidFill>
                  <a:srgbClr val="F1EFE9"/>
                </a:solidFill>
                <a:latin typeface="Open Sauce"/>
                <a:ea typeface="Open Sauce"/>
                <a:cs typeface="Open Sauce"/>
                <a:sym typeface="Open Sauce"/>
              </a:rPr>
              <a:t>2020</a:t>
            </a:r>
          </a:p>
        </p:txBody>
      </p:sp>
      <p:sp>
        <p:nvSpPr>
          <p:cNvPr name="TextBox 16" id="16"/>
          <p:cNvSpPr txBox="true"/>
          <p:nvPr/>
        </p:nvSpPr>
        <p:spPr>
          <a:xfrm rot="0">
            <a:off x="10900125" y="4422943"/>
            <a:ext cx="6846134" cy="720557"/>
          </a:xfrm>
          <a:prstGeom prst="rect">
            <a:avLst/>
          </a:prstGeom>
        </p:spPr>
        <p:txBody>
          <a:bodyPr anchor="t" rtlCol="false" tIns="0" lIns="0" bIns="0" rIns="0">
            <a:spAutoFit/>
          </a:bodyPr>
          <a:lstStyle/>
          <a:p>
            <a:pPr algn="just" marL="0" indent="0" lvl="1">
              <a:lnSpc>
                <a:spcPts val="5314"/>
              </a:lnSpc>
              <a:spcBef>
                <a:spcPct val="0"/>
              </a:spcBef>
            </a:pPr>
            <a:r>
              <a:rPr lang="en-US" sz="5594" spc="-486">
                <a:solidFill>
                  <a:srgbClr val="F1EFE9"/>
                </a:solidFill>
                <a:latin typeface="Open Sauce"/>
                <a:ea typeface="Open Sauce"/>
                <a:cs typeface="Open Sauce"/>
                <a:sym typeface="Open Sauce"/>
              </a:rPr>
              <a:t>2021</a:t>
            </a:r>
          </a:p>
        </p:txBody>
      </p:sp>
      <p:sp>
        <p:nvSpPr>
          <p:cNvPr name="TextBox 17" id="17"/>
          <p:cNvSpPr txBox="true"/>
          <p:nvPr/>
        </p:nvSpPr>
        <p:spPr>
          <a:xfrm rot="0">
            <a:off x="10900125" y="7135170"/>
            <a:ext cx="6846134" cy="720557"/>
          </a:xfrm>
          <a:prstGeom prst="rect">
            <a:avLst/>
          </a:prstGeom>
        </p:spPr>
        <p:txBody>
          <a:bodyPr anchor="t" rtlCol="false" tIns="0" lIns="0" bIns="0" rIns="0">
            <a:spAutoFit/>
          </a:bodyPr>
          <a:lstStyle/>
          <a:p>
            <a:pPr algn="just" marL="0" indent="0" lvl="1">
              <a:lnSpc>
                <a:spcPts val="5314"/>
              </a:lnSpc>
              <a:spcBef>
                <a:spcPct val="0"/>
              </a:spcBef>
            </a:pPr>
            <a:r>
              <a:rPr lang="en-US" sz="5594" spc="-486">
                <a:solidFill>
                  <a:srgbClr val="F1EFE9"/>
                </a:solidFill>
                <a:latin typeface="Open Sauce"/>
                <a:ea typeface="Open Sauce"/>
                <a:cs typeface="Open Sauce"/>
                <a:sym typeface="Open Sauce"/>
              </a:rPr>
              <a:t>2022</a:t>
            </a:r>
          </a:p>
        </p:txBody>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83030"/>
        </a:solidFill>
      </p:bgPr>
    </p:bg>
    <p:spTree>
      <p:nvGrpSpPr>
        <p:cNvPr id="1" name=""/>
        <p:cNvGrpSpPr/>
        <p:nvPr/>
      </p:nvGrpSpPr>
      <p:grpSpPr>
        <a:xfrm>
          <a:off x="0" y="0"/>
          <a:ext cx="0" cy="0"/>
          <a:chOff x="0" y="0"/>
          <a:chExt cx="0" cy="0"/>
        </a:xfrm>
      </p:grpSpPr>
      <p:sp>
        <p:nvSpPr>
          <p:cNvPr name="Freeform 2" id="2"/>
          <p:cNvSpPr/>
          <p:nvPr/>
        </p:nvSpPr>
        <p:spPr>
          <a:xfrm flipH="false" flipV="false" rot="0">
            <a:off x="9661816" y="1842547"/>
            <a:ext cx="426172" cy="426172"/>
          </a:xfrm>
          <a:custGeom>
            <a:avLst/>
            <a:gdLst/>
            <a:ahLst/>
            <a:cxnLst/>
            <a:rect r="r" b="b" t="t" l="l"/>
            <a:pathLst>
              <a:path h="426172" w="426172">
                <a:moveTo>
                  <a:pt x="0" y="0"/>
                </a:moveTo>
                <a:lnTo>
                  <a:pt x="426172" y="0"/>
                </a:lnTo>
                <a:lnTo>
                  <a:pt x="426172" y="426172"/>
                </a:lnTo>
                <a:lnTo>
                  <a:pt x="0" y="4261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9661816" y="4559695"/>
            <a:ext cx="426172" cy="426172"/>
          </a:xfrm>
          <a:custGeom>
            <a:avLst/>
            <a:gdLst/>
            <a:ahLst/>
            <a:cxnLst/>
            <a:rect r="r" b="b" t="t" l="l"/>
            <a:pathLst>
              <a:path h="426172" w="426172">
                <a:moveTo>
                  <a:pt x="0" y="0"/>
                </a:moveTo>
                <a:lnTo>
                  <a:pt x="426172" y="0"/>
                </a:lnTo>
                <a:lnTo>
                  <a:pt x="426172" y="426172"/>
                </a:lnTo>
                <a:lnTo>
                  <a:pt x="0" y="4261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9661816" y="7276842"/>
            <a:ext cx="426172" cy="426172"/>
          </a:xfrm>
          <a:custGeom>
            <a:avLst/>
            <a:gdLst/>
            <a:ahLst/>
            <a:cxnLst/>
            <a:rect r="r" b="b" t="t" l="l"/>
            <a:pathLst>
              <a:path h="426172" w="426172">
                <a:moveTo>
                  <a:pt x="0" y="0"/>
                </a:moveTo>
                <a:lnTo>
                  <a:pt x="426172" y="0"/>
                </a:lnTo>
                <a:lnTo>
                  <a:pt x="426172" y="426173"/>
                </a:lnTo>
                <a:lnTo>
                  <a:pt x="0" y="426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5" id="5"/>
          <p:cNvSpPr/>
          <p:nvPr/>
        </p:nvSpPr>
        <p:spPr>
          <a:xfrm>
            <a:off x="9661816" y="4046547"/>
            <a:ext cx="8626184" cy="0"/>
          </a:xfrm>
          <a:prstGeom prst="line">
            <a:avLst/>
          </a:prstGeom>
          <a:ln cap="flat" w="19050">
            <a:solidFill>
              <a:srgbClr val="EDEAE1"/>
            </a:solidFill>
            <a:prstDash val="solid"/>
            <a:headEnd type="none" len="sm" w="sm"/>
            <a:tailEnd type="none" len="sm" w="sm"/>
          </a:ln>
        </p:spPr>
      </p:sp>
      <p:sp>
        <p:nvSpPr>
          <p:cNvPr name="AutoShape 6" id="6"/>
          <p:cNvSpPr/>
          <p:nvPr/>
        </p:nvSpPr>
        <p:spPr>
          <a:xfrm>
            <a:off x="9661816" y="6763695"/>
            <a:ext cx="8626184" cy="0"/>
          </a:xfrm>
          <a:prstGeom prst="line">
            <a:avLst/>
          </a:prstGeom>
          <a:ln cap="flat" w="19050">
            <a:solidFill>
              <a:srgbClr val="EDEAE1"/>
            </a:solidFill>
            <a:prstDash val="solid"/>
            <a:headEnd type="none" len="sm" w="sm"/>
            <a:tailEnd type="none" len="sm" w="sm"/>
          </a:ln>
        </p:spPr>
      </p:sp>
      <p:sp>
        <p:nvSpPr>
          <p:cNvPr name="AutoShape 7" id="7"/>
          <p:cNvSpPr/>
          <p:nvPr/>
        </p:nvSpPr>
        <p:spPr>
          <a:xfrm>
            <a:off x="9661816" y="9480843"/>
            <a:ext cx="8626184" cy="0"/>
          </a:xfrm>
          <a:prstGeom prst="line">
            <a:avLst/>
          </a:prstGeom>
          <a:ln cap="flat" w="19050">
            <a:solidFill>
              <a:srgbClr val="EDEAE1"/>
            </a:solidFill>
            <a:prstDash val="solid"/>
            <a:headEnd type="none" len="sm" w="sm"/>
            <a:tailEnd type="none" len="sm" w="sm"/>
          </a:ln>
        </p:spPr>
      </p:sp>
      <p:grpSp>
        <p:nvGrpSpPr>
          <p:cNvPr name="Group 8" id="8"/>
          <p:cNvGrpSpPr/>
          <p:nvPr/>
        </p:nvGrpSpPr>
        <p:grpSpPr>
          <a:xfrm rot="0">
            <a:off x="2065163" y="626572"/>
            <a:ext cx="5246370" cy="524637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38333" r="0" b="-38333"/>
              </a:stretch>
            </a:blipFill>
          </p:spPr>
        </p:sp>
      </p:grpSp>
      <p:sp>
        <p:nvSpPr>
          <p:cNvPr name="TextBox 10" id="10"/>
          <p:cNvSpPr txBox="true"/>
          <p:nvPr/>
        </p:nvSpPr>
        <p:spPr>
          <a:xfrm rot="0">
            <a:off x="922278" y="6449344"/>
            <a:ext cx="7532141" cy="3564874"/>
          </a:xfrm>
          <a:prstGeom prst="rect">
            <a:avLst/>
          </a:prstGeom>
        </p:spPr>
        <p:txBody>
          <a:bodyPr anchor="t" rtlCol="false" tIns="0" lIns="0" bIns="0" rIns="0">
            <a:spAutoFit/>
          </a:bodyPr>
          <a:lstStyle/>
          <a:p>
            <a:pPr algn="ctr" marL="0" indent="0" lvl="1">
              <a:lnSpc>
                <a:spcPts val="9195"/>
              </a:lnSpc>
              <a:spcBef>
                <a:spcPct val="0"/>
              </a:spcBef>
            </a:pPr>
            <a:r>
              <a:rPr lang="en-US" sz="9679" i="true" spc="-842">
                <a:solidFill>
                  <a:srgbClr val="F1EFE9"/>
                </a:solidFill>
                <a:latin typeface="Open Sauce Italics"/>
                <a:ea typeface="Open Sauce Italics"/>
                <a:cs typeface="Open Sauce Italics"/>
                <a:sym typeface="Open Sauce Italics"/>
              </a:rPr>
              <a:t>TIMELINE: MAJOR TRADE EVENTS</a:t>
            </a:r>
          </a:p>
        </p:txBody>
      </p:sp>
      <p:sp>
        <p:nvSpPr>
          <p:cNvPr name="TextBox 11" id="11"/>
          <p:cNvSpPr txBox="true"/>
          <p:nvPr/>
        </p:nvSpPr>
        <p:spPr>
          <a:xfrm rot="0">
            <a:off x="16163566" y="676275"/>
            <a:ext cx="1095734" cy="323215"/>
          </a:xfrm>
          <a:prstGeom prst="rect">
            <a:avLst/>
          </a:prstGeom>
        </p:spPr>
        <p:txBody>
          <a:bodyPr anchor="t" rtlCol="false" tIns="0" lIns="0" bIns="0" rIns="0">
            <a:spAutoFit/>
          </a:bodyPr>
          <a:lstStyle/>
          <a:p>
            <a:pPr algn="r" marL="0" indent="0" lvl="0">
              <a:lnSpc>
                <a:spcPts val="2659"/>
              </a:lnSpc>
              <a:spcBef>
                <a:spcPct val="0"/>
              </a:spcBef>
            </a:pPr>
            <a:r>
              <a:rPr lang="en-US" b="true" sz="1899" spc="-66">
                <a:solidFill>
                  <a:srgbClr val="F1EFE9"/>
                </a:solidFill>
                <a:latin typeface="Arial Nova Bold"/>
                <a:ea typeface="Arial Nova Bold"/>
                <a:cs typeface="Arial Nova Bold"/>
                <a:sym typeface="Arial Nova Bold"/>
              </a:rPr>
              <a:t>2025</a:t>
            </a:r>
          </a:p>
        </p:txBody>
      </p:sp>
      <p:sp>
        <p:nvSpPr>
          <p:cNvPr name="TextBox 12" id="12"/>
          <p:cNvSpPr txBox="true"/>
          <p:nvPr/>
        </p:nvSpPr>
        <p:spPr>
          <a:xfrm rot="0">
            <a:off x="10900125" y="2287882"/>
            <a:ext cx="6846134" cy="1524762"/>
          </a:xfrm>
          <a:prstGeom prst="rect">
            <a:avLst/>
          </a:prstGeom>
        </p:spPr>
        <p:txBody>
          <a:bodyPr anchor="t" rtlCol="false" tIns="0" lIns="0" bIns="0" rIns="0">
            <a:spAutoFit/>
          </a:bodyPr>
          <a:lstStyle/>
          <a:p>
            <a:pPr algn="just" marL="0" indent="0" lvl="0">
              <a:lnSpc>
                <a:spcPts val="3024"/>
              </a:lnSpc>
              <a:spcBef>
                <a:spcPct val="0"/>
              </a:spcBef>
            </a:pPr>
            <a:r>
              <a:rPr lang="en-US" sz="2400" spc="-91">
                <a:solidFill>
                  <a:srgbClr val="F1EFE9"/>
                </a:solidFill>
                <a:latin typeface="Open Sauce"/>
                <a:ea typeface="Open Sauce"/>
                <a:cs typeface="Open Sauce"/>
                <a:sym typeface="Open Sauce"/>
              </a:rPr>
              <a:t>Global freight rates dropped, and a strong Peruvian avocado harvest helped stabilize supply.</a:t>
            </a:r>
          </a:p>
          <a:p>
            <a:pPr algn="just" marL="0" indent="0" lvl="0">
              <a:lnSpc>
                <a:spcPts val="3024"/>
              </a:lnSpc>
              <a:spcBef>
                <a:spcPct val="0"/>
              </a:spcBef>
            </a:pPr>
            <a:r>
              <a:rPr lang="en-US" sz="2400" spc="-91" strike="noStrike" u="none">
                <a:solidFill>
                  <a:srgbClr val="F1EFE9"/>
                </a:solidFill>
                <a:latin typeface="Open Sauce"/>
                <a:ea typeface="Open Sauce"/>
                <a:cs typeface="Open Sauce"/>
                <a:sym typeface="Open Sauce"/>
              </a:rPr>
              <a:t>Freight costs drop ; Peru harvest helps restore market balance.</a:t>
            </a:r>
          </a:p>
        </p:txBody>
      </p:sp>
      <p:sp>
        <p:nvSpPr>
          <p:cNvPr name="TextBox 13" id="13"/>
          <p:cNvSpPr txBox="true"/>
          <p:nvPr/>
        </p:nvSpPr>
        <p:spPr>
          <a:xfrm rot="0">
            <a:off x="10900125" y="5101036"/>
            <a:ext cx="6590904" cy="1524762"/>
          </a:xfrm>
          <a:prstGeom prst="rect">
            <a:avLst/>
          </a:prstGeom>
        </p:spPr>
        <p:txBody>
          <a:bodyPr anchor="t" rtlCol="false" tIns="0" lIns="0" bIns="0" rIns="0">
            <a:spAutoFit/>
          </a:bodyPr>
          <a:lstStyle/>
          <a:p>
            <a:pPr algn="just" marL="518160" indent="-259080" lvl="1">
              <a:lnSpc>
                <a:spcPts val="3024"/>
              </a:lnSpc>
              <a:buFont typeface="Arial"/>
              <a:buChar char="•"/>
            </a:pPr>
            <a:r>
              <a:rPr lang="en-US" sz="2400" spc="-91">
                <a:solidFill>
                  <a:srgbClr val="F1EFE9"/>
                </a:solidFill>
                <a:latin typeface="Open Sauce"/>
                <a:ea typeface="Open Sauce"/>
                <a:cs typeface="Open Sauce"/>
                <a:sym typeface="Open Sauce"/>
              </a:rPr>
              <a:t>Cartel crackdown &amp; digital customs tech upgrades.</a:t>
            </a:r>
          </a:p>
          <a:p>
            <a:pPr algn="just" marL="518160" indent="-259080" lvl="1">
              <a:lnSpc>
                <a:spcPts val="3024"/>
              </a:lnSpc>
              <a:buFont typeface="Arial"/>
              <a:buChar char="•"/>
            </a:pPr>
            <a:r>
              <a:rPr lang="en-US" sz="2400" spc="-91">
                <a:solidFill>
                  <a:srgbClr val="F1EFE9"/>
                </a:solidFill>
                <a:latin typeface="Open Sauce"/>
                <a:ea typeface="Open Sauce"/>
                <a:cs typeface="Open Sauce"/>
                <a:sym typeface="Open Sauce"/>
              </a:rPr>
              <a:t>Improved safety in Michocan and streamlined border inspectations.</a:t>
            </a:r>
          </a:p>
        </p:txBody>
      </p:sp>
      <p:sp>
        <p:nvSpPr>
          <p:cNvPr name="TextBox 14" id="14"/>
          <p:cNvSpPr txBox="true"/>
          <p:nvPr/>
        </p:nvSpPr>
        <p:spPr>
          <a:xfrm rot="0">
            <a:off x="10900125" y="7963890"/>
            <a:ext cx="6590904" cy="1143762"/>
          </a:xfrm>
          <a:prstGeom prst="rect">
            <a:avLst/>
          </a:prstGeom>
        </p:spPr>
        <p:txBody>
          <a:bodyPr anchor="t" rtlCol="false" tIns="0" lIns="0" bIns="0" rIns="0">
            <a:spAutoFit/>
          </a:bodyPr>
          <a:lstStyle/>
          <a:p>
            <a:pPr algn="just" marL="0" indent="0" lvl="0">
              <a:lnSpc>
                <a:spcPts val="3024"/>
              </a:lnSpc>
              <a:spcBef>
                <a:spcPct val="0"/>
              </a:spcBef>
            </a:pPr>
            <a:r>
              <a:rPr lang="en-US" sz="2400" spc="-91">
                <a:solidFill>
                  <a:srgbClr val="F1EFE9"/>
                </a:solidFill>
                <a:latin typeface="Open Sauce"/>
                <a:ea typeface="Open Sauce"/>
                <a:cs typeface="Open Sauce"/>
                <a:sym typeface="Open Sauce"/>
              </a:rPr>
              <a:t>Jalisco avocado certification expands sourcing</a:t>
            </a:r>
          </a:p>
          <a:p>
            <a:pPr algn="just" marL="0" indent="0" lvl="0">
              <a:lnSpc>
                <a:spcPts val="3024"/>
              </a:lnSpc>
              <a:spcBef>
                <a:spcPct val="0"/>
              </a:spcBef>
            </a:pPr>
            <a:r>
              <a:rPr lang="en-US" sz="2400" spc="-91" strike="noStrike" u="none">
                <a:solidFill>
                  <a:srgbClr val="F1EFE9"/>
                </a:solidFill>
                <a:latin typeface="Open Sauce"/>
                <a:ea typeface="Open Sauce"/>
                <a:cs typeface="Open Sauce"/>
                <a:sym typeface="Open Sauce"/>
              </a:rPr>
              <a:t>Avocado sourcing expands beyond Michoacan, reducing risk.</a:t>
            </a:r>
          </a:p>
        </p:txBody>
      </p:sp>
      <p:sp>
        <p:nvSpPr>
          <p:cNvPr name="TextBox 15" id="15"/>
          <p:cNvSpPr txBox="true"/>
          <p:nvPr/>
        </p:nvSpPr>
        <p:spPr>
          <a:xfrm rot="0">
            <a:off x="10900125" y="1576850"/>
            <a:ext cx="6846134" cy="720557"/>
          </a:xfrm>
          <a:prstGeom prst="rect">
            <a:avLst/>
          </a:prstGeom>
        </p:spPr>
        <p:txBody>
          <a:bodyPr anchor="t" rtlCol="false" tIns="0" lIns="0" bIns="0" rIns="0">
            <a:spAutoFit/>
          </a:bodyPr>
          <a:lstStyle/>
          <a:p>
            <a:pPr algn="just" marL="0" indent="0" lvl="1">
              <a:lnSpc>
                <a:spcPts val="5314"/>
              </a:lnSpc>
              <a:spcBef>
                <a:spcPct val="0"/>
              </a:spcBef>
            </a:pPr>
            <a:r>
              <a:rPr lang="en-US" sz="5594" spc="-486">
                <a:solidFill>
                  <a:srgbClr val="F1EFE9"/>
                </a:solidFill>
                <a:latin typeface="Open Sauce"/>
                <a:ea typeface="Open Sauce"/>
                <a:cs typeface="Open Sauce"/>
                <a:sym typeface="Open Sauce"/>
              </a:rPr>
              <a:t>2023</a:t>
            </a:r>
          </a:p>
        </p:txBody>
      </p:sp>
      <p:sp>
        <p:nvSpPr>
          <p:cNvPr name="TextBox 16" id="16"/>
          <p:cNvSpPr txBox="true"/>
          <p:nvPr/>
        </p:nvSpPr>
        <p:spPr>
          <a:xfrm rot="0">
            <a:off x="10900125" y="4289713"/>
            <a:ext cx="6846134" cy="720557"/>
          </a:xfrm>
          <a:prstGeom prst="rect">
            <a:avLst/>
          </a:prstGeom>
        </p:spPr>
        <p:txBody>
          <a:bodyPr anchor="t" rtlCol="false" tIns="0" lIns="0" bIns="0" rIns="0">
            <a:spAutoFit/>
          </a:bodyPr>
          <a:lstStyle/>
          <a:p>
            <a:pPr algn="just" marL="0" indent="0" lvl="1">
              <a:lnSpc>
                <a:spcPts val="5314"/>
              </a:lnSpc>
              <a:spcBef>
                <a:spcPct val="0"/>
              </a:spcBef>
            </a:pPr>
            <a:r>
              <a:rPr lang="en-US" sz="5594" spc="-486">
                <a:solidFill>
                  <a:srgbClr val="F1EFE9"/>
                </a:solidFill>
                <a:latin typeface="Open Sauce"/>
                <a:ea typeface="Open Sauce"/>
                <a:cs typeface="Open Sauce"/>
                <a:sym typeface="Open Sauce"/>
              </a:rPr>
              <a:t>2024</a:t>
            </a:r>
          </a:p>
        </p:txBody>
      </p:sp>
      <p:sp>
        <p:nvSpPr>
          <p:cNvPr name="TextBox 17" id="17"/>
          <p:cNvSpPr txBox="true"/>
          <p:nvPr/>
        </p:nvSpPr>
        <p:spPr>
          <a:xfrm rot="0">
            <a:off x="10900125" y="7125645"/>
            <a:ext cx="6846134" cy="720557"/>
          </a:xfrm>
          <a:prstGeom prst="rect">
            <a:avLst/>
          </a:prstGeom>
        </p:spPr>
        <p:txBody>
          <a:bodyPr anchor="t" rtlCol="false" tIns="0" lIns="0" bIns="0" rIns="0">
            <a:spAutoFit/>
          </a:bodyPr>
          <a:lstStyle/>
          <a:p>
            <a:pPr algn="just" marL="0" indent="0" lvl="1">
              <a:lnSpc>
                <a:spcPts val="5314"/>
              </a:lnSpc>
              <a:spcBef>
                <a:spcPct val="0"/>
              </a:spcBef>
            </a:pPr>
            <a:r>
              <a:rPr lang="en-US" sz="5594" spc="-486">
                <a:solidFill>
                  <a:srgbClr val="F1EFE9"/>
                </a:solidFill>
                <a:latin typeface="Open Sauce"/>
                <a:ea typeface="Open Sauce"/>
                <a:cs typeface="Open Sauce"/>
                <a:sym typeface="Open Sauce"/>
              </a:rPr>
              <a:t>2025</a:t>
            </a:r>
          </a:p>
        </p:txBody>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7F2"/>
        </a:solidFill>
      </p:bgPr>
    </p:bg>
    <p:spTree>
      <p:nvGrpSpPr>
        <p:cNvPr id="1" name=""/>
        <p:cNvGrpSpPr/>
        <p:nvPr/>
      </p:nvGrpSpPr>
      <p:grpSpPr>
        <a:xfrm>
          <a:off x="0" y="0"/>
          <a:ext cx="0" cy="0"/>
          <a:chOff x="0" y="0"/>
          <a:chExt cx="0" cy="0"/>
        </a:xfrm>
      </p:grpSpPr>
      <p:sp>
        <p:nvSpPr>
          <p:cNvPr name="AutoShape 2" id="2"/>
          <p:cNvSpPr/>
          <p:nvPr/>
        </p:nvSpPr>
        <p:spPr>
          <a:xfrm>
            <a:off x="1028700" y="4367439"/>
            <a:ext cx="6394827" cy="0"/>
          </a:xfrm>
          <a:prstGeom prst="line">
            <a:avLst/>
          </a:prstGeom>
          <a:ln cap="flat" w="28575">
            <a:solidFill>
              <a:srgbClr val="BC1823"/>
            </a:solidFill>
            <a:prstDash val="solid"/>
            <a:headEnd type="none" len="sm" w="sm"/>
            <a:tailEnd type="none" len="sm" w="sm"/>
          </a:ln>
        </p:spPr>
      </p:sp>
      <p:sp>
        <p:nvSpPr>
          <p:cNvPr name="AutoShape 3" id="3"/>
          <p:cNvSpPr/>
          <p:nvPr/>
        </p:nvSpPr>
        <p:spPr>
          <a:xfrm>
            <a:off x="1034419" y="5852250"/>
            <a:ext cx="6394827" cy="0"/>
          </a:xfrm>
          <a:prstGeom prst="line">
            <a:avLst/>
          </a:prstGeom>
          <a:ln cap="flat" w="28575">
            <a:solidFill>
              <a:srgbClr val="BC1823"/>
            </a:solidFill>
            <a:prstDash val="solid"/>
            <a:headEnd type="none" len="sm" w="sm"/>
            <a:tailEnd type="none" len="sm" w="sm"/>
          </a:ln>
        </p:spPr>
      </p:sp>
      <p:sp>
        <p:nvSpPr>
          <p:cNvPr name="AutoShape 4" id="4"/>
          <p:cNvSpPr/>
          <p:nvPr/>
        </p:nvSpPr>
        <p:spPr>
          <a:xfrm>
            <a:off x="8210032" y="4353151"/>
            <a:ext cx="6394827" cy="0"/>
          </a:xfrm>
          <a:prstGeom prst="line">
            <a:avLst/>
          </a:prstGeom>
          <a:ln cap="flat" w="28575">
            <a:solidFill>
              <a:srgbClr val="BC1823"/>
            </a:solidFill>
            <a:prstDash val="solid"/>
            <a:headEnd type="none" len="sm" w="sm"/>
            <a:tailEnd type="none" len="sm" w="sm"/>
          </a:ln>
        </p:spPr>
      </p:sp>
      <p:sp>
        <p:nvSpPr>
          <p:cNvPr name="AutoShape 5" id="5"/>
          <p:cNvSpPr/>
          <p:nvPr/>
        </p:nvSpPr>
        <p:spPr>
          <a:xfrm>
            <a:off x="8210032" y="5866538"/>
            <a:ext cx="6394827" cy="0"/>
          </a:xfrm>
          <a:prstGeom prst="line">
            <a:avLst/>
          </a:prstGeom>
          <a:ln cap="flat" w="28575">
            <a:solidFill>
              <a:srgbClr val="BC1823"/>
            </a:solidFill>
            <a:prstDash val="solid"/>
            <a:headEnd type="none" len="sm" w="sm"/>
            <a:tailEnd type="none" len="sm" w="sm"/>
          </a:ln>
        </p:spPr>
      </p:sp>
      <p:sp>
        <p:nvSpPr>
          <p:cNvPr name="AutoShape 6" id="6"/>
          <p:cNvSpPr/>
          <p:nvPr/>
        </p:nvSpPr>
        <p:spPr>
          <a:xfrm>
            <a:off x="1028700" y="7148784"/>
            <a:ext cx="6394827" cy="0"/>
          </a:xfrm>
          <a:prstGeom prst="line">
            <a:avLst/>
          </a:prstGeom>
          <a:ln cap="flat" w="28575">
            <a:solidFill>
              <a:srgbClr val="BC1823"/>
            </a:solidFill>
            <a:prstDash val="solid"/>
            <a:headEnd type="none" len="sm" w="sm"/>
            <a:tailEnd type="none" len="sm" w="sm"/>
          </a:ln>
        </p:spPr>
      </p:sp>
      <p:sp>
        <p:nvSpPr>
          <p:cNvPr name="AutoShape 7" id="7"/>
          <p:cNvSpPr/>
          <p:nvPr/>
        </p:nvSpPr>
        <p:spPr>
          <a:xfrm>
            <a:off x="1034419" y="8656274"/>
            <a:ext cx="6394827" cy="0"/>
          </a:xfrm>
          <a:prstGeom prst="line">
            <a:avLst/>
          </a:prstGeom>
          <a:ln cap="flat" w="28575">
            <a:solidFill>
              <a:srgbClr val="BC1823"/>
            </a:solidFill>
            <a:prstDash val="solid"/>
            <a:headEnd type="none" len="sm" w="sm"/>
            <a:tailEnd type="none" len="sm" w="sm"/>
          </a:ln>
        </p:spPr>
      </p:sp>
      <p:sp>
        <p:nvSpPr>
          <p:cNvPr name="Freeform 8" id="8"/>
          <p:cNvSpPr/>
          <p:nvPr/>
        </p:nvSpPr>
        <p:spPr>
          <a:xfrm flipH="true" flipV="true" rot="-8253973">
            <a:off x="9219206" y="-3388133"/>
            <a:ext cx="22179714" cy="13227175"/>
          </a:xfrm>
          <a:custGeom>
            <a:avLst/>
            <a:gdLst/>
            <a:ahLst/>
            <a:cxnLst/>
            <a:rect r="r" b="b" t="t" l="l"/>
            <a:pathLst>
              <a:path h="13227175" w="22179714">
                <a:moveTo>
                  <a:pt x="22179714" y="13227175"/>
                </a:moveTo>
                <a:lnTo>
                  <a:pt x="0" y="13227175"/>
                </a:lnTo>
                <a:lnTo>
                  <a:pt x="0" y="0"/>
                </a:lnTo>
                <a:lnTo>
                  <a:pt x="22179714" y="0"/>
                </a:lnTo>
                <a:lnTo>
                  <a:pt x="22179714" y="132271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516525" y="410373"/>
            <a:ext cx="15387015" cy="3156966"/>
          </a:xfrm>
          <a:prstGeom prst="rect">
            <a:avLst/>
          </a:prstGeom>
        </p:spPr>
        <p:txBody>
          <a:bodyPr anchor="t" rtlCol="false" tIns="0" lIns="0" bIns="0" rIns="0">
            <a:spAutoFit/>
          </a:bodyPr>
          <a:lstStyle/>
          <a:p>
            <a:pPr algn="l">
              <a:lnSpc>
                <a:spcPts val="11712"/>
              </a:lnSpc>
            </a:pPr>
            <a:r>
              <a:rPr lang="en-US" sz="9600">
                <a:solidFill>
                  <a:srgbClr val="000000"/>
                </a:solidFill>
                <a:latin typeface="Times New Roman Condensed"/>
                <a:ea typeface="Times New Roman Condensed"/>
                <a:cs typeface="Times New Roman Condensed"/>
                <a:sym typeface="Times New Roman Condensed"/>
              </a:rPr>
              <a:t>PANDEMIC DISTRUPTIONS AND COST SPIKES</a:t>
            </a:r>
          </a:p>
        </p:txBody>
      </p:sp>
      <p:sp>
        <p:nvSpPr>
          <p:cNvPr name="TextBox 10" id="10"/>
          <p:cNvSpPr txBox="true"/>
          <p:nvPr/>
        </p:nvSpPr>
        <p:spPr>
          <a:xfrm rot="0">
            <a:off x="8210032" y="4655910"/>
            <a:ext cx="6394827" cy="824865"/>
          </a:xfrm>
          <a:prstGeom prst="rect">
            <a:avLst/>
          </a:prstGeom>
        </p:spPr>
        <p:txBody>
          <a:bodyPr anchor="t" rtlCol="false" tIns="0" lIns="0" bIns="0" rIns="0">
            <a:spAutoFit/>
          </a:bodyPr>
          <a:lstStyle/>
          <a:p>
            <a:pPr algn="just">
              <a:lnSpc>
                <a:spcPts val="3359"/>
              </a:lnSpc>
            </a:pPr>
            <a:r>
              <a:rPr lang="en-US" sz="2400">
                <a:solidFill>
                  <a:srgbClr val="BC1823"/>
                </a:solidFill>
                <a:latin typeface="Open Sauce"/>
                <a:ea typeface="Open Sauce"/>
                <a:cs typeface="Open Sauce"/>
                <a:sym typeface="Open Sauce"/>
              </a:rPr>
              <a:t>AVOCADO PRICES DOUBLED; LIME PRICES TRIPLED IN 2022</a:t>
            </a:r>
          </a:p>
        </p:txBody>
      </p:sp>
      <p:grpSp>
        <p:nvGrpSpPr>
          <p:cNvPr name="Group 11" id="11"/>
          <p:cNvGrpSpPr/>
          <p:nvPr/>
        </p:nvGrpSpPr>
        <p:grpSpPr>
          <a:xfrm rot="0">
            <a:off x="12663664" y="6252165"/>
            <a:ext cx="3882390" cy="388239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38333" r="0" b="-38333"/>
              </a:stretch>
            </a:blipFill>
          </p:spPr>
        </p:sp>
      </p:grpSp>
      <p:sp>
        <p:nvSpPr>
          <p:cNvPr name="TextBox 13" id="13"/>
          <p:cNvSpPr txBox="true"/>
          <p:nvPr/>
        </p:nvSpPr>
        <p:spPr>
          <a:xfrm rot="0">
            <a:off x="1034419" y="4648801"/>
            <a:ext cx="6394827" cy="1243965"/>
          </a:xfrm>
          <a:prstGeom prst="rect">
            <a:avLst/>
          </a:prstGeom>
        </p:spPr>
        <p:txBody>
          <a:bodyPr anchor="t" rtlCol="false" tIns="0" lIns="0" bIns="0" rIns="0">
            <a:spAutoFit/>
          </a:bodyPr>
          <a:lstStyle/>
          <a:p>
            <a:pPr algn="just">
              <a:lnSpc>
                <a:spcPts val="3359"/>
              </a:lnSpc>
            </a:pPr>
            <a:r>
              <a:rPr lang="en-US" sz="2400">
                <a:solidFill>
                  <a:srgbClr val="BC1823"/>
                </a:solidFill>
                <a:latin typeface="Open Sauce"/>
                <a:ea typeface="Open Sauce"/>
                <a:cs typeface="Open Sauce"/>
                <a:sym typeface="Open Sauce"/>
              </a:rPr>
              <a:t>PORT CONGESTION AND CONTAINER SHORTAGES DELAY SHIPMENTS</a:t>
            </a:r>
          </a:p>
          <a:p>
            <a:pPr algn="just">
              <a:lnSpc>
                <a:spcPts val="3359"/>
              </a:lnSpc>
            </a:pPr>
          </a:p>
        </p:txBody>
      </p:sp>
      <p:sp>
        <p:nvSpPr>
          <p:cNvPr name="TextBox 14" id="14"/>
          <p:cNvSpPr txBox="true"/>
          <p:nvPr/>
        </p:nvSpPr>
        <p:spPr>
          <a:xfrm rot="0">
            <a:off x="1028700" y="6159840"/>
            <a:ext cx="6394827" cy="1243965"/>
          </a:xfrm>
          <a:prstGeom prst="rect">
            <a:avLst/>
          </a:prstGeom>
        </p:spPr>
        <p:txBody>
          <a:bodyPr anchor="t" rtlCol="false" tIns="0" lIns="0" bIns="0" rIns="0">
            <a:spAutoFit/>
          </a:bodyPr>
          <a:lstStyle/>
          <a:p>
            <a:pPr algn="just">
              <a:lnSpc>
                <a:spcPts val="3359"/>
              </a:lnSpc>
            </a:pPr>
            <a:r>
              <a:rPr lang="en-US" sz="2400">
                <a:solidFill>
                  <a:srgbClr val="BC1823"/>
                </a:solidFill>
                <a:latin typeface="Open Sauce"/>
                <a:ea typeface="Open Sauce"/>
                <a:cs typeface="Open Sauce"/>
                <a:sym typeface="Open Sauce"/>
              </a:rPr>
              <a:t>FREIGHT COSTS ROSE SHARPLY GLOBALLY</a:t>
            </a:r>
          </a:p>
          <a:p>
            <a:pPr algn="just">
              <a:lnSpc>
                <a:spcPts val="3359"/>
              </a:lnSpc>
            </a:pPr>
          </a:p>
        </p:txBody>
      </p:sp>
      <p:sp>
        <p:nvSpPr>
          <p:cNvPr name="TextBox 15" id="15"/>
          <p:cNvSpPr txBox="true"/>
          <p:nvPr/>
        </p:nvSpPr>
        <p:spPr>
          <a:xfrm rot="0">
            <a:off x="1034419" y="7547565"/>
            <a:ext cx="6394827" cy="1243965"/>
          </a:xfrm>
          <a:prstGeom prst="rect">
            <a:avLst/>
          </a:prstGeom>
        </p:spPr>
        <p:txBody>
          <a:bodyPr anchor="t" rtlCol="false" tIns="0" lIns="0" bIns="0" rIns="0">
            <a:spAutoFit/>
          </a:bodyPr>
          <a:lstStyle/>
          <a:p>
            <a:pPr algn="just">
              <a:lnSpc>
                <a:spcPts val="3359"/>
              </a:lnSpc>
            </a:pPr>
            <a:r>
              <a:rPr lang="en-US" sz="2400">
                <a:solidFill>
                  <a:srgbClr val="BC1823"/>
                </a:solidFill>
                <a:latin typeface="Open Sauce"/>
                <a:ea typeface="Open Sauce"/>
                <a:cs typeface="Open Sauce"/>
                <a:sym typeface="Open Sauce"/>
              </a:rPr>
              <a:t>CHIPOTLE RESPONDED WITH MODERATE MENU PRICE INCREASES</a:t>
            </a:r>
          </a:p>
          <a:p>
            <a:pPr algn="just">
              <a:lnSpc>
                <a:spcPts val="3359"/>
              </a:lnSpc>
            </a:pPr>
          </a:p>
        </p:txBody>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DF7EF">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3554022">
            <a:off x="1768119" y="-7642360"/>
            <a:ext cx="24933943" cy="14869697"/>
          </a:xfrm>
          <a:custGeom>
            <a:avLst/>
            <a:gdLst/>
            <a:ahLst/>
            <a:cxnLst/>
            <a:rect r="r" b="b" t="t" l="l"/>
            <a:pathLst>
              <a:path h="14869697" w="24933943">
                <a:moveTo>
                  <a:pt x="0" y="0"/>
                </a:moveTo>
                <a:lnTo>
                  <a:pt x="24933943" y="0"/>
                </a:lnTo>
                <a:lnTo>
                  <a:pt x="24933943" y="14869697"/>
                </a:lnTo>
                <a:lnTo>
                  <a:pt x="0" y="148696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6398" y="1333975"/>
            <a:ext cx="15433919" cy="7619050"/>
            <a:chOff x="0" y="0"/>
            <a:chExt cx="4064900" cy="2006663"/>
          </a:xfrm>
        </p:grpSpPr>
        <p:sp>
          <p:nvSpPr>
            <p:cNvPr name="Freeform 4" id="4"/>
            <p:cNvSpPr/>
            <p:nvPr/>
          </p:nvSpPr>
          <p:spPr>
            <a:xfrm flipH="false" flipV="false" rot="0">
              <a:off x="0" y="0"/>
              <a:ext cx="4064900" cy="2006663"/>
            </a:xfrm>
            <a:custGeom>
              <a:avLst/>
              <a:gdLst/>
              <a:ahLst/>
              <a:cxnLst/>
              <a:rect r="r" b="b" t="t" l="l"/>
              <a:pathLst>
                <a:path h="2006663" w="4064900">
                  <a:moveTo>
                    <a:pt x="0" y="0"/>
                  </a:moveTo>
                  <a:lnTo>
                    <a:pt x="4064900" y="0"/>
                  </a:lnTo>
                  <a:lnTo>
                    <a:pt x="4064900" y="2006663"/>
                  </a:lnTo>
                  <a:lnTo>
                    <a:pt x="0" y="2006663"/>
                  </a:lnTo>
                  <a:close/>
                </a:path>
              </a:pathLst>
            </a:custGeom>
            <a:gradFill rotWithShape="true">
              <a:gsLst>
                <a:gs pos="0">
                  <a:srgbClr val="FDF7EF">
                    <a:alpha val="100000"/>
                  </a:srgbClr>
                </a:gs>
                <a:gs pos="100000">
                  <a:srgbClr val="FFFFFF">
                    <a:alpha val="100000"/>
                  </a:srgbClr>
                </a:gs>
              </a:gsLst>
              <a:lin ang="0"/>
            </a:gradFill>
            <a:ln w="38100" cap="sq">
              <a:solidFill>
                <a:srgbClr val="202354"/>
              </a:solidFill>
              <a:prstDash val="solid"/>
              <a:miter/>
            </a:ln>
          </p:spPr>
        </p:sp>
        <p:sp>
          <p:nvSpPr>
            <p:cNvPr name="TextBox 5" id="5"/>
            <p:cNvSpPr txBox="true"/>
            <p:nvPr/>
          </p:nvSpPr>
          <p:spPr>
            <a:xfrm>
              <a:off x="0" y="9525"/>
              <a:ext cx="4064900" cy="1997138"/>
            </a:xfrm>
            <a:prstGeom prst="rect">
              <a:avLst/>
            </a:prstGeom>
          </p:spPr>
          <p:txBody>
            <a:bodyPr anchor="ctr" rtlCol="false" tIns="50800" lIns="50800" bIns="50800" rIns="50800"/>
            <a:lstStyle/>
            <a:p>
              <a:pPr algn="ctr">
                <a:lnSpc>
                  <a:spcPts val="1869"/>
                </a:lnSpc>
              </a:pPr>
            </a:p>
          </p:txBody>
        </p:sp>
      </p:grpSp>
      <p:sp>
        <p:nvSpPr>
          <p:cNvPr name="AutoShape 6" id="6"/>
          <p:cNvSpPr/>
          <p:nvPr/>
        </p:nvSpPr>
        <p:spPr>
          <a:xfrm flipH="true" flipV="true">
            <a:off x="9144000" y="2519092"/>
            <a:ext cx="0" cy="5578178"/>
          </a:xfrm>
          <a:prstGeom prst="line">
            <a:avLst/>
          </a:prstGeom>
          <a:ln cap="flat" w="133350">
            <a:solidFill>
              <a:srgbClr val="D15353"/>
            </a:solidFill>
            <a:prstDash val="solid"/>
            <a:headEnd type="none" len="sm" w="sm"/>
            <a:tailEnd type="none" len="sm" w="sm"/>
          </a:ln>
        </p:spPr>
      </p:sp>
      <p:grpSp>
        <p:nvGrpSpPr>
          <p:cNvPr name="Group 7" id="7"/>
          <p:cNvGrpSpPr/>
          <p:nvPr/>
        </p:nvGrpSpPr>
        <p:grpSpPr>
          <a:xfrm rot="0">
            <a:off x="278407" y="6532736"/>
            <a:ext cx="3754264" cy="375426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38333" r="0" b="-38333"/>
              </a:stretch>
            </a:blipFill>
          </p:spPr>
        </p:sp>
      </p:grpSp>
      <p:sp>
        <p:nvSpPr>
          <p:cNvPr name="TextBox 9" id="9"/>
          <p:cNvSpPr txBox="true"/>
          <p:nvPr/>
        </p:nvSpPr>
        <p:spPr>
          <a:xfrm rot="0">
            <a:off x="2155539" y="4787120"/>
            <a:ext cx="6073325" cy="1745616"/>
          </a:xfrm>
          <a:prstGeom prst="rect">
            <a:avLst/>
          </a:prstGeom>
        </p:spPr>
        <p:txBody>
          <a:bodyPr anchor="t" rtlCol="false" tIns="0" lIns="0" bIns="0" rIns="0">
            <a:spAutoFit/>
          </a:bodyPr>
          <a:lstStyle/>
          <a:p>
            <a:pPr algn="ctr">
              <a:lnSpc>
                <a:spcPts val="6820"/>
              </a:lnSpc>
            </a:pPr>
            <a:r>
              <a:rPr lang="en-US" b="true" sz="6200">
                <a:solidFill>
                  <a:srgbClr val="253439"/>
                </a:solidFill>
                <a:latin typeface="Glacial Indifference Bold"/>
                <a:ea typeface="Glacial Indifference Bold"/>
                <a:cs typeface="Glacial Indifference Bold"/>
                <a:sym typeface="Glacial Indifference Bold"/>
              </a:rPr>
              <a:t>RESILIENCE STRATEGIES</a:t>
            </a:r>
          </a:p>
        </p:txBody>
      </p:sp>
      <p:sp>
        <p:nvSpPr>
          <p:cNvPr name="TextBox 10" id="10"/>
          <p:cNvSpPr txBox="true"/>
          <p:nvPr/>
        </p:nvSpPr>
        <p:spPr>
          <a:xfrm rot="0">
            <a:off x="2155539" y="3015809"/>
            <a:ext cx="6073325" cy="941070"/>
          </a:xfrm>
          <a:prstGeom prst="rect">
            <a:avLst/>
          </a:prstGeom>
        </p:spPr>
        <p:txBody>
          <a:bodyPr anchor="t" rtlCol="false" tIns="0" lIns="0" bIns="0" rIns="0">
            <a:spAutoFit/>
          </a:bodyPr>
          <a:lstStyle/>
          <a:p>
            <a:pPr algn="l">
              <a:lnSpc>
                <a:spcPts val="7260"/>
              </a:lnSpc>
            </a:pPr>
            <a:r>
              <a:rPr lang="en-US" sz="6600" spc="211">
                <a:solidFill>
                  <a:srgbClr val="253439"/>
                </a:solidFill>
                <a:latin typeface="HK Grotesk"/>
                <a:ea typeface="HK Grotesk"/>
                <a:cs typeface="HK Grotesk"/>
                <a:sym typeface="HK Grotesk"/>
              </a:rPr>
              <a:t>SUPPLY CHAIN</a:t>
            </a:r>
          </a:p>
        </p:txBody>
      </p:sp>
      <p:sp>
        <p:nvSpPr>
          <p:cNvPr name="TextBox 11" id="11"/>
          <p:cNvSpPr txBox="true"/>
          <p:nvPr/>
        </p:nvSpPr>
        <p:spPr>
          <a:xfrm rot="0">
            <a:off x="9500094" y="3429194"/>
            <a:ext cx="7052007" cy="3512820"/>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253439"/>
                </a:solidFill>
                <a:latin typeface="Open Sauce"/>
                <a:ea typeface="Open Sauce"/>
                <a:cs typeface="Open Sauce"/>
                <a:sym typeface="Open Sauce"/>
              </a:rPr>
              <a:t>Diversified s</a:t>
            </a:r>
            <a:r>
              <a:rPr lang="en-US" sz="2400">
                <a:solidFill>
                  <a:srgbClr val="253439"/>
                </a:solidFill>
                <a:latin typeface="Open Sauce"/>
                <a:ea typeface="Open Sauce"/>
                <a:cs typeface="Open Sauce"/>
                <a:sym typeface="Open Sauce"/>
              </a:rPr>
              <a:t>ourcing: Peru, Colombia, Jalisco (2025)</a:t>
            </a:r>
          </a:p>
          <a:p>
            <a:pPr algn="l" marL="518160" indent="-259080" lvl="1">
              <a:lnSpc>
                <a:spcPts val="3120"/>
              </a:lnSpc>
              <a:buFont typeface="Arial"/>
              <a:buChar char="•"/>
            </a:pPr>
            <a:r>
              <a:rPr lang="en-US" sz="2400">
                <a:solidFill>
                  <a:srgbClr val="253439"/>
                </a:solidFill>
                <a:latin typeface="Open Sauce"/>
                <a:ea typeface="Open Sauce"/>
                <a:cs typeface="Open Sauce"/>
                <a:sym typeface="Open Sauce"/>
              </a:rPr>
              <a:t>Built inventory buffers to reduce vulnerability</a:t>
            </a:r>
          </a:p>
          <a:p>
            <a:pPr algn="l" marL="518160" indent="-259080" lvl="1">
              <a:lnSpc>
                <a:spcPts val="3120"/>
              </a:lnSpc>
              <a:buFont typeface="Arial"/>
              <a:buChar char="•"/>
            </a:pPr>
            <a:r>
              <a:rPr lang="en-US" sz="2400">
                <a:solidFill>
                  <a:srgbClr val="253439"/>
                </a:solidFill>
                <a:latin typeface="Open Sauce"/>
                <a:ea typeface="Open Sauce"/>
                <a:cs typeface="Open Sauce"/>
                <a:sym typeface="Open Sauce"/>
              </a:rPr>
              <a:t>Raised prices to offset rising input costs</a:t>
            </a:r>
          </a:p>
          <a:p>
            <a:pPr algn="l" marL="518160" indent="-259080" lvl="1">
              <a:lnSpc>
                <a:spcPts val="3120"/>
              </a:lnSpc>
              <a:buFont typeface="Arial"/>
              <a:buChar char="•"/>
            </a:pPr>
            <a:r>
              <a:rPr lang="en-US" sz="2400">
                <a:solidFill>
                  <a:srgbClr val="253439"/>
                </a:solidFill>
                <a:latin typeface="Open Sauce"/>
                <a:ea typeface="Open Sauce"/>
                <a:cs typeface="Open Sauce"/>
                <a:sym typeface="Open Sauce"/>
              </a:rPr>
              <a:t>Supported by USDA-SAT logistics digitization</a:t>
            </a:r>
          </a:p>
          <a:p>
            <a:pPr algn="l" marL="518160" indent="-259080" lvl="1">
              <a:lnSpc>
                <a:spcPts val="3120"/>
              </a:lnSpc>
              <a:buFont typeface="Arial"/>
              <a:buChar char="•"/>
            </a:pPr>
            <a:r>
              <a:rPr lang="en-US" sz="2400">
                <a:solidFill>
                  <a:srgbClr val="253439"/>
                </a:solidFill>
                <a:latin typeface="Open Sauce"/>
                <a:ea typeface="Open Sauce"/>
                <a:cs typeface="Open Sauce"/>
                <a:sym typeface="Open Sauce"/>
              </a:rPr>
              <a:t>Suggested Visual: Sourcing Map or Checklist of Risk Strategies</a:t>
            </a:r>
          </a:p>
        </p:txBody>
      </p:sp>
    </p:spTree>
  </p:cSld>
  <p:clrMapOvr>
    <a:masterClrMapping/>
  </p:clrMapOvr>
  <p:transition spd="slow">
    <p:push dir="l"/>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371411" y="7607188"/>
            <a:ext cx="4920470" cy="1605317"/>
            <a:chOff x="0" y="0"/>
            <a:chExt cx="1073663" cy="350286"/>
          </a:xfrm>
        </p:grpSpPr>
        <p:sp>
          <p:nvSpPr>
            <p:cNvPr name="Freeform 3" id="3"/>
            <p:cNvSpPr/>
            <p:nvPr/>
          </p:nvSpPr>
          <p:spPr>
            <a:xfrm flipH="false" flipV="false" rot="0">
              <a:off x="0" y="0"/>
              <a:ext cx="1073663" cy="350286"/>
            </a:xfrm>
            <a:custGeom>
              <a:avLst/>
              <a:gdLst/>
              <a:ahLst/>
              <a:cxnLst/>
              <a:rect r="r" b="b" t="t" l="l"/>
              <a:pathLst>
                <a:path h="350286" w="1073663">
                  <a:moveTo>
                    <a:pt x="39335" y="0"/>
                  </a:moveTo>
                  <a:lnTo>
                    <a:pt x="1034328" y="0"/>
                  </a:lnTo>
                  <a:cubicBezTo>
                    <a:pt x="1056052" y="0"/>
                    <a:pt x="1073663" y="17611"/>
                    <a:pt x="1073663" y="39335"/>
                  </a:cubicBezTo>
                  <a:lnTo>
                    <a:pt x="1073663" y="310950"/>
                  </a:lnTo>
                  <a:cubicBezTo>
                    <a:pt x="1073663" y="332675"/>
                    <a:pt x="1056052" y="350286"/>
                    <a:pt x="1034328" y="350286"/>
                  </a:cubicBezTo>
                  <a:lnTo>
                    <a:pt x="39335" y="350286"/>
                  </a:lnTo>
                  <a:cubicBezTo>
                    <a:pt x="17611" y="350286"/>
                    <a:pt x="0" y="332675"/>
                    <a:pt x="0" y="310950"/>
                  </a:cubicBezTo>
                  <a:lnTo>
                    <a:pt x="0" y="39335"/>
                  </a:lnTo>
                  <a:cubicBezTo>
                    <a:pt x="0" y="17611"/>
                    <a:pt x="17611" y="0"/>
                    <a:pt x="39335" y="0"/>
                  </a:cubicBezTo>
                  <a:close/>
                </a:path>
              </a:pathLst>
            </a:custGeom>
            <a:solidFill>
              <a:srgbClr val="D83030"/>
            </a:solidFill>
            <a:ln w="9525" cap="rnd">
              <a:solidFill>
                <a:srgbClr val="D83030"/>
              </a:solidFill>
              <a:prstDash val="solid"/>
              <a:round/>
            </a:ln>
          </p:spPr>
        </p:sp>
        <p:sp>
          <p:nvSpPr>
            <p:cNvPr name="TextBox 4" id="4"/>
            <p:cNvSpPr txBox="true"/>
            <p:nvPr/>
          </p:nvSpPr>
          <p:spPr>
            <a:xfrm>
              <a:off x="0" y="-19050"/>
              <a:ext cx="1073663" cy="369336"/>
            </a:xfrm>
            <a:prstGeom prst="rect">
              <a:avLst/>
            </a:prstGeom>
          </p:spPr>
          <p:txBody>
            <a:bodyPr anchor="ctr" rtlCol="false" tIns="50800" lIns="50800" bIns="50800" rIns="50800"/>
            <a:lstStyle/>
            <a:p>
              <a:pPr algn="ctr">
                <a:lnSpc>
                  <a:spcPts val="1820"/>
                </a:lnSpc>
              </a:pPr>
            </a:p>
          </p:txBody>
        </p:sp>
      </p:grpSp>
      <p:grpSp>
        <p:nvGrpSpPr>
          <p:cNvPr name="Group 5" id="5"/>
          <p:cNvGrpSpPr/>
          <p:nvPr/>
        </p:nvGrpSpPr>
        <p:grpSpPr>
          <a:xfrm rot="0">
            <a:off x="2533922" y="3172966"/>
            <a:ext cx="5133007" cy="1670470"/>
            <a:chOff x="0" y="0"/>
            <a:chExt cx="1073663" cy="349410"/>
          </a:xfrm>
        </p:grpSpPr>
        <p:sp>
          <p:nvSpPr>
            <p:cNvPr name="Freeform 6" id="6"/>
            <p:cNvSpPr/>
            <p:nvPr/>
          </p:nvSpPr>
          <p:spPr>
            <a:xfrm flipH="false" flipV="false" rot="0">
              <a:off x="0" y="0"/>
              <a:ext cx="1073663" cy="349410"/>
            </a:xfrm>
            <a:custGeom>
              <a:avLst/>
              <a:gdLst/>
              <a:ahLst/>
              <a:cxnLst/>
              <a:rect r="r" b="b" t="t" l="l"/>
              <a:pathLst>
                <a:path h="349410" w="1073663">
                  <a:moveTo>
                    <a:pt x="37707" y="0"/>
                  </a:moveTo>
                  <a:lnTo>
                    <a:pt x="1035957" y="0"/>
                  </a:lnTo>
                  <a:cubicBezTo>
                    <a:pt x="1056782" y="0"/>
                    <a:pt x="1073663" y="16882"/>
                    <a:pt x="1073663" y="37707"/>
                  </a:cubicBezTo>
                  <a:lnTo>
                    <a:pt x="1073663" y="311703"/>
                  </a:lnTo>
                  <a:cubicBezTo>
                    <a:pt x="1073663" y="321703"/>
                    <a:pt x="1069691" y="331294"/>
                    <a:pt x="1062619" y="338366"/>
                  </a:cubicBezTo>
                  <a:cubicBezTo>
                    <a:pt x="1055548" y="345437"/>
                    <a:pt x="1045957" y="349410"/>
                    <a:pt x="1035957" y="349410"/>
                  </a:cubicBezTo>
                  <a:lnTo>
                    <a:pt x="37707" y="349410"/>
                  </a:lnTo>
                  <a:cubicBezTo>
                    <a:pt x="16882" y="349410"/>
                    <a:pt x="0" y="332528"/>
                    <a:pt x="0" y="311703"/>
                  </a:cubicBezTo>
                  <a:lnTo>
                    <a:pt x="0" y="37707"/>
                  </a:lnTo>
                  <a:cubicBezTo>
                    <a:pt x="0" y="16882"/>
                    <a:pt x="16882" y="0"/>
                    <a:pt x="37707" y="0"/>
                  </a:cubicBezTo>
                  <a:close/>
                </a:path>
              </a:pathLst>
            </a:custGeom>
            <a:solidFill>
              <a:srgbClr val="EDEDED"/>
            </a:solidFill>
            <a:ln w="9525" cap="rnd">
              <a:solidFill>
                <a:srgbClr val="D83030"/>
              </a:solidFill>
              <a:prstDash val="solid"/>
              <a:round/>
            </a:ln>
          </p:spPr>
        </p:sp>
        <p:sp>
          <p:nvSpPr>
            <p:cNvPr name="TextBox 7" id="7"/>
            <p:cNvSpPr txBox="true"/>
            <p:nvPr/>
          </p:nvSpPr>
          <p:spPr>
            <a:xfrm>
              <a:off x="0" y="-19050"/>
              <a:ext cx="1073663" cy="368460"/>
            </a:xfrm>
            <a:prstGeom prst="rect">
              <a:avLst/>
            </a:prstGeom>
          </p:spPr>
          <p:txBody>
            <a:bodyPr anchor="ctr" rtlCol="false" tIns="50800" lIns="50800" bIns="50800" rIns="50800"/>
            <a:lstStyle/>
            <a:p>
              <a:pPr algn="ctr">
                <a:lnSpc>
                  <a:spcPts val="1820"/>
                </a:lnSpc>
              </a:pPr>
            </a:p>
          </p:txBody>
        </p:sp>
      </p:grpSp>
      <p:sp>
        <p:nvSpPr>
          <p:cNvPr name="Freeform 8" id="8"/>
          <p:cNvSpPr/>
          <p:nvPr/>
        </p:nvSpPr>
        <p:spPr>
          <a:xfrm flipH="false" flipV="false" rot="0">
            <a:off x="8217027" y="5892916"/>
            <a:ext cx="1716464" cy="1714272"/>
          </a:xfrm>
          <a:custGeom>
            <a:avLst/>
            <a:gdLst/>
            <a:ahLst/>
            <a:cxnLst/>
            <a:rect r="r" b="b" t="t" l="l"/>
            <a:pathLst>
              <a:path h="1714272" w="1716464">
                <a:moveTo>
                  <a:pt x="0" y="0"/>
                </a:moveTo>
                <a:lnTo>
                  <a:pt x="1716465" y="0"/>
                </a:lnTo>
                <a:lnTo>
                  <a:pt x="1716465" y="1714272"/>
                </a:lnTo>
                <a:lnTo>
                  <a:pt x="0" y="1714272"/>
                </a:lnTo>
                <a:lnTo>
                  <a:pt x="0" y="0"/>
                </a:lnTo>
                <a:close/>
              </a:path>
            </a:pathLst>
          </a:custGeom>
          <a:blipFill>
            <a:blip r:embed="rId3"/>
            <a:stretch>
              <a:fillRect l="0" t="0" r="0" b="0"/>
            </a:stretch>
          </a:blipFill>
        </p:spPr>
      </p:sp>
      <p:sp>
        <p:nvSpPr>
          <p:cNvPr name="Freeform 9" id="9"/>
          <p:cNvSpPr/>
          <p:nvPr/>
        </p:nvSpPr>
        <p:spPr>
          <a:xfrm flipH="false" flipV="false" rot="-4858167">
            <a:off x="9317501" y="5819397"/>
            <a:ext cx="2959478" cy="3016833"/>
          </a:xfrm>
          <a:custGeom>
            <a:avLst/>
            <a:gdLst/>
            <a:ahLst/>
            <a:cxnLst/>
            <a:rect r="r" b="b" t="t" l="l"/>
            <a:pathLst>
              <a:path h="3016833" w="2959478">
                <a:moveTo>
                  <a:pt x="0" y="0"/>
                </a:moveTo>
                <a:lnTo>
                  <a:pt x="2959478" y="0"/>
                </a:lnTo>
                <a:lnTo>
                  <a:pt x="2959478" y="3016833"/>
                </a:lnTo>
                <a:lnTo>
                  <a:pt x="0" y="3016833"/>
                </a:lnTo>
                <a:lnTo>
                  <a:pt x="0" y="0"/>
                </a:lnTo>
                <a:close/>
              </a:path>
            </a:pathLst>
          </a:custGeom>
          <a:blipFill>
            <a:blip r:embed="rId4"/>
            <a:stretch>
              <a:fillRect l="0" t="0" r="0" b="0"/>
            </a:stretch>
          </a:blipFill>
        </p:spPr>
      </p:sp>
      <p:sp>
        <p:nvSpPr>
          <p:cNvPr name="Freeform 10" id="10"/>
          <p:cNvSpPr/>
          <p:nvPr/>
        </p:nvSpPr>
        <p:spPr>
          <a:xfrm flipH="false" flipV="false" rot="-4106503">
            <a:off x="6032887" y="5819397"/>
            <a:ext cx="2959478" cy="3016833"/>
          </a:xfrm>
          <a:custGeom>
            <a:avLst/>
            <a:gdLst/>
            <a:ahLst/>
            <a:cxnLst/>
            <a:rect r="r" b="b" t="t" l="l"/>
            <a:pathLst>
              <a:path h="3016833" w="2959478">
                <a:moveTo>
                  <a:pt x="0" y="0"/>
                </a:moveTo>
                <a:lnTo>
                  <a:pt x="2959478" y="0"/>
                </a:lnTo>
                <a:lnTo>
                  <a:pt x="2959478" y="3016833"/>
                </a:lnTo>
                <a:lnTo>
                  <a:pt x="0" y="3016833"/>
                </a:lnTo>
                <a:lnTo>
                  <a:pt x="0" y="0"/>
                </a:lnTo>
                <a:close/>
              </a:path>
            </a:pathLst>
          </a:custGeom>
          <a:blipFill>
            <a:blip r:embed="rId4"/>
            <a:stretch>
              <a:fillRect l="0" t="0" r="0" b="0"/>
            </a:stretch>
          </a:blipFill>
        </p:spPr>
      </p:sp>
      <p:sp>
        <p:nvSpPr>
          <p:cNvPr name="Freeform 11" id="11"/>
          <p:cNvSpPr/>
          <p:nvPr/>
        </p:nvSpPr>
        <p:spPr>
          <a:xfrm flipH="false" flipV="false" rot="2446270">
            <a:off x="7710653" y="3476805"/>
            <a:ext cx="2959478" cy="3016833"/>
          </a:xfrm>
          <a:custGeom>
            <a:avLst/>
            <a:gdLst/>
            <a:ahLst/>
            <a:cxnLst/>
            <a:rect r="r" b="b" t="t" l="l"/>
            <a:pathLst>
              <a:path h="3016833" w="2959478">
                <a:moveTo>
                  <a:pt x="0" y="0"/>
                </a:moveTo>
                <a:lnTo>
                  <a:pt x="2959478" y="0"/>
                </a:lnTo>
                <a:lnTo>
                  <a:pt x="2959478" y="3016832"/>
                </a:lnTo>
                <a:lnTo>
                  <a:pt x="0" y="3016832"/>
                </a:lnTo>
                <a:lnTo>
                  <a:pt x="0" y="0"/>
                </a:lnTo>
                <a:close/>
              </a:path>
            </a:pathLst>
          </a:custGeom>
          <a:blipFill>
            <a:blip r:embed="rId4"/>
            <a:stretch>
              <a:fillRect l="0" t="0" r="0" b="0"/>
            </a:stretch>
          </a:blipFill>
        </p:spPr>
      </p:sp>
      <p:grpSp>
        <p:nvGrpSpPr>
          <p:cNvPr name="Group 12" id="12"/>
          <p:cNvGrpSpPr/>
          <p:nvPr/>
        </p:nvGrpSpPr>
        <p:grpSpPr>
          <a:xfrm rot="0">
            <a:off x="11970654" y="5397327"/>
            <a:ext cx="4975910" cy="1572435"/>
            <a:chOff x="0" y="0"/>
            <a:chExt cx="1073663" cy="339288"/>
          </a:xfrm>
        </p:grpSpPr>
        <p:sp>
          <p:nvSpPr>
            <p:cNvPr name="Freeform 13" id="13"/>
            <p:cNvSpPr/>
            <p:nvPr/>
          </p:nvSpPr>
          <p:spPr>
            <a:xfrm flipH="false" flipV="false" rot="0">
              <a:off x="0" y="0"/>
              <a:ext cx="1073663" cy="339288"/>
            </a:xfrm>
            <a:custGeom>
              <a:avLst/>
              <a:gdLst/>
              <a:ahLst/>
              <a:cxnLst/>
              <a:rect r="r" b="b" t="t" l="l"/>
              <a:pathLst>
                <a:path h="339288" w="1073663">
                  <a:moveTo>
                    <a:pt x="38897" y="0"/>
                  </a:moveTo>
                  <a:lnTo>
                    <a:pt x="1034766" y="0"/>
                  </a:lnTo>
                  <a:cubicBezTo>
                    <a:pt x="1056249" y="0"/>
                    <a:pt x="1073663" y="17415"/>
                    <a:pt x="1073663" y="38897"/>
                  </a:cubicBezTo>
                  <a:lnTo>
                    <a:pt x="1073663" y="300391"/>
                  </a:lnTo>
                  <a:cubicBezTo>
                    <a:pt x="1073663" y="310707"/>
                    <a:pt x="1069565" y="320601"/>
                    <a:pt x="1062271" y="327895"/>
                  </a:cubicBezTo>
                  <a:cubicBezTo>
                    <a:pt x="1054976" y="335190"/>
                    <a:pt x="1045082" y="339288"/>
                    <a:pt x="1034766" y="339288"/>
                  </a:cubicBezTo>
                  <a:lnTo>
                    <a:pt x="38897" y="339288"/>
                  </a:lnTo>
                  <a:cubicBezTo>
                    <a:pt x="28581" y="339288"/>
                    <a:pt x="18687" y="335190"/>
                    <a:pt x="11393" y="327895"/>
                  </a:cubicBezTo>
                  <a:cubicBezTo>
                    <a:pt x="4098" y="320601"/>
                    <a:pt x="0" y="310707"/>
                    <a:pt x="0" y="300391"/>
                  </a:cubicBezTo>
                  <a:lnTo>
                    <a:pt x="0" y="38897"/>
                  </a:lnTo>
                  <a:cubicBezTo>
                    <a:pt x="0" y="28581"/>
                    <a:pt x="4098" y="18687"/>
                    <a:pt x="11393" y="11393"/>
                  </a:cubicBezTo>
                  <a:cubicBezTo>
                    <a:pt x="18687" y="4098"/>
                    <a:pt x="28581" y="0"/>
                    <a:pt x="38897" y="0"/>
                  </a:cubicBezTo>
                  <a:close/>
                </a:path>
              </a:pathLst>
            </a:custGeom>
            <a:solidFill>
              <a:srgbClr val="7D1818"/>
            </a:solidFill>
            <a:ln w="9525" cap="rnd">
              <a:solidFill>
                <a:srgbClr val="000000"/>
              </a:solidFill>
              <a:prstDash val="solid"/>
              <a:round/>
            </a:ln>
          </p:spPr>
        </p:sp>
        <p:sp>
          <p:nvSpPr>
            <p:cNvPr name="TextBox 14" id="14"/>
            <p:cNvSpPr txBox="true"/>
            <p:nvPr/>
          </p:nvSpPr>
          <p:spPr>
            <a:xfrm>
              <a:off x="0" y="-19050"/>
              <a:ext cx="1073663" cy="358338"/>
            </a:xfrm>
            <a:prstGeom prst="rect">
              <a:avLst/>
            </a:prstGeom>
          </p:spPr>
          <p:txBody>
            <a:bodyPr anchor="ctr" rtlCol="false" tIns="50800" lIns="50800" bIns="50800" rIns="50800"/>
            <a:lstStyle/>
            <a:p>
              <a:pPr algn="ctr">
                <a:lnSpc>
                  <a:spcPts val="1820"/>
                </a:lnSpc>
              </a:pPr>
            </a:p>
          </p:txBody>
        </p:sp>
      </p:grpSp>
      <p:grpSp>
        <p:nvGrpSpPr>
          <p:cNvPr name="Group 15" id="15"/>
          <p:cNvGrpSpPr/>
          <p:nvPr/>
        </p:nvGrpSpPr>
        <p:grpSpPr>
          <a:xfrm rot="0">
            <a:off x="0" y="0"/>
            <a:ext cx="3291840" cy="3291840"/>
            <a:chOff x="0" y="0"/>
            <a:chExt cx="6350000" cy="6350000"/>
          </a:xfrm>
        </p:grpSpPr>
        <p:sp>
          <p:nvSpPr>
            <p:cNvPr name="Freeform 16" id="16"/>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5"/>
              <a:stretch>
                <a:fillRect l="-38888" t="0" r="-38888" b="0"/>
              </a:stretch>
            </a:blipFill>
          </p:spPr>
        </p:sp>
      </p:grpSp>
      <p:sp>
        <p:nvSpPr>
          <p:cNvPr name="TextBox 17" id="17"/>
          <p:cNvSpPr txBox="true"/>
          <p:nvPr/>
        </p:nvSpPr>
        <p:spPr>
          <a:xfrm rot="0">
            <a:off x="11970654" y="794461"/>
            <a:ext cx="5288646" cy="1228725"/>
          </a:xfrm>
          <a:prstGeom prst="rect">
            <a:avLst/>
          </a:prstGeom>
        </p:spPr>
        <p:txBody>
          <a:bodyPr anchor="t" rtlCol="false" tIns="0" lIns="0" bIns="0" rIns="0">
            <a:spAutoFit/>
          </a:bodyPr>
          <a:lstStyle/>
          <a:p>
            <a:pPr algn="l">
              <a:lnSpc>
                <a:spcPts val="9600"/>
              </a:lnSpc>
            </a:pPr>
            <a:r>
              <a:rPr lang="en-US" sz="8000" spc="-568" b="true">
                <a:solidFill>
                  <a:srgbClr val="D83030"/>
                </a:solidFill>
                <a:latin typeface="Open Sauce Medium"/>
                <a:ea typeface="Open Sauce Medium"/>
                <a:cs typeface="Open Sauce Medium"/>
                <a:sym typeface="Open Sauce Medium"/>
              </a:rPr>
              <a:t> Conclusion</a:t>
            </a:r>
          </a:p>
        </p:txBody>
      </p:sp>
      <p:sp>
        <p:nvSpPr>
          <p:cNvPr name="TextBox 18" id="18"/>
          <p:cNvSpPr txBox="true"/>
          <p:nvPr/>
        </p:nvSpPr>
        <p:spPr>
          <a:xfrm rot="0">
            <a:off x="881363" y="8334839"/>
            <a:ext cx="3900565" cy="586740"/>
          </a:xfrm>
          <a:prstGeom prst="rect">
            <a:avLst/>
          </a:prstGeom>
        </p:spPr>
        <p:txBody>
          <a:bodyPr anchor="t" rtlCol="false" tIns="0" lIns="0" bIns="0" rIns="0">
            <a:spAutoFit/>
          </a:bodyPr>
          <a:lstStyle/>
          <a:p>
            <a:pPr algn="ctr">
              <a:lnSpc>
                <a:spcPts val="2340"/>
              </a:lnSpc>
            </a:pPr>
            <a:r>
              <a:rPr lang="en-US" sz="1800">
                <a:solidFill>
                  <a:srgbClr val="EDEDED"/>
                </a:solidFill>
                <a:latin typeface="Open Sauce"/>
                <a:ea typeface="Open Sauce"/>
                <a:cs typeface="Open Sauce"/>
                <a:sym typeface="Open Sauce"/>
              </a:rPr>
              <a:t>Makeline tech, kitchen robotics, &amp; labor efficiency</a:t>
            </a:r>
          </a:p>
        </p:txBody>
      </p:sp>
      <p:sp>
        <p:nvSpPr>
          <p:cNvPr name="TextBox 19" id="19"/>
          <p:cNvSpPr txBox="true"/>
          <p:nvPr/>
        </p:nvSpPr>
        <p:spPr>
          <a:xfrm rot="0">
            <a:off x="722115" y="7831163"/>
            <a:ext cx="4219062" cy="344805"/>
          </a:xfrm>
          <a:prstGeom prst="rect">
            <a:avLst/>
          </a:prstGeom>
        </p:spPr>
        <p:txBody>
          <a:bodyPr anchor="t" rtlCol="false" tIns="0" lIns="0" bIns="0" rIns="0">
            <a:spAutoFit/>
          </a:bodyPr>
          <a:lstStyle/>
          <a:p>
            <a:pPr algn="ctr">
              <a:lnSpc>
                <a:spcPts val="2730"/>
              </a:lnSpc>
            </a:pPr>
            <a:r>
              <a:rPr lang="en-US" sz="2100" b="true">
                <a:solidFill>
                  <a:srgbClr val="EDEDED"/>
                </a:solidFill>
                <a:latin typeface="Open Sauce Bold"/>
                <a:ea typeface="Open Sauce Bold"/>
                <a:cs typeface="Open Sauce Bold"/>
                <a:sym typeface="Open Sauce Bold"/>
              </a:rPr>
              <a:t>AUTOMATION &amp; PRODUCTIVITY</a:t>
            </a:r>
          </a:p>
        </p:txBody>
      </p:sp>
      <p:sp>
        <p:nvSpPr>
          <p:cNvPr name="TextBox 20" id="20"/>
          <p:cNvSpPr txBox="true"/>
          <p:nvPr/>
        </p:nvSpPr>
        <p:spPr>
          <a:xfrm rot="0">
            <a:off x="3065902" y="3989151"/>
            <a:ext cx="4069047" cy="586740"/>
          </a:xfrm>
          <a:prstGeom prst="rect">
            <a:avLst/>
          </a:prstGeom>
        </p:spPr>
        <p:txBody>
          <a:bodyPr anchor="t" rtlCol="false" tIns="0" lIns="0" bIns="0" rIns="0">
            <a:spAutoFit/>
          </a:bodyPr>
          <a:lstStyle/>
          <a:p>
            <a:pPr algn="ctr">
              <a:lnSpc>
                <a:spcPts val="2340"/>
              </a:lnSpc>
            </a:pPr>
            <a:r>
              <a:rPr lang="en-US" sz="1800">
                <a:solidFill>
                  <a:srgbClr val="D83030"/>
                </a:solidFill>
                <a:latin typeface="Open Sauce"/>
                <a:ea typeface="Open Sauce"/>
                <a:cs typeface="Open Sauce"/>
                <a:sym typeface="Open Sauce"/>
              </a:rPr>
              <a:t>Brand loyalty, digital platform, &amp; premium positioning</a:t>
            </a:r>
          </a:p>
        </p:txBody>
      </p:sp>
      <p:sp>
        <p:nvSpPr>
          <p:cNvPr name="TextBox 21" id="21"/>
          <p:cNvSpPr txBox="true"/>
          <p:nvPr/>
        </p:nvSpPr>
        <p:spPr>
          <a:xfrm rot="0">
            <a:off x="3065902" y="3463698"/>
            <a:ext cx="4069047" cy="344805"/>
          </a:xfrm>
          <a:prstGeom prst="rect">
            <a:avLst/>
          </a:prstGeom>
        </p:spPr>
        <p:txBody>
          <a:bodyPr anchor="t" rtlCol="false" tIns="0" lIns="0" bIns="0" rIns="0">
            <a:spAutoFit/>
          </a:bodyPr>
          <a:lstStyle/>
          <a:p>
            <a:pPr algn="ctr">
              <a:lnSpc>
                <a:spcPts val="2730"/>
              </a:lnSpc>
            </a:pPr>
            <a:r>
              <a:rPr lang="en-US" sz="2100" b="true">
                <a:solidFill>
                  <a:srgbClr val="D83030"/>
                </a:solidFill>
                <a:latin typeface="Open Sauce Bold"/>
                <a:ea typeface="Open Sauce Bold"/>
                <a:cs typeface="Open Sauce Bold"/>
                <a:sym typeface="Open Sauce Bold"/>
              </a:rPr>
              <a:t>PRICING POWER</a:t>
            </a:r>
          </a:p>
        </p:txBody>
      </p:sp>
      <p:sp>
        <p:nvSpPr>
          <p:cNvPr name="TextBox 22" id="22"/>
          <p:cNvSpPr txBox="true"/>
          <p:nvPr/>
        </p:nvSpPr>
        <p:spPr>
          <a:xfrm rot="0">
            <a:off x="7666929" y="1983146"/>
            <a:ext cx="9459549" cy="1035685"/>
          </a:xfrm>
          <a:prstGeom prst="rect">
            <a:avLst/>
          </a:prstGeom>
        </p:spPr>
        <p:txBody>
          <a:bodyPr anchor="t" rtlCol="false" tIns="0" lIns="0" bIns="0" rIns="0">
            <a:spAutoFit/>
          </a:bodyPr>
          <a:lstStyle/>
          <a:p>
            <a:pPr algn="r">
              <a:lnSpc>
                <a:spcPts val="4160"/>
              </a:lnSpc>
            </a:pPr>
            <a:r>
              <a:rPr lang="en-US" b="true" sz="3200" i="true">
                <a:solidFill>
                  <a:srgbClr val="D83030"/>
                </a:solidFill>
                <a:latin typeface="Open Sauce Bold Italics"/>
                <a:ea typeface="Open Sauce Bold Italics"/>
                <a:cs typeface="Open Sauce Bold Italics"/>
                <a:sym typeface="Open Sauce Bold Italics"/>
              </a:rPr>
              <a:t>Economics in Action: Chipotle’s Competitive Advantage</a:t>
            </a:r>
          </a:p>
        </p:txBody>
      </p:sp>
      <p:sp>
        <p:nvSpPr>
          <p:cNvPr name="TextBox 23" id="23"/>
          <p:cNvSpPr txBox="true"/>
          <p:nvPr/>
        </p:nvSpPr>
        <p:spPr>
          <a:xfrm rot="0">
            <a:off x="12486353" y="6068265"/>
            <a:ext cx="3944513" cy="586740"/>
          </a:xfrm>
          <a:prstGeom prst="rect">
            <a:avLst/>
          </a:prstGeom>
        </p:spPr>
        <p:txBody>
          <a:bodyPr anchor="t" rtlCol="false" tIns="0" lIns="0" bIns="0" rIns="0">
            <a:spAutoFit/>
          </a:bodyPr>
          <a:lstStyle/>
          <a:p>
            <a:pPr algn="ctr">
              <a:lnSpc>
                <a:spcPts val="2340"/>
              </a:lnSpc>
            </a:pPr>
            <a:r>
              <a:rPr lang="en-US" sz="1800">
                <a:solidFill>
                  <a:srgbClr val="FFFFFF"/>
                </a:solidFill>
                <a:latin typeface="Open Sauce"/>
                <a:ea typeface="Open Sauce"/>
                <a:cs typeface="Open Sauce"/>
                <a:sym typeface="Open Sauce"/>
              </a:rPr>
              <a:t>Diversified sourcing, buffer inventory, trade adaptation</a:t>
            </a:r>
          </a:p>
        </p:txBody>
      </p:sp>
      <p:sp>
        <p:nvSpPr>
          <p:cNvPr name="TextBox 24" id="24"/>
          <p:cNvSpPr txBox="true"/>
          <p:nvPr/>
        </p:nvSpPr>
        <p:spPr>
          <a:xfrm rot="0">
            <a:off x="12486353" y="5638813"/>
            <a:ext cx="3944513" cy="344805"/>
          </a:xfrm>
          <a:prstGeom prst="rect">
            <a:avLst/>
          </a:prstGeom>
        </p:spPr>
        <p:txBody>
          <a:bodyPr anchor="t" rtlCol="false" tIns="0" lIns="0" bIns="0" rIns="0">
            <a:spAutoFit/>
          </a:bodyPr>
          <a:lstStyle/>
          <a:p>
            <a:pPr algn="ctr">
              <a:lnSpc>
                <a:spcPts val="2730"/>
              </a:lnSpc>
            </a:pPr>
            <a:r>
              <a:rPr lang="en-US" sz="2100" b="true">
                <a:solidFill>
                  <a:srgbClr val="FFFFFF"/>
                </a:solidFill>
                <a:latin typeface="Open Sauce Bold"/>
                <a:ea typeface="Open Sauce Bold"/>
                <a:cs typeface="Open Sauce Bold"/>
                <a:sym typeface="Open Sauce Bold"/>
              </a:rPr>
              <a:t>TRADE RESILIENCE</a:t>
            </a:r>
          </a:p>
        </p:txBody>
      </p:sp>
    </p:spTree>
  </p:cSld>
  <p:clrMapOvr>
    <a:masterClrMapping/>
  </p:clrMapOvr>
  <p:transition spd="slow">
    <p:push dir="l"/>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grpSp>
        <p:nvGrpSpPr>
          <p:cNvPr name="Group 2" id="2"/>
          <p:cNvGrpSpPr/>
          <p:nvPr/>
        </p:nvGrpSpPr>
        <p:grpSpPr>
          <a:xfrm rot="0">
            <a:off x="282704" y="5143500"/>
            <a:ext cx="9646514" cy="4796398"/>
            <a:chOff x="0" y="0"/>
            <a:chExt cx="652820" cy="324593"/>
          </a:xfrm>
        </p:grpSpPr>
        <p:sp>
          <p:nvSpPr>
            <p:cNvPr name="Freeform 3" id="3"/>
            <p:cNvSpPr/>
            <p:nvPr/>
          </p:nvSpPr>
          <p:spPr>
            <a:xfrm flipH="false" flipV="false" rot="0">
              <a:off x="0" y="0"/>
              <a:ext cx="652820" cy="324593"/>
            </a:xfrm>
            <a:custGeom>
              <a:avLst/>
              <a:gdLst/>
              <a:ahLst/>
              <a:cxnLst/>
              <a:rect r="r" b="b" t="t" l="l"/>
              <a:pathLst>
                <a:path h="324593" w="652820">
                  <a:moveTo>
                    <a:pt x="28090" y="0"/>
                  </a:moveTo>
                  <a:lnTo>
                    <a:pt x="624731" y="0"/>
                  </a:lnTo>
                  <a:cubicBezTo>
                    <a:pt x="632181" y="0"/>
                    <a:pt x="639325" y="2959"/>
                    <a:pt x="644593" y="8227"/>
                  </a:cubicBezTo>
                  <a:cubicBezTo>
                    <a:pt x="649861" y="13495"/>
                    <a:pt x="652820" y="20640"/>
                    <a:pt x="652820" y="28090"/>
                  </a:cubicBezTo>
                  <a:lnTo>
                    <a:pt x="652820" y="296503"/>
                  </a:lnTo>
                  <a:cubicBezTo>
                    <a:pt x="652820" y="303953"/>
                    <a:pt x="649861" y="311097"/>
                    <a:pt x="644593" y="316365"/>
                  </a:cubicBezTo>
                  <a:cubicBezTo>
                    <a:pt x="639325" y="321633"/>
                    <a:pt x="632181" y="324593"/>
                    <a:pt x="624731" y="324593"/>
                  </a:cubicBezTo>
                  <a:lnTo>
                    <a:pt x="28090" y="324593"/>
                  </a:lnTo>
                  <a:cubicBezTo>
                    <a:pt x="20640" y="324593"/>
                    <a:pt x="13495" y="321633"/>
                    <a:pt x="8227" y="316365"/>
                  </a:cubicBezTo>
                  <a:cubicBezTo>
                    <a:pt x="2959" y="311097"/>
                    <a:pt x="0" y="303953"/>
                    <a:pt x="0" y="296503"/>
                  </a:cubicBezTo>
                  <a:lnTo>
                    <a:pt x="0" y="28090"/>
                  </a:lnTo>
                  <a:cubicBezTo>
                    <a:pt x="0" y="20640"/>
                    <a:pt x="2959" y="13495"/>
                    <a:pt x="8227" y="8227"/>
                  </a:cubicBezTo>
                  <a:cubicBezTo>
                    <a:pt x="13495" y="2959"/>
                    <a:pt x="20640" y="0"/>
                    <a:pt x="28090" y="0"/>
                  </a:cubicBezTo>
                  <a:close/>
                </a:path>
              </a:pathLst>
            </a:custGeom>
            <a:blipFill>
              <a:blip r:embed="rId3"/>
              <a:stretch>
                <a:fillRect l="0" t="-29327" r="0" b="-4668"/>
              </a:stretch>
            </a:blipFill>
          </p:spPr>
        </p:sp>
      </p:grpSp>
      <p:grpSp>
        <p:nvGrpSpPr>
          <p:cNvPr name="Group 4" id="4"/>
          <p:cNvGrpSpPr/>
          <p:nvPr/>
        </p:nvGrpSpPr>
        <p:grpSpPr>
          <a:xfrm rot="0">
            <a:off x="8273694" y="396102"/>
            <a:ext cx="12001445" cy="1919567"/>
            <a:chOff x="0" y="0"/>
            <a:chExt cx="812189" cy="129905"/>
          </a:xfrm>
        </p:grpSpPr>
        <p:sp>
          <p:nvSpPr>
            <p:cNvPr name="Freeform 5" id="5"/>
            <p:cNvSpPr/>
            <p:nvPr/>
          </p:nvSpPr>
          <p:spPr>
            <a:xfrm flipH="false" flipV="false" rot="0">
              <a:off x="0" y="0"/>
              <a:ext cx="812189" cy="129905"/>
            </a:xfrm>
            <a:custGeom>
              <a:avLst/>
              <a:gdLst/>
              <a:ahLst/>
              <a:cxnLst/>
              <a:rect r="r" b="b" t="t" l="l"/>
              <a:pathLst>
                <a:path h="129905" w="812189">
                  <a:moveTo>
                    <a:pt x="22578" y="0"/>
                  </a:moveTo>
                  <a:lnTo>
                    <a:pt x="789611" y="0"/>
                  </a:lnTo>
                  <a:cubicBezTo>
                    <a:pt x="795599" y="0"/>
                    <a:pt x="801341" y="2379"/>
                    <a:pt x="805576" y="6613"/>
                  </a:cubicBezTo>
                  <a:cubicBezTo>
                    <a:pt x="809810" y="10847"/>
                    <a:pt x="812189" y="16590"/>
                    <a:pt x="812189" y="22578"/>
                  </a:cubicBezTo>
                  <a:lnTo>
                    <a:pt x="812189" y="107327"/>
                  </a:lnTo>
                  <a:cubicBezTo>
                    <a:pt x="812189" y="113315"/>
                    <a:pt x="809810" y="119058"/>
                    <a:pt x="805576" y="123292"/>
                  </a:cubicBezTo>
                  <a:cubicBezTo>
                    <a:pt x="801341" y="127526"/>
                    <a:pt x="795599" y="129905"/>
                    <a:pt x="789611" y="129905"/>
                  </a:cubicBezTo>
                  <a:lnTo>
                    <a:pt x="22578" y="129905"/>
                  </a:lnTo>
                  <a:cubicBezTo>
                    <a:pt x="16590" y="129905"/>
                    <a:pt x="10847" y="127526"/>
                    <a:pt x="6613" y="123292"/>
                  </a:cubicBezTo>
                  <a:cubicBezTo>
                    <a:pt x="2379" y="119058"/>
                    <a:pt x="0" y="113315"/>
                    <a:pt x="0" y="107327"/>
                  </a:cubicBezTo>
                  <a:lnTo>
                    <a:pt x="0" y="22578"/>
                  </a:lnTo>
                  <a:cubicBezTo>
                    <a:pt x="0" y="16590"/>
                    <a:pt x="2379" y="10847"/>
                    <a:pt x="6613" y="6613"/>
                  </a:cubicBezTo>
                  <a:cubicBezTo>
                    <a:pt x="10847" y="2379"/>
                    <a:pt x="16590" y="0"/>
                    <a:pt x="22578" y="0"/>
                  </a:cubicBezTo>
                  <a:close/>
                </a:path>
              </a:pathLst>
            </a:custGeom>
            <a:blipFill>
              <a:blip r:embed="rId4"/>
              <a:stretch>
                <a:fillRect l="-2650" t="-288745" r="0" b="-16497"/>
              </a:stretch>
            </a:blipFill>
          </p:spPr>
        </p:sp>
      </p:grpSp>
      <p:sp>
        <p:nvSpPr>
          <p:cNvPr name="Freeform 6" id="6"/>
          <p:cNvSpPr/>
          <p:nvPr/>
        </p:nvSpPr>
        <p:spPr>
          <a:xfrm flipH="false" flipV="false" rot="0">
            <a:off x="846579" y="1028700"/>
            <a:ext cx="817192" cy="459670"/>
          </a:xfrm>
          <a:custGeom>
            <a:avLst/>
            <a:gdLst/>
            <a:ahLst/>
            <a:cxnLst/>
            <a:rect r="r" b="b" t="t" l="l"/>
            <a:pathLst>
              <a:path h="459670" w="817192">
                <a:moveTo>
                  <a:pt x="0" y="0"/>
                </a:moveTo>
                <a:lnTo>
                  <a:pt x="817191" y="0"/>
                </a:lnTo>
                <a:lnTo>
                  <a:pt x="817191" y="459670"/>
                </a:lnTo>
                <a:lnTo>
                  <a:pt x="0" y="459670"/>
                </a:lnTo>
                <a:lnTo>
                  <a:pt x="0" y="0"/>
                </a:lnTo>
                <a:close/>
              </a:path>
            </a:pathLst>
          </a:custGeom>
          <a:blipFill>
            <a:blip r:embed="rId5"/>
            <a:stretch>
              <a:fillRect l="0" t="0" r="0" b="0"/>
            </a:stretch>
          </a:blipFill>
        </p:spPr>
      </p:sp>
      <p:grpSp>
        <p:nvGrpSpPr>
          <p:cNvPr name="Group 7" id="7"/>
          <p:cNvGrpSpPr/>
          <p:nvPr/>
        </p:nvGrpSpPr>
        <p:grpSpPr>
          <a:xfrm rot="0">
            <a:off x="13258499" y="5735905"/>
            <a:ext cx="3291840" cy="3291840"/>
            <a:chOff x="0" y="0"/>
            <a:chExt cx="6350000" cy="6350000"/>
          </a:xfrm>
        </p:grpSpPr>
        <p:sp>
          <p:nvSpPr>
            <p:cNvPr name="Freeform 8" id="8"/>
            <p:cNvSpPr/>
            <p:nvPr/>
          </p:nvSpPr>
          <p:spPr>
            <a:xfrm flipH="true" flipV="false" rot="0">
              <a:off x="0" y="0"/>
              <a:ext cx="6350000" cy="6350000"/>
            </a:xfrm>
            <a:custGeom>
              <a:avLst/>
              <a:gdLst/>
              <a:ahLst/>
              <a:cxnLst/>
              <a:rect r="r" b="b" t="t" l="l"/>
              <a:pathLst>
                <a:path h="6350000" w="6350000">
                  <a:moveTo>
                    <a:pt x="3175000" y="0"/>
                  </a:moveTo>
                  <a:cubicBezTo>
                    <a:pt x="4928504" y="0"/>
                    <a:pt x="6350000" y="1421496"/>
                    <a:pt x="6350000" y="3175000"/>
                  </a:cubicBezTo>
                  <a:cubicBezTo>
                    <a:pt x="6350000" y="4928504"/>
                    <a:pt x="4928504" y="6350000"/>
                    <a:pt x="3175000" y="6350000"/>
                  </a:cubicBezTo>
                  <a:cubicBezTo>
                    <a:pt x="1421496" y="6350000"/>
                    <a:pt x="0" y="4928504"/>
                    <a:pt x="0" y="3175000"/>
                  </a:cubicBezTo>
                  <a:cubicBezTo>
                    <a:pt x="0" y="1421496"/>
                    <a:pt x="1421496" y="0"/>
                    <a:pt x="3175000" y="0"/>
                  </a:cubicBezTo>
                  <a:close/>
                </a:path>
              </a:pathLst>
            </a:custGeom>
            <a:blipFill>
              <a:blip r:embed="rId6"/>
              <a:stretch>
                <a:fillRect l="-38888" t="0" r="-38888" b="0"/>
              </a:stretch>
            </a:blipFill>
          </p:spPr>
        </p:sp>
      </p:grpSp>
      <p:sp>
        <p:nvSpPr>
          <p:cNvPr name="TextBox 9" id="9"/>
          <p:cNvSpPr txBox="true"/>
          <p:nvPr/>
        </p:nvSpPr>
        <p:spPr>
          <a:xfrm rot="0">
            <a:off x="4013584" y="2197204"/>
            <a:ext cx="10260833" cy="2622544"/>
          </a:xfrm>
          <a:prstGeom prst="rect">
            <a:avLst/>
          </a:prstGeom>
        </p:spPr>
        <p:txBody>
          <a:bodyPr anchor="t" rtlCol="false" tIns="0" lIns="0" bIns="0" rIns="0">
            <a:spAutoFit/>
          </a:bodyPr>
          <a:lstStyle/>
          <a:p>
            <a:pPr algn="l">
              <a:lnSpc>
                <a:spcPts val="20634"/>
              </a:lnSpc>
            </a:pPr>
            <a:r>
              <a:rPr lang="en-US" sz="17195" spc="-1220" b="true">
                <a:solidFill>
                  <a:srgbClr val="D83030"/>
                </a:solidFill>
                <a:latin typeface="Open Sauce Medium"/>
                <a:ea typeface="Open Sauce Medium"/>
                <a:cs typeface="Open Sauce Medium"/>
                <a:sym typeface="Open Sauce Medium"/>
              </a:rPr>
              <a:t>Thank You</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DAGmszchIic</dc:identifier>
  <dcterms:modified xsi:type="dcterms:W3CDTF">2011-08-01T06:04:30Z</dcterms:modified>
  <cp:revision>1</cp:revision>
  <dc:title>Chipotle: Automation and Avocados</dc:title>
</cp:coreProperties>
</file>