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stoga" charset="1" panose="00000500000000000000"/>
      <p:regular r:id="rId25"/>
    </p:embeddedFont>
    <p:embeddedFont>
      <p:font typeface="Cambria Bold" charset="1" panose="02040803050406030204"/>
      <p:regular r:id="rId26"/>
    </p:embeddedFont>
    <p:embeddedFont>
      <p:font typeface="Poppins Bold" charset="1" panose="00000800000000000000"/>
      <p:regular r:id="rId28"/>
    </p:embeddedFont>
    <p:embeddedFont>
      <p:font typeface="Poppins" charset="1" panose="00000500000000000000"/>
      <p:regular r:id="rId29"/>
    </p:embeddedFont>
    <p:embeddedFont>
      <p:font typeface="Cambria" charset="1" panose="02040503050406030204"/>
      <p:regular r:id="rId30"/>
    </p:embeddedFont>
    <p:embeddedFont>
      <p:font typeface="Arimo Bold" charset="1" panose="020B0704020202020204"/>
      <p:regular r:id="rId33"/>
    </p:embeddedFont>
    <p:embeddedFont>
      <p:font typeface="Yeseva One" charset="1" panose="000005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21.png" Type="http://schemas.openxmlformats.org/officeDocument/2006/relationships/image"/><Relationship Id="rId24" Target="../media/image22.svg" Type="http://schemas.openxmlformats.org/officeDocument/2006/relationships/image"/><Relationship Id="rId25" Target="../media/image23.png" Type="http://schemas.openxmlformats.org/officeDocument/2006/relationships/image"/><Relationship Id="rId26" Target="../media/image24.svg" Type="http://schemas.openxmlformats.org/officeDocument/2006/relationships/image"/><Relationship Id="rId27" Target="../media/image2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media/image40.png" Type="http://schemas.openxmlformats.org/officeDocument/2006/relationships/image"/><Relationship Id="rId18" Target="../media/image41.svg" Type="http://schemas.openxmlformats.org/officeDocument/2006/relationships/image"/><Relationship Id="rId19" Target="../media/image42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43.svg" Type="http://schemas.openxmlformats.org/officeDocument/2006/relationships/image"/><Relationship Id="rId21" Target="../media/image44.png" Type="http://schemas.openxmlformats.org/officeDocument/2006/relationships/image"/><Relationship Id="rId22" Target="../media/image45.svg" Type="http://schemas.openxmlformats.org/officeDocument/2006/relationships/image"/><Relationship Id="rId23" Target="../media/image46.png" Type="http://schemas.openxmlformats.org/officeDocument/2006/relationships/image"/><Relationship Id="rId24" Target="../media/image47.sv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15" Target="../media/image60.png" Type="http://schemas.openxmlformats.org/officeDocument/2006/relationships/image"/><Relationship Id="rId16" Target="../media/image61.svg" Type="http://schemas.openxmlformats.org/officeDocument/2006/relationships/image"/><Relationship Id="rId17" Target="../media/image62.png" Type="http://schemas.openxmlformats.org/officeDocument/2006/relationships/image"/><Relationship Id="rId18" Target="../media/image63.svg" Type="http://schemas.openxmlformats.org/officeDocument/2006/relationships/image"/><Relationship Id="rId19" Target="../media/image64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71.png" Type="http://schemas.openxmlformats.org/officeDocument/2006/relationships/image"/><Relationship Id="rId14" Target="../media/image72.svg" Type="http://schemas.openxmlformats.org/officeDocument/2006/relationships/image"/><Relationship Id="rId15" Target="../media/image73.png" Type="http://schemas.openxmlformats.org/officeDocument/2006/relationships/image"/><Relationship Id="rId16" Target="../media/image74.svg" Type="http://schemas.openxmlformats.org/officeDocument/2006/relationships/image"/><Relationship Id="rId17" Target="../media/image75.png" Type="http://schemas.openxmlformats.org/officeDocument/2006/relationships/image"/><Relationship Id="rId18" Target="../media/image76.svg" Type="http://schemas.openxmlformats.org/officeDocument/2006/relationships/image"/><Relationship Id="rId19" Target="../media/image77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78.svg" Type="http://schemas.openxmlformats.org/officeDocument/2006/relationships/image"/><Relationship Id="rId21" Target="../media/image1.png" Type="http://schemas.openxmlformats.org/officeDocument/2006/relationships/image"/><Relationship Id="rId22" Target="../media/image2.svg" Type="http://schemas.openxmlformats.org/officeDocument/2006/relationships/image"/><Relationship Id="rId23" Target="../media/image79.png" Type="http://schemas.openxmlformats.org/officeDocument/2006/relationships/image"/><Relationship Id="rId24" Target="../media/image80.png" Type="http://schemas.openxmlformats.org/officeDocument/2006/relationships/image"/><Relationship Id="rId25" Target="../media/image81.svg" Type="http://schemas.openxmlformats.org/officeDocument/2006/relationships/image"/><Relationship Id="rId26" Target="../media/image82.png" Type="http://schemas.openxmlformats.org/officeDocument/2006/relationships/image"/><Relationship Id="rId27" Target="../media/image83.svg" Type="http://schemas.openxmlformats.org/officeDocument/2006/relationships/image"/><Relationship Id="rId28" Target="../media/image84.png" Type="http://schemas.openxmlformats.org/officeDocument/2006/relationships/image"/><Relationship Id="rId29" Target="../media/image85.sv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sv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96.png" Type="http://schemas.openxmlformats.org/officeDocument/2006/relationships/image"/><Relationship Id="rId14" Target="../media/image97.svg" Type="http://schemas.openxmlformats.org/officeDocument/2006/relationships/image"/><Relationship Id="rId15" Target="../media/image98.png" Type="http://schemas.openxmlformats.org/officeDocument/2006/relationships/image"/><Relationship Id="rId16" Target="../media/image99.svg" Type="http://schemas.openxmlformats.org/officeDocument/2006/relationships/image"/><Relationship Id="rId17" Target="../media/image100.png" Type="http://schemas.openxmlformats.org/officeDocument/2006/relationships/image"/><Relationship Id="rId18" Target="../media/image101.svg" Type="http://schemas.openxmlformats.org/officeDocument/2006/relationships/image"/><Relationship Id="rId19" Target="../media/image102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86.png" Type="http://schemas.openxmlformats.org/officeDocument/2006/relationships/image"/><Relationship Id="rId4" Target="../media/image87.svg" Type="http://schemas.openxmlformats.org/officeDocument/2006/relationships/image"/><Relationship Id="rId5" Target="../media/image88.png" Type="http://schemas.openxmlformats.org/officeDocument/2006/relationships/image"/><Relationship Id="rId6" Target="../media/image89.svg" Type="http://schemas.openxmlformats.org/officeDocument/2006/relationships/image"/><Relationship Id="rId7" Target="../media/image90.png" Type="http://schemas.openxmlformats.org/officeDocument/2006/relationships/image"/><Relationship Id="rId8" Target="../media/image91.sv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sv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96.png" Type="http://schemas.openxmlformats.org/officeDocument/2006/relationships/image"/><Relationship Id="rId14" Target="../media/image97.svg" Type="http://schemas.openxmlformats.org/officeDocument/2006/relationships/image"/><Relationship Id="rId15" Target="../media/image98.png" Type="http://schemas.openxmlformats.org/officeDocument/2006/relationships/image"/><Relationship Id="rId16" Target="../media/image99.svg" Type="http://schemas.openxmlformats.org/officeDocument/2006/relationships/image"/><Relationship Id="rId17" Target="../media/image100.png" Type="http://schemas.openxmlformats.org/officeDocument/2006/relationships/image"/><Relationship Id="rId18" Target="../media/image101.svg" Type="http://schemas.openxmlformats.org/officeDocument/2006/relationships/image"/><Relationship Id="rId19" Target="../media/image103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86.png" Type="http://schemas.openxmlformats.org/officeDocument/2006/relationships/image"/><Relationship Id="rId4" Target="../media/image87.svg" Type="http://schemas.openxmlformats.org/officeDocument/2006/relationships/image"/><Relationship Id="rId5" Target="../media/image88.png" Type="http://schemas.openxmlformats.org/officeDocument/2006/relationships/image"/><Relationship Id="rId6" Target="../media/image89.svg" Type="http://schemas.openxmlformats.org/officeDocument/2006/relationships/image"/><Relationship Id="rId7" Target="../media/image90.png" Type="http://schemas.openxmlformats.org/officeDocument/2006/relationships/image"/><Relationship Id="rId8" Target="../media/image91.sv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110.png" Type="http://schemas.openxmlformats.org/officeDocument/2006/relationships/image"/><Relationship Id="rId14" Target="../media/image111.svg" Type="http://schemas.openxmlformats.org/officeDocument/2006/relationships/image"/><Relationship Id="rId15" Target="../media/image112.png" Type="http://schemas.openxmlformats.org/officeDocument/2006/relationships/image"/><Relationship Id="rId16" Target="../media/image113.svg" Type="http://schemas.openxmlformats.org/officeDocument/2006/relationships/image"/><Relationship Id="rId17" Target="../media/image114.png" Type="http://schemas.openxmlformats.org/officeDocument/2006/relationships/image"/><Relationship Id="rId18" Target="../media/image115.svg" Type="http://schemas.openxmlformats.org/officeDocument/2006/relationships/image"/><Relationship Id="rId19" Target="../media/image116.pn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117.png" Type="http://schemas.openxmlformats.org/officeDocument/2006/relationships/image"/><Relationship Id="rId3" Target="../media/image104.png" Type="http://schemas.openxmlformats.org/officeDocument/2006/relationships/image"/><Relationship Id="rId4" Target="../media/image105.svg" Type="http://schemas.openxmlformats.org/officeDocument/2006/relationships/image"/><Relationship Id="rId5" Target="../media/image106.png" Type="http://schemas.openxmlformats.org/officeDocument/2006/relationships/image"/><Relationship Id="rId6" Target="../media/image107.svg" Type="http://schemas.openxmlformats.org/officeDocument/2006/relationships/image"/><Relationship Id="rId7" Target="../media/image108.png" Type="http://schemas.openxmlformats.org/officeDocument/2006/relationships/image"/><Relationship Id="rId8" Target="../media/image109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110.png" Type="http://schemas.openxmlformats.org/officeDocument/2006/relationships/image"/><Relationship Id="rId14" Target="../media/image111.svg" Type="http://schemas.openxmlformats.org/officeDocument/2006/relationships/image"/><Relationship Id="rId15" Target="../media/image112.png" Type="http://schemas.openxmlformats.org/officeDocument/2006/relationships/image"/><Relationship Id="rId16" Target="../media/image113.svg" Type="http://schemas.openxmlformats.org/officeDocument/2006/relationships/image"/><Relationship Id="rId17" Target="../media/image114.png" Type="http://schemas.openxmlformats.org/officeDocument/2006/relationships/image"/><Relationship Id="rId18" Target="../media/image115.svg" Type="http://schemas.openxmlformats.org/officeDocument/2006/relationships/image"/><Relationship Id="rId19" Target="../media/image118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4.png" Type="http://schemas.openxmlformats.org/officeDocument/2006/relationships/image"/><Relationship Id="rId4" Target="../media/image105.svg" Type="http://schemas.openxmlformats.org/officeDocument/2006/relationships/image"/><Relationship Id="rId5" Target="../media/image106.png" Type="http://schemas.openxmlformats.org/officeDocument/2006/relationships/image"/><Relationship Id="rId6" Target="../media/image107.svg" Type="http://schemas.openxmlformats.org/officeDocument/2006/relationships/image"/><Relationship Id="rId7" Target="../media/image108.png" Type="http://schemas.openxmlformats.org/officeDocument/2006/relationships/image"/><Relationship Id="rId8" Target="../media/image109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123.png" Type="http://schemas.openxmlformats.org/officeDocument/2006/relationships/image"/><Relationship Id="rId12" Target="../media/image124.svg" Type="http://schemas.openxmlformats.org/officeDocument/2006/relationships/image"/><Relationship Id="rId13" Target="../media/image82.png" Type="http://schemas.openxmlformats.org/officeDocument/2006/relationships/image"/><Relationship Id="rId14" Target="../media/image83.svg" Type="http://schemas.openxmlformats.org/officeDocument/2006/relationships/image"/><Relationship Id="rId15" Target="../media/image125.png" Type="http://schemas.openxmlformats.org/officeDocument/2006/relationships/image"/><Relationship Id="rId16" Target="../media/image126.svg" Type="http://schemas.openxmlformats.org/officeDocument/2006/relationships/image"/><Relationship Id="rId17" Target="../media/image80.png" Type="http://schemas.openxmlformats.org/officeDocument/2006/relationships/image"/><Relationship Id="rId18" Target="../media/image81.svg" Type="http://schemas.openxmlformats.org/officeDocument/2006/relationships/image"/><Relationship Id="rId19" Target="../media/image90.pn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91.svg" Type="http://schemas.openxmlformats.org/officeDocument/2006/relationships/image"/><Relationship Id="rId21" Target="../media/image127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119.png" Type="http://schemas.openxmlformats.org/officeDocument/2006/relationships/image"/><Relationship Id="rId6" Target="../media/image120.svg" Type="http://schemas.openxmlformats.org/officeDocument/2006/relationships/image"/><Relationship Id="rId7" Target="../media/image121.png" Type="http://schemas.openxmlformats.org/officeDocument/2006/relationships/image"/><Relationship Id="rId8" Target="../media/image122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svg" Type="http://schemas.openxmlformats.org/officeDocument/2006/relationships/image"/><Relationship Id="rId11" Target="../media/image82.png" Type="http://schemas.openxmlformats.org/officeDocument/2006/relationships/image"/><Relationship Id="rId12" Target="../media/image83.svg" Type="http://schemas.openxmlformats.org/officeDocument/2006/relationships/image"/><Relationship Id="rId13" Target="../media/image125.png" Type="http://schemas.openxmlformats.org/officeDocument/2006/relationships/image"/><Relationship Id="rId14" Target="../media/image126.svg" Type="http://schemas.openxmlformats.org/officeDocument/2006/relationships/image"/><Relationship Id="rId15" Target="../media/image80.png" Type="http://schemas.openxmlformats.org/officeDocument/2006/relationships/image"/><Relationship Id="rId16" Target="../media/image81.svg" Type="http://schemas.openxmlformats.org/officeDocument/2006/relationships/image"/><Relationship Id="rId17" Target="../media/image127.jpe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119.png" Type="http://schemas.openxmlformats.org/officeDocument/2006/relationships/image"/><Relationship Id="rId6" Target="../media/image120.svg" Type="http://schemas.openxmlformats.org/officeDocument/2006/relationships/image"/><Relationship Id="rId7" Target="../media/image121.png" Type="http://schemas.openxmlformats.org/officeDocument/2006/relationships/image"/><Relationship Id="rId8" Target="../media/image122.svg" Type="http://schemas.openxmlformats.org/officeDocument/2006/relationships/image"/><Relationship Id="rId9" Target="../media/image1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svg" Type="http://schemas.openxmlformats.org/officeDocument/2006/relationships/image"/><Relationship Id="rId11" Target="../media/image82.png" Type="http://schemas.openxmlformats.org/officeDocument/2006/relationships/image"/><Relationship Id="rId12" Target="../media/image83.svg" Type="http://schemas.openxmlformats.org/officeDocument/2006/relationships/image"/><Relationship Id="rId13" Target="../media/image125.png" Type="http://schemas.openxmlformats.org/officeDocument/2006/relationships/image"/><Relationship Id="rId14" Target="../media/image126.svg" Type="http://schemas.openxmlformats.org/officeDocument/2006/relationships/image"/><Relationship Id="rId15" Target="../media/image80.png" Type="http://schemas.openxmlformats.org/officeDocument/2006/relationships/image"/><Relationship Id="rId16" Target="../media/image81.svg" Type="http://schemas.openxmlformats.org/officeDocument/2006/relationships/image"/><Relationship Id="rId17" Target="../media/image128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119.png" Type="http://schemas.openxmlformats.org/officeDocument/2006/relationships/image"/><Relationship Id="rId6" Target="../media/image120.svg" Type="http://schemas.openxmlformats.org/officeDocument/2006/relationships/image"/><Relationship Id="rId7" Target="../media/image121.png" Type="http://schemas.openxmlformats.org/officeDocument/2006/relationships/image"/><Relationship Id="rId8" Target="../media/image122.svg" Type="http://schemas.openxmlformats.org/officeDocument/2006/relationships/image"/><Relationship Id="rId9" Target="../media/image1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13" Target="../media/image129.png" Type="http://schemas.openxmlformats.org/officeDocument/2006/relationships/image"/><Relationship Id="rId14" Target="../media/image130.svg" Type="http://schemas.openxmlformats.org/officeDocument/2006/relationships/image"/><Relationship Id="rId15" Target="../media/image44.png" Type="http://schemas.openxmlformats.org/officeDocument/2006/relationships/image"/><Relationship Id="rId16" Target="../media/image45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13" Target="../media/image129.png" Type="http://schemas.openxmlformats.org/officeDocument/2006/relationships/image"/><Relationship Id="rId14" Target="../media/image130.svg" Type="http://schemas.openxmlformats.org/officeDocument/2006/relationships/image"/><Relationship Id="rId15" Target="../media/image44.png" Type="http://schemas.openxmlformats.org/officeDocument/2006/relationships/image"/><Relationship Id="rId16" Target="../media/image45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73.png" Type="http://schemas.openxmlformats.org/officeDocument/2006/relationships/image"/><Relationship Id="rId12" Target="../media/image74.svg" Type="http://schemas.openxmlformats.org/officeDocument/2006/relationships/image"/><Relationship Id="rId13" Target="../media/image75.png" Type="http://schemas.openxmlformats.org/officeDocument/2006/relationships/image"/><Relationship Id="rId14" Target="../media/image76.svg" Type="http://schemas.openxmlformats.org/officeDocument/2006/relationships/image"/><Relationship Id="rId15" Target="../media/image125.png" Type="http://schemas.openxmlformats.org/officeDocument/2006/relationships/image"/><Relationship Id="rId16" Target="../media/image126.svg" Type="http://schemas.openxmlformats.org/officeDocument/2006/relationships/image"/><Relationship Id="rId17" Target="../media/image133.png" Type="http://schemas.openxmlformats.org/officeDocument/2006/relationships/image"/><Relationship Id="rId18" Target="../media/image134.svg" Type="http://schemas.openxmlformats.org/officeDocument/2006/relationships/image"/><Relationship Id="rId19" Target="../media/image135.png" Type="http://schemas.openxmlformats.org/officeDocument/2006/relationships/image"/><Relationship Id="rId2" Target="../notesSlides/notesSlide14.xml" Type="http://schemas.openxmlformats.org/officeDocument/2006/relationships/notesSlide"/><Relationship Id="rId20" Target="../media/image136.svg" Type="http://schemas.openxmlformats.org/officeDocument/2006/relationships/image"/><Relationship Id="rId21" Target="../media/image137.png" Type="http://schemas.openxmlformats.org/officeDocument/2006/relationships/image"/><Relationship Id="rId22" Target="../media/image138.svg" Type="http://schemas.openxmlformats.org/officeDocument/2006/relationships/image"/><Relationship Id="rId3" Target="../media/image131.png" Type="http://schemas.openxmlformats.org/officeDocument/2006/relationships/image"/><Relationship Id="rId4" Target="../media/image132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6.svg" Type="http://schemas.openxmlformats.org/officeDocument/2006/relationships/image"/><Relationship Id="rId11" Target="../media/image147.png" Type="http://schemas.openxmlformats.org/officeDocument/2006/relationships/image"/><Relationship Id="rId12" Target="../media/image148.svg" Type="http://schemas.openxmlformats.org/officeDocument/2006/relationships/image"/><Relationship Id="rId13" Target="../media/image149.png" Type="http://schemas.openxmlformats.org/officeDocument/2006/relationships/image"/><Relationship Id="rId14" Target="../media/image150.svg" Type="http://schemas.openxmlformats.org/officeDocument/2006/relationships/image"/><Relationship Id="rId15" Target="../media/image151.png" Type="http://schemas.openxmlformats.org/officeDocument/2006/relationships/image"/><Relationship Id="rId16" Target="../media/image152.svg" Type="http://schemas.openxmlformats.org/officeDocument/2006/relationships/image"/><Relationship Id="rId17" Target="../media/image153.png" Type="http://schemas.openxmlformats.org/officeDocument/2006/relationships/image"/><Relationship Id="rId18" Target="../media/image154.svg" Type="http://schemas.openxmlformats.org/officeDocument/2006/relationships/image"/><Relationship Id="rId19" Target="../media/image155.png" Type="http://schemas.openxmlformats.org/officeDocument/2006/relationships/image"/><Relationship Id="rId2" Target="../notesSlides/notesSlide15.xml" Type="http://schemas.openxmlformats.org/officeDocument/2006/relationships/notesSlide"/><Relationship Id="rId20" Target="../media/image156.svg" Type="http://schemas.openxmlformats.org/officeDocument/2006/relationships/image"/><Relationship Id="rId21" Target="../media/image157.png" Type="http://schemas.openxmlformats.org/officeDocument/2006/relationships/image"/><Relationship Id="rId22" Target="../media/image158.svg" Type="http://schemas.openxmlformats.org/officeDocument/2006/relationships/image"/><Relationship Id="rId23" Target="../media/image159.png" Type="http://schemas.openxmlformats.org/officeDocument/2006/relationships/image"/><Relationship Id="rId24" Target="../media/image160.svg" Type="http://schemas.openxmlformats.org/officeDocument/2006/relationships/image"/><Relationship Id="rId3" Target="../media/image139.png" Type="http://schemas.openxmlformats.org/officeDocument/2006/relationships/image"/><Relationship Id="rId4" Target="../media/image140.svg" Type="http://schemas.openxmlformats.org/officeDocument/2006/relationships/image"/><Relationship Id="rId5" Target="../media/image141.png" Type="http://schemas.openxmlformats.org/officeDocument/2006/relationships/image"/><Relationship Id="rId6" Target="../media/image142.svg" Type="http://schemas.openxmlformats.org/officeDocument/2006/relationships/image"/><Relationship Id="rId7" Target="../media/image143.png" Type="http://schemas.openxmlformats.org/officeDocument/2006/relationships/image"/><Relationship Id="rId8" Target="../media/image144.svg" Type="http://schemas.openxmlformats.org/officeDocument/2006/relationships/image"/><Relationship Id="rId9" Target="../media/image14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129.png" Type="http://schemas.openxmlformats.org/officeDocument/2006/relationships/image"/><Relationship Id="rId9" Target="../media/image1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12800" y="-588424"/>
            <a:ext cx="1726988" cy="1924480"/>
          </a:xfrm>
          <a:custGeom>
            <a:avLst/>
            <a:gdLst/>
            <a:ahLst/>
            <a:cxnLst/>
            <a:rect r="r" b="b" t="t" l="l"/>
            <a:pathLst>
              <a:path h="1924480" w="1726988">
                <a:moveTo>
                  <a:pt x="0" y="0"/>
                </a:moveTo>
                <a:lnTo>
                  <a:pt x="1726988" y="0"/>
                </a:lnTo>
                <a:lnTo>
                  <a:pt x="1726988" y="1924480"/>
                </a:lnTo>
                <a:lnTo>
                  <a:pt x="0" y="1924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51286" y="7595806"/>
            <a:ext cx="7046878" cy="5821082"/>
          </a:xfrm>
          <a:custGeom>
            <a:avLst/>
            <a:gdLst/>
            <a:ahLst/>
            <a:cxnLst/>
            <a:rect r="r" b="b" t="t" l="l"/>
            <a:pathLst>
              <a:path h="5821082" w="7046878">
                <a:moveTo>
                  <a:pt x="0" y="0"/>
                </a:moveTo>
                <a:lnTo>
                  <a:pt x="7046878" y="0"/>
                </a:lnTo>
                <a:lnTo>
                  <a:pt x="7046878" y="5821082"/>
                </a:lnTo>
                <a:lnTo>
                  <a:pt x="0" y="58210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46269" y="9362010"/>
            <a:ext cx="1391929" cy="1447302"/>
          </a:xfrm>
          <a:custGeom>
            <a:avLst/>
            <a:gdLst/>
            <a:ahLst/>
            <a:cxnLst/>
            <a:rect r="r" b="b" t="t" l="l"/>
            <a:pathLst>
              <a:path h="1447302" w="1391929">
                <a:moveTo>
                  <a:pt x="0" y="0"/>
                </a:moveTo>
                <a:lnTo>
                  <a:pt x="1391929" y="0"/>
                </a:lnTo>
                <a:lnTo>
                  <a:pt x="1391929" y="1447302"/>
                </a:lnTo>
                <a:lnTo>
                  <a:pt x="0" y="14473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42526" y="-3916950"/>
            <a:ext cx="8037933" cy="8581535"/>
          </a:xfrm>
          <a:custGeom>
            <a:avLst/>
            <a:gdLst/>
            <a:ahLst/>
            <a:cxnLst/>
            <a:rect r="r" b="b" t="t" l="l"/>
            <a:pathLst>
              <a:path h="8581535" w="8037933">
                <a:moveTo>
                  <a:pt x="0" y="0"/>
                </a:moveTo>
                <a:lnTo>
                  <a:pt x="8037932" y="0"/>
                </a:lnTo>
                <a:lnTo>
                  <a:pt x="8037932" y="8581534"/>
                </a:lnTo>
                <a:lnTo>
                  <a:pt x="0" y="8581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122" y="416834"/>
            <a:ext cx="2246621" cy="1522527"/>
          </a:xfrm>
          <a:custGeom>
            <a:avLst/>
            <a:gdLst/>
            <a:ahLst/>
            <a:cxnLst/>
            <a:rect r="r" b="b" t="t" l="l"/>
            <a:pathLst>
              <a:path h="1522527" w="2246621">
                <a:moveTo>
                  <a:pt x="0" y="0"/>
                </a:moveTo>
                <a:lnTo>
                  <a:pt x="2246621" y="0"/>
                </a:lnTo>
                <a:lnTo>
                  <a:pt x="2246621" y="1522526"/>
                </a:lnTo>
                <a:lnTo>
                  <a:pt x="0" y="15225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87174" y="-890050"/>
            <a:ext cx="5380354" cy="3663968"/>
          </a:xfrm>
          <a:custGeom>
            <a:avLst/>
            <a:gdLst/>
            <a:ahLst/>
            <a:cxnLst/>
            <a:rect r="r" b="b" t="t" l="l"/>
            <a:pathLst>
              <a:path h="3663968" w="5380354">
                <a:moveTo>
                  <a:pt x="0" y="0"/>
                </a:moveTo>
                <a:lnTo>
                  <a:pt x="5380354" y="0"/>
                </a:lnTo>
                <a:lnTo>
                  <a:pt x="5380354" y="3663968"/>
                </a:lnTo>
                <a:lnTo>
                  <a:pt x="0" y="36639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7614" y="8588356"/>
            <a:ext cx="1447480" cy="1547309"/>
          </a:xfrm>
          <a:custGeom>
            <a:avLst/>
            <a:gdLst/>
            <a:ahLst/>
            <a:cxnLst/>
            <a:rect r="r" b="b" t="t" l="l"/>
            <a:pathLst>
              <a:path h="1547309" w="1447480">
                <a:moveTo>
                  <a:pt x="0" y="0"/>
                </a:moveTo>
                <a:lnTo>
                  <a:pt x="1447481" y="0"/>
                </a:lnTo>
                <a:lnTo>
                  <a:pt x="1447481" y="1547308"/>
                </a:lnTo>
                <a:lnTo>
                  <a:pt x="0" y="154730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24074" y="9609944"/>
            <a:ext cx="4080134" cy="1222406"/>
          </a:xfrm>
          <a:custGeom>
            <a:avLst/>
            <a:gdLst/>
            <a:ahLst/>
            <a:cxnLst/>
            <a:rect r="r" b="b" t="t" l="l"/>
            <a:pathLst>
              <a:path h="1222406" w="4080134">
                <a:moveTo>
                  <a:pt x="0" y="0"/>
                </a:moveTo>
                <a:lnTo>
                  <a:pt x="4080134" y="0"/>
                </a:lnTo>
                <a:lnTo>
                  <a:pt x="4080134" y="1222406"/>
                </a:lnTo>
                <a:lnTo>
                  <a:pt x="0" y="122240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84354" y="9209188"/>
            <a:ext cx="1220362" cy="1211722"/>
          </a:xfrm>
          <a:custGeom>
            <a:avLst/>
            <a:gdLst/>
            <a:ahLst/>
            <a:cxnLst/>
            <a:rect r="r" b="b" t="t" l="l"/>
            <a:pathLst>
              <a:path h="1211722" w="1220362">
                <a:moveTo>
                  <a:pt x="0" y="0"/>
                </a:moveTo>
                <a:lnTo>
                  <a:pt x="1220362" y="0"/>
                </a:lnTo>
                <a:lnTo>
                  <a:pt x="1220362" y="1211722"/>
                </a:lnTo>
                <a:lnTo>
                  <a:pt x="0" y="121172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23729" y="8521739"/>
            <a:ext cx="3304306" cy="4381408"/>
          </a:xfrm>
          <a:custGeom>
            <a:avLst/>
            <a:gdLst/>
            <a:ahLst/>
            <a:cxnLst/>
            <a:rect r="r" b="b" t="t" l="l"/>
            <a:pathLst>
              <a:path h="4381408" w="3304306">
                <a:moveTo>
                  <a:pt x="0" y="0"/>
                </a:moveTo>
                <a:lnTo>
                  <a:pt x="3304306" y="0"/>
                </a:lnTo>
                <a:lnTo>
                  <a:pt x="3304306" y="4381408"/>
                </a:lnTo>
                <a:lnTo>
                  <a:pt x="0" y="438140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806350" y="4031400"/>
            <a:ext cx="1732950" cy="1323550"/>
            <a:chOff x="0" y="0"/>
            <a:chExt cx="2310600" cy="17647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07C1C3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455059" y="-3226606"/>
            <a:ext cx="5114289" cy="5220936"/>
          </a:xfrm>
          <a:custGeom>
            <a:avLst/>
            <a:gdLst/>
            <a:ahLst/>
            <a:cxnLst/>
            <a:rect r="r" b="b" t="t" l="l"/>
            <a:pathLst>
              <a:path h="5220936" w="5114289">
                <a:moveTo>
                  <a:pt x="0" y="0"/>
                </a:moveTo>
                <a:lnTo>
                  <a:pt x="5114288" y="0"/>
                </a:lnTo>
                <a:lnTo>
                  <a:pt x="5114288" y="5220936"/>
                </a:lnTo>
                <a:lnTo>
                  <a:pt x="0" y="522093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396528" y="12"/>
            <a:ext cx="2137726" cy="996154"/>
          </a:xfrm>
          <a:custGeom>
            <a:avLst/>
            <a:gdLst/>
            <a:ahLst/>
            <a:cxnLst/>
            <a:rect r="r" b="b" t="t" l="l"/>
            <a:pathLst>
              <a:path h="996154" w="2137726">
                <a:moveTo>
                  <a:pt x="0" y="0"/>
                </a:moveTo>
                <a:lnTo>
                  <a:pt x="2137726" y="0"/>
                </a:lnTo>
                <a:lnTo>
                  <a:pt x="2137726" y="996154"/>
                </a:lnTo>
                <a:lnTo>
                  <a:pt x="0" y="99615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422593" y="908481"/>
            <a:ext cx="8889199" cy="8892937"/>
            <a:chOff x="487680" y="-128270"/>
            <a:chExt cx="19786260" cy="197945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90080" y="483680"/>
              <a:ext cx="18734715" cy="19236268"/>
            </a:xfrm>
            <a:custGeom>
              <a:avLst/>
              <a:gdLst/>
              <a:ahLst/>
              <a:cxnLst/>
              <a:rect r="r" b="b" t="t" l="l"/>
              <a:pathLst>
                <a:path h="19236268" w="18734715">
                  <a:moveTo>
                    <a:pt x="14302612" y="1523285"/>
                  </a:moveTo>
                  <a:cubicBezTo>
                    <a:pt x="11597154" y="-167440"/>
                    <a:pt x="8444781" y="-411524"/>
                    <a:pt x="5652120" y="596561"/>
                  </a:cubicBezTo>
                  <a:cubicBezTo>
                    <a:pt x="3707503" y="1283170"/>
                    <a:pt x="1930751" y="2858799"/>
                    <a:pt x="849439" y="5117068"/>
                  </a:cubicBezTo>
                  <a:cubicBezTo>
                    <a:pt x="-198640" y="7895255"/>
                    <a:pt x="-290080" y="11689464"/>
                    <a:pt x="648873" y="14503370"/>
                  </a:cubicBezTo>
                  <a:cubicBezTo>
                    <a:pt x="1564500" y="16501680"/>
                    <a:pt x="3114525" y="17890774"/>
                    <a:pt x="4784454" y="18599211"/>
                  </a:cubicBezTo>
                  <a:cubicBezTo>
                    <a:pt x="6454384" y="19262640"/>
                    <a:pt x="8244216" y="19310901"/>
                    <a:pt x="9988267" y="19174694"/>
                  </a:cubicBezTo>
                  <a:cubicBezTo>
                    <a:pt x="11884923" y="18948469"/>
                    <a:pt x="13799018" y="18372988"/>
                    <a:pt x="15425345" y="17045411"/>
                  </a:cubicBezTo>
                  <a:cubicBezTo>
                    <a:pt x="17051674" y="15717835"/>
                    <a:pt x="18364073" y="13552834"/>
                    <a:pt x="18667101" y="11038575"/>
                  </a:cubicBezTo>
                  <a:cubicBezTo>
                    <a:pt x="19146715" y="7093549"/>
                    <a:pt x="17010252" y="3214010"/>
                    <a:pt x="14302612" y="1523285"/>
                  </a:cubicBezTo>
                  <a:close/>
                </a:path>
              </a:pathLst>
            </a:custGeom>
            <a:blipFill>
              <a:blip r:embed="rId27"/>
              <a:stretch>
                <a:fillRect l="-23114" t="-3181" r="-23069" b="-3598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99846" y="2321450"/>
            <a:ext cx="8832750" cy="475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8"/>
              </a:lnSpc>
            </a:pPr>
            <a:r>
              <a:rPr lang="en-US" sz="7824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Organizational Behavior in Crisis: Pfizer’s Response to COVID-19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9846" y="7147910"/>
            <a:ext cx="88327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A Critical Evaluation Using Robbins &amp; Judge’s OB Framework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628" y="677711"/>
            <a:ext cx="2932426" cy="2113516"/>
            <a:chOff x="0" y="0"/>
            <a:chExt cx="3909901" cy="2818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2987" y="254"/>
              <a:ext cx="3216500" cy="2817749"/>
            </a:xfrm>
            <a:custGeom>
              <a:avLst/>
              <a:gdLst/>
              <a:ahLst/>
              <a:cxnLst/>
              <a:rect r="r" b="b" t="t" l="l"/>
              <a:pathLst>
                <a:path h="2817749" w="3216500">
                  <a:moveTo>
                    <a:pt x="1422786" y="0"/>
                  </a:moveTo>
                  <a:cubicBezTo>
                    <a:pt x="1258321" y="0"/>
                    <a:pt x="1129543" y="19939"/>
                    <a:pt x="1070869" y="62357"/>
                  </a:cubicBezTo>
                  <a:cubicBezTo>
                    <a:pt x="1066424" y="62103"/>
                    <a:pt x="1061979" y="62103"/>
                    <a:pt x="1057661" y="62103"/>
                  </a:cubicBezTo>
                  <a:cubicBezTo>
                    <a:pt x="168153" y="62103"/>
                    <a:pt x="-62987" y="1201293"/>
                    <a:pt x="13721" y="1876933"/>
                  </a:cubicBezTo>
                  <a:cubicBezTo>
                    <a:pt x="89286" y="2543302"/>
                    <a:pt x="1048009" y="2801493"/>
                    <a:pt x="1584330" y="2817241"/>
                  </a:cubicBezTo>
                  <a:cubicBezTo>
                    <a:pt x="1593601" y="2817495"/>
                    <a:pt x="1602999" y="2817749"/>
                    <a:pt x="1612270" y="2817749"/>
                  </a:cubicBezTo>
                  <a:cubicBezTo>
                    <a:pt x="2662814" y="2817749"/>
                    <a:pt x="3846708" y="1073150"/>
                    <a:pt x="2825628" y="356108"/>
                  </a:cubicBezTo>
                  <a:cubicBezTo>
                    <a:pt x="2507239" y="132080"/>
                    <a:pt x="1846204" y="0"/>
                    <a:pt x="1422786" y="0"/>
                  </a:cubicBezTo>
                  <a:close/>
                </a:path>
              </a:pathLst>
            </a:custGeom>
            <a:solidFill>
              <a:srgbClr val="71C1D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113800" y="-728650"/>
            <a:ext cx="3595818" cy="3338806"/>
          </a:xfrm>
          <a:custGeom>
            <a:avLst/>
            <a:gdLst/>
            <a:ahLst/>
            <a:cxnLst/>
            <a:rect r="r" b="b" t="t" l="l"/>
            <a:pathLst>
              <a:path h="3338806" w="3595818">
                <a:moveTo>
                  <a:pt x="0" y="0"/>
                </a:moveTo>
                <a:lnTo>
                  <a:pt x="3595818" y="0"/>
                </a:lnTo>
                <a:lnTo>
                  <a:pt x="3595818" y="3338806"/>
                </a:lnTo>
                <a:lnTo>
                  <a:pt x="0" y="3338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46336" y="263008"/>
            <a:ext cx="1870888" cy="1601102"/>
          </a:xfrm>
          <a:custGeom>
            <a:avLst/>
            <a:gdLst/>
            <a:ahLst/>
            <a:cxnLst/>
            <a:rect r="r" b="b" t="t" l="l"/>
            <a:pathLst>
              <a:path h="1601102" w="1870888">
                <a:moveTo>
                  <a:pt x="0" y="0"/>
                </a:moveTo>
                <a:lnTo>
                  <a:pt x="1870888" y="0"/>
                </a:lnTo>
                <a:lnTo>
                  <a:pt x="1870888" y="1601102"/>
                </a:lnTo>
                <a:lnTo>
                  <a:pt x="0" y="16011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08632" y="-1525102"/>
            <a:ext cx="6678716" cy="4931559"/>
          </a:xfrm>
          <a:custGeom>
            <a:avLst/>
            <a:gdLst/>
            <a:ahLst/>
            <a:cxnLst/>
            <a:rect r="r" b="b" t="t" l="l"/>
            <a:pathLst>
              <a:path h="4931559" w="6678716">
                <a:moveTo>
                  <a:pt x="0" y="0"/>
                </a:moveTo>
                <a:lnTo>
                  <a:pt x="6678716" y="0"/>
                </a:lnTo>
                <a:lnTo>
                  <a:pt x="6678716" y="4931558"/>
                </a:lnTo>
                <a:lnTo>
                  <a:pt x="0" y="49315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23880" y="-1525102"/>
            <a:ext cx="1726988" cy="1924480"/>
          </a:xfrm>
          <a:custGeom>
            <a:avLst/>
            <a:gdLst/>
            <a:ahLst/>
            <a:cxnLst/>
            <a:rect r="r" b="b" t="t" l="l"/>
            <a:pathLst>
              <a:path h="1924480" w="1726988">
                <a:moveTo>
                  <a:pt x="0" y="0"/>
                </a:moveTo>
                <a:lnTo>
                  <a:pt x="1726988" y="0"/>
                </a:lnTo>
                <a:lnTo>
                  <a:pt x="1726988" y="1924480"/>
                </a:lnTo>
                <a:lnTo>
                  <a:pt x="0" y="192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4792" y="826643"/>
            <a:ext cx="783908" cy="1531108"/>
          </a:xfrm>
          <a:custGeom>
            <a:avLst/>
            <a:gdLst/>
            <a:ahLst/>
            <a:cxnLst/>
            <a:rect r="r" b="b" t="t" l="l"/>
            <a:pathLst>
              <a:path h="1531108" w="783908">
                <a:moveTo>
                  <a:pt x="0" y="0"/>
                </a:moveTo>
                <a:lnTo>
                  <a:pt x="783908" y="0"/>
                </a:lnTo>
                <a:lnTo>
                  <a:pt x="783908" y="1531108"/>
                </a:lnTo>
                <a:lnTo>
                  <a:pt x="0" y="15311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241590" y="-1226184"/>
            <a:ext cx="4902863" cy="4902863"/>
          </a:xfrm>
          <a:custGeom>
            <a:avLst/>
            <a:gdLst/>
            <a:ahLst/>
            <a:cxnLst/>
            <a:rect r="r" b="b" t="t" l="l"/>
            <a:pathLst>
              <a:path h="4902863" w="4902863">
                <a:moveTo>
                  <a:pt x="0" y="0"/>
                </a:moveTo>
                <a:lnTo>
                  <a:pt x="4902863" y="0"/>
                </a:lnTo>
                <a:lnTo>
                  <a:pt x="4902863" y="4902864"/>
                </a:lnTo>
                <a:lnTo>
                  <a:pt x="0" y="49028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888088" y="3579011"/>
            <a:ext cx="4511825" cy="2996229"/>
            <a:chOff x="0" y="0"/>
            <a:chExt cx="1188300" cy="789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300" cy="789130"/>
            </a:xfrm>
            <a:custGeom>
              <a:avLst/>
              <a:gdLst/>
              <a:ahLst/>
              <a:cxnLst/>
              <a:rect r="r" b="b" t="t" l="l"/>
              <a:pathLst>
                <a:path h="789130" w="1188300">
                  <a:moveTo>
                    <a:pt x="594150" y="0"/>
                  </a:moveTo>
                  <a:cubicBezTo>
                    <a:pt x="266010" y="0"/>
                    <a:pt x="0" y="176653"/>
                    <a:pt x="0" y="394565"/>
                  </a:cubicBezTo>
                  <a:cubicBezTo>
                    <a:pt x="0" y="612477"/>
                    <a:pt x="266010" y="789130"/>
                    <a:pt x="594150" y="789130"/>
                  </a:cubicBezTo>
                  <a:cubicBezTo>
                    <a:pt x="922290" y="789130"/>
                    <a:pt x="1188300" y="612477"/>
                    <a:pt x="1188300" y="394565"/>
                  </a:cubicBezTo>
                  <a:cubicBezTo>
                    <a:pt x="1188300" y="176653"/>
                    <a:pt x="922290" y="0"/>
                    <a:pt x="594150" y="0"/>
                  </a:cubicBezTo>
                  <a:close/>
                </a:path>
              </a:pathLst>
            </a:custGeom>
            <a:solidFill>
              <a:srgbClr val="2FD9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1403" y="35881"/>
              <a:ext cx="965493" cy="679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9"/>
                </a:lnSpc>
              </a:pPr>
              <a:r>
                <a:rPr lang="en-US" b="true" sz="37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focus areas</a:t>
              </a:r>
              <a:r>
                <a:rPr lang="en-US" sz="3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11354305" y="4572748"/>
            <a:ext cx="1475561" cy="2031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619946" y="4542481"/>
            <a:ext cx="1303069" cy="2705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>
            <a:off x="9163050" y="6575240"/>
            <a:ext cx="0" cy="6851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flipH="true">
            <a:off x="6432549" y="5951871"/>
            <a:ext cx="879833" cy="4475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>
            <a:off x="11026152" y="5903306"/>
            <a:ext cx="1160843" cy="5165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1135038" y="3428166"/>
            <a:ext cx="4484908" cy="2228630"/>
            <a:chOff x="0" y="0"/>
            <a:chExt cx="1661571" cy="825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61571" cy="825664"/>
            </a:xfrm>
            <a:custGeom>
              <a:avLst/>
              <a:gdLst/>
              <a:ahLst/>
              <a:cxnLst/>
              <a:rect r="r" b="b" t="t" l="l"/>
              <a:pathLst>
                <a:path h="825664" w="1661571">
                  <a:moveTo>
                    <a:pt x="830785" y="0"/>
                  </a:moveTo>
                  <a:cubicBezTo>
                    <a:pt x="371955" y="0"/>
                    <a:pt x="0" y="184831"/>
                    <a:pt x="0" y="412832"/>
                  </a:cubicBezTo>
                  <a:cubicBezTo>
                    <a:pt x="0" y="640833"/>
                    <a:pt x="371955" y="825664"/>
                    <a:pt x="830785" y="825664"/>
                  </a:cubicBezTo>
                  <a:cubicBezTo>
                    <a:pt x="1289616" y="825664"/>
                    <a:pt x="1661571" y="640833"/>
                    <a:pt x="1661571" y="412832"/>
                  </a:cubicBezTo>
                  <a:cubicBezTo>
                    <a:pt x="1661571" y="184831"/>
                    <a:pt x="1289616" y="0"/>
                    <a:pt x="830785" y="0"/>
                  </a:cubicBez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55772" y="39306"/>
              <a:ext cx="1350026" cy="70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9"/>
                </a:lnSpc>
              </a:pPr>
              <a:r>
                <a:rPr lang="en-US" b="true" sz="37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Leadership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495540" y="480111"/>
            <a:ext cx="529692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Introduction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77492" y="2457756"/>
            <a:ext cx="1217369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7"/>
              </a:lnSpc>
              <a:spcBef>
                <a:spcPct val="0"/>
              </a:spcBef>
            </a:pPr>
            <a:r>
              <a:rPr lang="en-US" sz="378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Pfizer developed a Covid-19 vaccine in less than 9 months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01414" y="7258769"/>
            <a:ext cx="3685172" cy="2227220"/>
            <a:chOff x="0" y="0"/>
            <a:chExt cx="1474865" cy="8913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74865" cy="891369"/>
            </a:xfrm>
            <a:custGeom>
              <a:avLst/>
              <a:gdLst/>
              <a:ahLst/>
              <a:cxnLst/>
              <a:rect r="r" b="b" t="t" l="l"/>
              <a:pathLst>
                <a:path h="891369" w="1474865">
                  <a:moveTo>
                    <a:pt x="737433" y="0"/>
                  </a:moveTo>
                  <a:cubicBezTo>
                    <a:pt x="330160" y="0"/>
                    <a:pt x="0" y="199540"/>
                    <a:pt x="0" y="445685"/>
                  </a:cubicBezTo>
                  <a:cubicBezTo>
                    <a:pt x="0" y="691829"/>
                    <a:pt x="330160" y="891369"/>
                    <a:pt x="737433" y="891369"/>
                  </a:cubicBezTo>
                  <a:cubicBezTo>
                    <a:pt x="1144705" y="891369"/>
                    <a:pt x="1474865" y="691829"/>
                    <a:pt x="1474865" y="445685"/>
                  </a:cubicBezTo>
                  <a:cubicBezTo>
                    <a:pt x="1474865" y="199540"/>
                    <a:pt x="1144705" y="0"/>
                    <a:pt x="737433" y="0"/>
                  </a:cubicBez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8269" y="45466"/>
              <a:ext cx="1198328" cy="7623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9"/>
                </a:lnSpc>
              </a:pPr>
              <a:r>
                <a:rPr lang="en-US" b="true" sz="37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Motivation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77661" y="5903306"/>
            <a:ext cx="3662270" cy="2228521"/>
            <a:chOff x="0" y="0"/>
            <a:chExt cx="1465699" cy="8918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5699" cy="891890"/>
            </a:xfrm>
            <a:custGeom>
              <a:avLst/>
              <a:gdLst/>
              <a:ahLst/>
              <a:cxnLst/>
              <a:rect r="r" b="b" t="t" l="l"/>
              <a:pathLst>
                <a:path h="891890" w="1465699">
                  <a:moveTo>
                    <a:pt x="732850" y="0"/>
                  </a:moveTo>
                  <a:cubicBezTo>
                    <a:pt x="328108" y="0"/>
                    <a:pt x="0" y="199656"/>
                    <a:pt x="0" y="445945"/>
                  </a:cubicBezTo>
                  <a:cubicBezTo>
                    <a:pt x="0" y="692233"/>
                    <a:pt x="328108" y="891890"/>
                    <a:pt x="732850" y="891890"/>
                  </a:cubicBezTo>
                  <a:cubicBezTo>
                    <a:pt x="1137591" y="891890"/>
                    <a:pt x="1465699" y="692233"/>
                    <a:pt x="1465699" y="445945"/>
                  </a:cubicBezTo>
                  <a:cubicBezTo>
                    <a:pt x="1465699" y="199656"/>
                    <a:pt x="1137591" y="0"/>
                    <a:pt x="732850" y="0"/>
                  </a:cubicBez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37409" y="45515"/>
              <a:ext cx="1190881" cy="762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9"/>
                </a:lnSpc>
              </a:pPr>
              <a:r>
                <a:rPr lang="en-US" b="true" sz="37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Teamwork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7587" y="6005259"/>
            <a:ext cx="3503280" cy="2030903"/>
            <a:chOff x="0" y="0"/>
            <a:chExt cx="1402069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02069" cy="812800"/>
            </a:xfrm>
            <a:custGeom>
              <a:avLst/>
              <a:gdLst/>
              <a:ahLst/>
              <a:cxnLst/>
              <a:rect r="r" b="b" t="t" l="l"/>
              <a:pathLst>
                <a:path h="812800" w="1402069">
                  <a:moveTo>
                    <a:pt x="701035" y="0"/>
                  </a:moveTo>
                  <a:cubicBezTo>
                    <a:pt x="313864" y="0"/>
                    <a:pt x="0" y="181951"/>
                    <a:pt x="0" y="406400"/>
                  </a:cubicBezTo>
                  <a:cubicBezTo>
                    <a:pt x="0" y="630849"/>
                    <a:pt x="313864" y="812800"/>
                    <a:pt x="701035" y="812800"/>
                  </a:cubicBezTo>
                  <a:cubicBezTo>
                    <a:pt x="1088205" y="812800"/>
                    <a:pt x="1402069" y="630849"/>
                    <a:pt x="1402069" y="406400"/>
                  </a:cubicBezTo>
                  <a:cubicBezTo>
                    <a:pt x="1402069" y="181951"/>
                    <a:pt x="1088205" y="0"/>
                    <a:pt x="701035" y="0"/>
                  </a:cubicBez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31444" y="38100"/>
              <a:ext cx="1139181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9"/>
                </a:lnSpc>
              </a:pPr>
              <a:r>
                <a:rPr lang="en-US" b="true" sz="37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Ethics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29866" y="3457881"/>
            <a:ext cx="4328904" cy="2229735"/>
            <a:chOff x="0" y="0"/>
            <a:chExt cx="1638758" cy="8440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38758" cy="844093"/>
            </a:xfrm>
            <a:custGeom>
              <a:avLst/>
              <a:gdLst/>
              <a:ahLst/>
              <a:cxnLst/>
              <a:rect r="r" b="b" t="t" l="l"/>
              <a:pathLst>
                <a:path h="844093" w="1638758">
                  <a:moveTo>
                    <a:pt x="819379" y="0"/>
                  </a:moveTo>
                  <a:cubicBezTo>
                    <a:pt x="366848" y="0"/>
                    <a:pt x="0" y="188957"/>
                    <a:pt x="0" y="422046"/>
                  </a:cubicBezTo>
                  <a:cubicBezTo>
                    <a:pt x="0" y="655136"/>
                    <a:pt x="366848" y="844093"/>
                    <a:pt x="819379" y="844093"/>
                  </a:cubicBezTo>
                  <a:cubicBezTo>
                    <a:pt x="1271909" y="844093"/>
                    <a:pt x="1638758" y="655136"/>
                    <a:pt x="1638758" y="422046"/>
                  </a:cubicBezTo>
                  <a:cubicBezTo>
                    <a:pt x="1638758" y="188957"/>
                    <a:pt x="1271909" y="0"/>
                    <a:pt x="819379" y="0"/>
                  </a:cubicBez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53634" y="41034"/>
              <a:ext cx="1331491" cy="723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59"/>
                </a:lnSpc>
              </a:pPr>
              <a:r>
                <a:rPr lang="en-US" b="true" sz="37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Change Management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-1758688" y="6352466"/>
            <a:ext cx="8037933" cy="8581535"/>
          </a:xfrm>
          <a:custGeom>
            <a:avLst/>
            <a:gdLst/>
            <a:ahLst/>
            <a:cxnLst/>
            <a:rect r="r" b="b" t="t" l="l"/>
            <a:pathLst>
              <a:path h="8581535" w="8037933">
                <a:moveTo>
                  <a:pt x="0" y="0"/>
                </a:moveTo>
                <a:lnTo>
                  <a:pt x="8037933" y="0"/>
                </a:lnTo>
                <a:lnTo>
                  <a:pt x="8037933" y="8581535"/>
                </a:lnTo>
                <a:lnTo>
                  <a:pt x="0" y="85815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44792" y="7258769"/>
            <a:ext cx="6265400" cy="6476593"/>
          </a:xfrm>
          <a:custGeom>
            <a:avLst/>
            <a:gdLst/>
            <a:ahLst/>
            <a:cxnLst/>
            <a:rect r="r" b="b" t="t" l="l"/>
            <a:pathLst>
              <a:path h="6476593" w="6265400">
                <a:moveTo>
                  <a:pt x="0" y="0"/>
                </a:moveTo>
                <a:lnTo>
                  <a:pt x="6265400" y="0"/>
                </a:lnTo>
                <a:lnTo>
                  <a:pt x="6265400" y="6476593"/>
                </a:lnTo>
                <a:lnTo>
                  <a:pt x="0" y="647659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907249" y="7937353"/>
            <a:ext cx="2549063" cy="1101676"/>
          </a:xfrm>
          <a:custGeom>
            <a:avLst/>
            <a:gdLst/>
            <a:ahLst/>
            <a:cxnLst/>
            <a:rect r="r" b="b" t="t" l="l"/>
            <a:pathLst>
              <a:path h="1101676" w="2549063">
                <a:moveTo>
                  <a:pt x="0" y="0"/>
                </a:moveTo>
                <a:lnTo>
                  <a:pt x="2549062" y="0"/>
                </a:lnTo>
                <a:lnTo>
                  <a:pt x="2549062" y="1101676"/>
                </a:lnTo>
                <a:lnTo>
                  <a:pt x="0" y="110167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506467" y="6607225"/>
            <a:ext cx="4203151" cy="4863610"/>
          </a:xfrm>
          <a:custGeom>
            <a:avLst/>
            <a:gdLst/>
            <a:ahLst/>
            <a:cxnLst/>
            <a:rect r="r" b="b" t="t" l="l"/>
            <a:pathLst>
              <a:path h="4863610" w="4203151">
                <a:moveTo>
                  <a:pt x="0" y="0"/>
                </a:moveTo>
                <a:lnTo>
                  <a:pt x="4203151" y="0"/>
                </a:lnTo>
                <a:lnTo>
                  <a:pt x="4203151" y="4863609"/>
                </a:lnTo>
                <a:lnTo>
                  <a:pt x="0" y="486360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994318" y="6779191"/>
            <a:ext cx="8037933" cy="8581535"/>
          </a:xfrm>
          <a:custGeom>
            <a:avLst/>
            <a:gdLst/>
            <a:ahLst/>
            <a:cxnLst/>
            <a:rect r="r" b="b" t="t" l="l"/>
            <a:pathLst>
              <a:path h="8581535" w="8037933">
                <a:moveTo>
                  <a:pt x="0" y="0"/>
                </a:moveTo>
                <a:lnTo>
                  <a:pt x="8037933" y="0"/>
                </a:lnTo>
                <a:lnTo>
                  <a:pt x="8037933" y="8581535"/>
                </a:lnTo>
                <a:lnTo>
                  <a:pt x="0" y="858153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077661" y="1854585"/>
            <a:ext cx="1273007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7"/>
              </a:lnSpc>
              <a:spcBef>
                <a:spcPct val="0"/>
              </a:spcBef>
            </a:pPr>
            <a:r>
              <a:rPr lang="en-US" sz="378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COVID-19: A test of resilience and leadership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23750" y="6928976"/>
            <a:ext cx="7133958" cy="4556050"/>
          </a:xfrm>
          <a:custGeom>
            <a:avLst/>
            <a:gdLst/>
            <a:ahLst/>
            <a:cxnLst/>
            <a:rect r="r" b="b" t="t" l="l"/>
            <a:pathLst>
              <a:path h="4556050" w="7133958">
                <a:moveTo>
                  <a:pt x="0" y="0"/>
                </a:moveTo>
                <a:lnTo>
                  <a:pt x="7133958" y="0"/>
                </a:lnTo>
                <a:lnTo>
                  <a:pt x="7133958" y="4556050"/>
                </a:lnTo>
                <a:lnTo>
                  <a:pt x="0" y="4556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02983" y="8469632"/>
            <a:ext cx="1447480" cy="1547309"/>
          </a:xfrm>
          <a:custGeom>
            <a:avLst/>
            <a:gdLst/>
            <a:ahLst/>
            <a:cxnLst/>
            <a:rect r="r" b="b" t="t" l="l"/>
            <a:pathLst>
              <a:path h="1547309" w="1447480">
                <a:moveTo>
                  <a:pt x="0" y="0"/>
                </a:moveTo>
                <a:lnTo>
                  <a:pt x="1447481" y="0"/>
                </a:lnTo>
                <a:lnTo>
                  <a:pt x="1447481" y="1547308"/>
                </a:lnTo>
                <a:lnTo>
                  <a:pt x="0" y="15473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53135" y="-1361106"/>
            <a:ext cx="6583812" cy="3857504"/>
          </a:xfrm>
          <a:custGeom>
            <a:avLst/>
            <a:gdLst/>
            <a:ahLst/>
            <a:cxnLst/>
            <a:rect r="r" b="b" t="t" l="l"/>
            <a:pathLst>
              <a:path h="3857504" w="6583812">
                <a:moveTo>
                  <a:pt x="0" y="0"/>
                </a:moveTo>
                <a:lnTo>
                  <a:pt x="6583812" y="0"/>
                </a:lnTo>
                <a:lnTo>
                  <a:pt x="6583812" y="3857504"/>
                </a:lnTo>
                <a:lnTo>
                  <a:pt x="0" y="38575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98964" y="-428563"/>
            <a:ext cx="1220362" cy="1211722"/>
          </a:xfrm>
          <a:custGeom>
            <a:avLst/>
            <a:gdLst/>
            <a:ahLst/>
            <a:cxnLst/>
            <a:rect r="r" b="b" t="t" l="l"/>
            <a:pathLst>
              <a:path h="1211722" w="1220362">
                <a:moveTo>
                  <a:pt x="0" y="0"/>
                </a:moveTo>
                <a:lnTo>
                  <a:pt x="1220362" y="0"/>
                </a:lnTo>
                <a:lnTo>
                  <a:pt x="1220362" y="1211722"/>
                </a:lnTo>
                <a:lnTo>
                  <a:pt x="0" y="12117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29281" y="-3505372"/>
            <a:ext cx="5784398" cy="4288531"/>
          </a:xfrm>
          <a:custGeom>
            <a:avLst/>
            <a:gdLst/>
            <a:ahLst/>
            <a:cxnLst/>
            <a:rect r="r" b="b" t="t" l="l"/>
            <a:pathLst>
              <a:path h="4288531" w="5784398">
                <a:moveTo>
                  <a:pt x="0" y="0"/>
                </a:moveTo>
                <a:lnTo>
                  <a:pt x="5784398" y="0"/>
                </a:lnTo>
                <a:lnTo>
                  <a:pt x="5784398" y="4288531"/>
                </a:lnTo>
                <a:lnTo>
                  <a:pt x="0" y="42885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09788" y="8270426"/>
            <a:ext cx="6578352" cy="3857518"/>
          </a:xfrm>
          <a:custGeom>
            <a:avLst/>
            <a:gdLst/>
            <a:ahLst/>
            <a:cxnLst/>
            <a:rect r="r" b="b" t="t" l="l"/>
            <a:pathLst>
              <a:path h="3857518" w="6578352">
                <a:moveTo>
                  <a:pt x="0" y="0"/>
                </a:moveTo>
                <a:lnTo>
                  <a:pt x="6578352" y="0"/>
                </a:lnTo>
                <a:lnTo>
                  <a:pt x="6578352" y="3857518"/>
                </a:lnTo>
                <a:lnTo>
                  <a:pt x="0" y="3857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409950" y="9537400"/>
            <a:ext cx="1732950" cy="1323550"/>
            <a:chOff x="0" y="0"/>
            <a:chExt cx="2310600" cy="1764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07C1C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328059" y="-2637908"/>
            <a:ext cx="3916982" cy="3567316"/>
          </a:xfrm>
          <a:custGeom>
            <a:avLst/>
            <a:gdLst/>
            <a:ahLst/>
            <a:cxnLst/>
            <a:rect r="r" b="b" t="t" l="l"/>
            <a:pathLst>
              <a:path h="3567316" w="3916982">
                <a:moveTo>
                  <a:pt x="0" y="0"/>
                </a:moveTo>
                <a:lnTo>
                  <a:pt x="3916982" y="0"/>
                </a:lnTo>
                <a:lnTo>
                  <a:pt x="3916982" y="3567316"/>
                </a:lnTo>
                <a:lnTo>
                  <a:pt x="0" y="356731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11294" y="9149434"/>
            <a:ext cx="1220372" cy="994170"/>
          </a:xfrm>
          <a:custGeom>
            <a:avLst/>
            <a:gdLst/>
            <a:ahLst/>
            <a:cxnLst/>
            <a:rect r="r" b="b" t="t" l="l"/>
            <a:pathLst>
              <a:path h="994170" w="1220372">
                <a:moveTo>
                  <a:pt x="0" y="0"/>
                </a:moveTo>
                <a:lnTo>
                  <a:pt x="1220372" y="0"/>
                </a:lnTo>
                <a:lnTo>
                  <a:pt x="1220372" y="994170"/>
                </a:lnTo>
                <a:lnTo>
                  <a:pt x="0" y="9941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967791" y="2972589"/>
            <a:ext cx="10899516" cy="1543050"/>
            <a:chOff x="0" y="0"/>
            <a:chExt cx="2870654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70654" cy="406400"/>
            </a:xfrm>
            <a:custGeom>
              <a:avLst/>
              <a:gdLst/>
              <a:ahLst/>
              <a:cxnLst/>
              <a:rect r="r" b="b" t="t" l="l"/>
              <a:pathLst>
                <a:path h="406400" w="2870654">
                  <a:moveTo>
                    <a:pt x="0" y="0"/>
                  </a:moveTo>
                  <a:lnTo>
                    <a:pt x="2667454" y="0"/>
                  </a:lnTo>
                  <a:lnTo>
                    <a:pt x="2870654" y="203200"/>
                  </a:lnTo>
                  <a:lnTo>
                    <a:pt x="2667454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261665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CEO Albert Bourla: visionary, risk-taking leadership.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67791" y="4753764"/>
            <a:ext cx="10899516" cy="1543050"/>
            <a:chOff x="0" y="0"/>
            <a:chExt cx="2870654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0654" cy="406400"/>
            </a:xfrm>
            <a:custGeom>
              <a:avLst/>
              <a:gdLst/>
              <a:ahLst/>
              <a:cxnLst/>
              <a:rect r="r" b="b" t="t" l="l"/>
              <a:pathLst>
                <a:path h="406400" w="2870654">
                  <a:moveTo>
                    <a:pt x="0" y="0"/>
                  </a:moveTo>
                  <a:lnTo>
                    <a:pt x="2667454" y="0"/>
                  </a:lnTo>
                  <a:lnTo>
                    <a:pt x="2870654" y="203200"/>
                  </a:lnTo>
                  <a:lnTo>
                    <a:pt x="2667454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-38100"/>
              <a:ext cx="261665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Self funded $2 billion vaccine R&amp;D - no government contract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67791" y="6534939"/>
            <a:ext cx="10899516" cy="1540656"/>
            <a:chOff x="0" y="0"/>
            <a:chExt cx="2870654" cy="4057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70654" cy="405769"/>
            </a:xfrm>
            <a:custGeom>
              <a:avLst/>
              <a:gdLst/>
              <a:ahLst/>
              <a:cxnLst/>
              <a:rect r="r" b="b" t="t" l="l"/>
              <a:pathLst>
                <a:path h="405769" w="2870654">
                  <a:moveTo>
                    <a:pt x="0" y="0"/>
                  </a:moveTo>
                  <a:lnTo>
                    <a:pt x="2667454" y="0"/>
                  </a:lnTo>
                  <a:lnTo>
                    <a:pt x="2870654" y="202885"/>
                  </a:lnTo>
                  <a:lnTo>
                    <a:pt x="2667454" y="405769"/>
                  </a:lnTo>
                  <a:lnTo>
                    <a:pt x="0" y="405769"/>
                  </a:lnTo>
                  <a:lnTo>
                    <a:pt x="203200" y="202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77800" y="-38100"/>
              <a:ext cx="2616654" cy="44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“Science will win” – motivational messaging across global teams.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67791" y="8313720"/>
            <a:ext cx="10899516" cy="1540656"/>
            <a:chOff x="0" y="0"/>
            <a:chExt cx="2870654" cy="4057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70654" cy="405769"/>
            </a:xfrm>
            <a:custGeom>
              <a:avLst/>
              <a:gdLst/>
              <a:ahLst/>
              <a:cxnLst/>
              <a:rect r="r" b="b" t="t" l="l"/>
              <a:pathLst>
                <a:path h="405769" w="2870654">
                  <a:moveTo>
                    <a:pt x="0" y="0"/>
                  </a:moveTo>
                  <a:lnTo>
                    <a:pt x="2667454" y="0"/>
                  </a:lnTo>
                  <a:lnTo>
                    <a:pt x="2870654" y="202885"/>
                  </a:lnTo>
                  <a:lnTo>
                    <a:pt x="2667454" y="405769"/>
                  </a:lnTo>
                  <a:lnTo>
                    <a:pt x="0" y="405769"/>
                  </a:lnTo>
                  <a:lnTo>
                    <a:pt x="203200" y="202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77800" y="-38100"/>
              <a:ext cx="2616654" cy="44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Used bounded rationality to partner with BioNTech.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990364" y="21260"/>
            <a:ext cx="8266789" cy="10177925"/>
            <a:chOff x="487680" y="-128270"/>
            <a:chExt cx="19961563" cy="245763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91272" y="631508"/>
              <a:ext cx="18897758" cy="23866634"/>
            </a:xfrm>
            <a:custGeom>
              <a:avLst/>
              <a:gdLst/>
              <a:ahLst/>
              <a:cxnLst/>
              <a:rect r="r" b="b" t="t" l="l"/>
              <a:pathLst>
                <a:path h="23866634" w="18897758">
                  <a:moveTo>
                    <a:pt x="14426389" y="1891262"/>
                  </a:moveTo>
                  <a:cubicBezTo>
                    <a:pt x="11696960" y="-207888"/>
                    <a:pt x="8516658" y="-510935"/>
                    <a:pt x="5699254" y="740671"/>
                  </a:cubicBezTo>
                  <a:cubicBezTo>
                    <a:pt x="3737408" y="1593143"/>
                    <a:pt x="1944914" y="3549394"/>
                    <a:pt x="854022" y="6353190"/>
                  </a:cubicBezTo>
                  <a:cubicBezTo>
                    <a:pt x="-199832" y="9802499"/>
                    <a:pt x="-291272" y="14513268"/>
                    <a:pt x="651679" y="18006925"/>
                  </a:cubicBezTo>
                  <a:cubicBezTo>
                    <a:pt x="1575419" y="20487964"/>
                    <a:pt x="3139177" y="22212619"/>
                    <a:pt x="4823901" y="23092193"/>
                  </a:cubicBezTo>
                  <a:cubicBezTo>
                    <a:pt x="6508625" y="23896558"/>
                    <a:pt x="8314316" y="23944818"/>
                    <a:pt x="10073819" y="23806692"/>
                  </a:cubicBezTo>
                  <a:cubicBezTo>
                    <a:pt x="11987279" y="23525819"/>
                    <a:pt x="13918334" y="22811320"/>
                    <a:pt x="15559069" y="21163044"/>
                  </a:cubicBezTo>
                  <a:cubicBezTo>
                    <a:pt x="17199806" y="19514766"/>
                    <a:pt x="18523832" y="16826769"/>
                    <a:pt x="18829545" y="13705146"/>
                  </a:cubicBezTo>
                  <a:cubicBezTo>
                    <a:pt x="19313409" y="8807126"/>
                    <a:pt x="17158018" y="3990413"/>
                    <a:pt x="14426389" y="1891262"/>
                  </a:cubicBezTo>
                  <a:close/>
                </a:path>
              </a:pathLst>
            </a:custGeom>
            <a:blipFill>
              <a:blip r:embed="rId19"/>
              <a:stretch>
                <a:fillRect l="-12907" t="-2673" r="-17585" b="-65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253714" y="595678"/>
            <a:ext cx="1232767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1"/>
              </a:lnSpc>
            </a:pPr>
            <a:r>
              <a:rPr lang="en-US" sz="7001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Transformational &amp; Charismatic Leadership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-280795" y="-923925"/>
            <a:ext cx="1097668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1050" y="9544550"/>
            <a:ext cx="1726988" cy="1924480"/>
          </a:xfrm>
          <a:custGeom>
            <a:avLst/>
            <a:gdLst/>
            <a:ahLst/>
            <a:cxnLst/>
            <a:rect r="r" b="b" t="t" l="l"/>
            <a:pathLst>
              <a:path h="1924480" w="1726988">
                <a:moveTo>
                  <a:pt x="0" y="0"/>
                </a:moveTo>
                <a:lnTo>
                  <a:pt x="1726988" y="0"/>
                </a:lnTo>
                <a:lnTo>
                  <a:pt x="1726988" y="1924480"/>
                </a:lnTo>
                <a:lnTo>
                  <a:pt x="0" y="1924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55326" y="-4317950"/>
            <a:ext cx="8037933" cy="8581535"/>
          </a:xfrm>
          <a:custGeom>
            <a:avLst/>
            <a:gdLst/>
            <a:ahLst/>
            <a:cxnLst/>
            <a:rect r="r" b="b" t="t" l="l"/>
            <a:pathLst>
              <a:path h="8581535" w="8037933">
                <a:moveTo>
                  <a:pt x="0" y="0"/>
                </a:moveTo>
                <a:lnTo>
                  <a:pt x="8037932" y="0"/>
                </a:lnTo>
                <a:lnTo>
                  <a:pt x="8037932" y="8581534"/>
                </a:lnTo>
                <a:lnTo>
                  <a:pt x="0" y="8581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43987" y="15834"/>
            <a:ext cx="2246621" cy="1522527"/>
          </a:xfrm>
          <a:custGeom>
            <a:avLst/>
            <a:gdLst/>
            <a:ahLst/>
            <a:cxnLst/>
            <a:rect r="r" b="b" t="t" l="l"/>
            <a:pathLst>
              <a:path h="1522527" w="2246621">
                <a:moveTo>
                  <a:pt x="0" y="0"/>
                </a:moveTo>
                <a:lnTo>
                  <a:pt x="2246621" y="0"/>
                </a:lnTo>
                <a:lnTo>
                  <a:pt x="2246621" y="1522526"/>
                </a:lnTo>
                <a:lnTo>
                  <a:pt x="0" y="15225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57552" y="-1291050"/>
            <a:ext cx="5380354" cy="3663968"/>
          </a:xfrm>
          <a:custGeom>
            <a:avLst/>
            <a:gdLst/>
            <a:ahLst/>
            <a:cxnLst/>
            <a:rect r="r" b="b" t="t" l="l"/>
            <a:pathLst>
              <a:path h="3663968" w="5380354">
                <a:moveTo>
                  <a:pt x="0" y="0"/>
                </a:moveTo>
                <a:lnTo>
                  <a:pt x="5380354" y="0"/>
                </a:lnTo>
                <a:lnTo>
                  <a:pt x="5380354" y="3663968"/>
                </a:lnTo>
                <a:lnTo>
                  <a:pt x="0" y="36639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" y="8685908"/>
            <a:ext cx="1870888" cy="1601102"/>
          </a:xfrm>
          <a:custGeom>
            <a:avLst/>
            <a:gdLst/>
            <a:ahLst/>
            <a:cxnLst/>
            <a:rect r="r" b="b" t="t" l="l"/>
            <a:pathLst>
              <a:path h="1601102" w="1870888">
                <a:moveTo>
                  <a:pt x="0" y="0"/>
                </a:moveTo>
                <a:lnTo>
                  <a:pt x="1870888" y="0"/>
                </a:lnTo>
                <a:lnTo>
                  <a:pt x="1870888" y="1601102"/>
                </a:lnTo>
                <a:lnTo>
                  <a:pt x="0" y="16011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10124" y="-332356"/>
            <a:ext cx="4080134" cy="1222406"/>
          </a:xfrm>
          <a:custGeom>
            <a:avLst/>
            <a:gdLst/>
            <a:ahLst/>
            <a:cxnLst/>
            <a:rect r="r" b="b" t="t" l="l"/>
            <a:pathLst>
              <a:path h="1222406" w="4080134">
                <a:moveTo>
                  <a:pt x="0" y="0"/>
                </a:moveTo>
                <a:lnTo>
                  <a:pt x="4080134" y="0"/>
                </a:lnTo>
                <a:lnTo>
                  <a:pt x="4080134" y="1222406"/>
                </a:lnTo>
                <a:lnTo>
                  <a:pt x="0" y="12224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49826" y="9207000"/>
            <a:ext cx="3595818" cy="3338806"/>
          </a:xfrm>
          <a:custGeom>
            <a:avLst/>
            <a:gdLst/>
            <a:ahLst/>
            <a:cxnLst/>
            <a:rect r="r" b="b" t="t" l="l"/>
            <a:pathLst>
              <a:path h="3338806" w="3595818">
                <a:moveTo>
                  <a:pt x="0" y="0"/>
                </a:moveTo>
                <a:lnTo>
                  <a:pt x="3595818" y="0"/>
                </a:lnTo>
                <a:lnTo>
                  <a:pt x="3595818" y="3338806"/>
                </a:lnTo>
                <a:lnTo>
                  <a:pt x="0" y="33388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44826" y="9207000"/>
            <a:ext cx="5380354" cy="3663968"/>
          </a:xfrm>
          <a:custGeom>
            <a:avLst/>
            <a:gdLst/>
            <a:ahLst/>
            <a:cxnLst/>
            <a:rect r="r" b="b" t="t" l="l"/>
            <a:pathLst>
              <a:path h="3663968" w="5380354">
                <a:moveTo>
                  <a:pt x="0" y="0"/>
                </a:moveTo>
                <a:lnTo>
                  <a:pt x="5380354" y="0"/>
                </a:lnTo>
                <a:lnTo>
                  <a:pt x="5380354" y="3663968"/>
                </a:lnTo>
                <a:lnTo>
                  <a:pt x="0" y="366396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187923">
            <a:off x="7474956" y="9721640"/>
            <a:ext cx="2387740" cy="1823650"/>
            <a:chOff x="0" y="0"/>
            <a:chExt cx="3183653" cy="2431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86749" y="127"/>
              <a:ext cx="2949617" cy="2431415"/>
            </a:xfrm>
            <a:custGeom>
              <a:avLst/>
              <a:gdLst/>
              <a:ahLst/>
              <a:cxnLst/>
              <a:rect r="r" b="b" t="t" l="l"/>
              <a:pathLst>
                <a:path h="2431415" w="2949617">
                  <a:moveTo>
                    <a:pt x="1953506" y="0"/>
                  </a:moveTo>
                  <a:cubicBezTo>
                    <a:pt x="1358765" y="0"/>
                    <a:pt x="120261" y="535559"/>
                    <a:pt x="110990" y="559435"/>
                  </a:cubicBezTo>
                  <a:cubicBezTo>
                    <a:pt x="-86749" y="1059307"/>
                    <a:pt x="-28710" y="1895475"/>
                    <a:pt x="353306" y="2323084"/>
                  </a:cubicBezTo>
                  <a:cubicBezTo>
                    <a:pt x="421251" y="2399284"/>
                    <a:pt x="539996" y="2431415"/>
                    <a:pt x="690491" y="2431415"/>
                  </a:cubicBezTo>
                  <a:cubicBezTo>
                    <a:pt x="1385054" y="2431415"/>
                    <a:pt x="2754368" y="1746631"/>
                    <a:pt x="2908673" y="1546098"/>
                  </a:cubicBezTo>
                  <a:cubicBezTo>
                    <a:pt x="3096760" y="1302131"/>
                    <a:pt x="2602730" y="163322"/>
                    <a:pt x="2122035" y="20193"/>
                  </a:cubicBezTo>
                  <a:cubicBezTo>
                    <a:pt x="2075045" y="6223"/>
                    <a:pt x="2018022" y="0"/>
                    <a:pt x="1953506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923969" y="9342142"/>
            <a:ext cx="1554296" cy="1493738"/>
          </a:xfrm>
          <a:custGeom>
            <a:avLst/>
            <a:gdLst/>
            <a:ahLst/>
            <a:cxnLst/>
            <a:rect r="r" b="b" t="t" l="l"/>
            <a:pathLst>
              <a:path h="1493738" w="1554296">
                <a:moveTo>
                  <a:pt x="0" y="0"/>
                </a:moveTo>
                <a:lnTo>
                  <a:pt x="1554296" y="0"/>
                </a:lnTo>
                <a:lnTo>
                  <a:pt x="1554296" y="1493738"/>
                </a:lnTo>
                <a:lnTo>
                  <a:pt x="0" y="149373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342350" y="8244750"/>
            <a:ext cx="1726988" cy="1924480"/>
          </a:xfrm>
          <a:custGeom>
            <a:avLst/>
            <a:gdLst/>
            <a:ahLst/>
            <a:cxnLst/>
            <a:rect r="r" b="b" t="t" l="l"/>
            <a:pathLst>
              <a:path h="1924480" w="1726988">
                <a:moveTo>
                  <a:pt x="0" y="0"/>
                </a:moveTo>
                <a:lnTo>
                  <a:pt x="1726988" y="0"/>
                </a:lnTo>
                <a:lnTo>
                  <a:pt x="1726988" y="1924480"/>
                </a:lnTo>
                <a:lnTo>
                  <a:pt x="0" y="19244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5159149">
            <a:off x="10370538" y="9845062"/>
            <a:ext cx="1732868" cy="1323488"/>
            <a:chOff x="0" y="0"/>
            <a:chExt cx="2310491" cy="17646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2971" y="127"/>
              <a:ext cx="2140740" cy="1764538"/>
            </a:xfrm>
            <a:custGeom>
              <a:avLst/>
              <a:gdLst/>
              <a:ahLst/>
              <a:cxnLst/>
              <a:rect r="r" b="b" t="t" l="l"/>
              <a:pathLst>
                <a:path h="1764538" w="2140740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537"/>
                    <a:pt x="256434" y="1685925"/>
                  </a:cubicBezTo>
                  <a:cubicBezTo>
                    <a:pt x="305710" y="1741170"/>
                    <a:pt x="391943" y="1764538"/>
                    <a:pt x="501163" y="1764538"/>
                  </a:cubicBezTo>
                  <a:cubicBezTo>
                    <a:pt x="1005226" y="1764538"/>
                    <a:pt x="1999001" y="1267587"/>
                    <a:pt x="2111015" y="1122045"/>
                  </a:cubicBezTo>
                  <a:cubicBezTo>
                    <a:pt x="2247540" y="945007"/>
                    <a:pt x="1889019" y="118618"/>
                    <a:pt x="1540150" y="14605"/>
                  </a:cubicBezTo>
                  <a:cubicBezTo>
                    <a:pt x="1506114" y="4445"/>
                    <a:pt x="1464712" y="0"/>
                    <a:pt x="1417849" y="0"/>
                  </a:cubicBezTo>
                  <a:close/>
                </a:path>
              </a:pathLst>
            </a:custGeom>
            <a:solidFill>
              <a:srgbClr val="07C1C3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84139" y="4797264"/>
            <a:ext cx="5851970" cy="2272576"/>
          </a:xfrm>
          <a:custGeom>
            <a:avLst/>
            <a:gdLst/>
            <a:ahLst/>
            <a:cxnLst/>
            <a:rect r="r" b="b" t="t" l="l"/>
            <a:pathLst>
              <a:path h="2272576" w="5851970">
                <a:moveTo>
                  <a:pt x="0" y="0"/>
                </a:moveTo>
                <a:lnTo>
                  <a:pt x="5851970" y="0"/>
                </a:lnTo>
                <a:lnTo>
                  <a:pt x="5851970" y="2272576"/>
                </a:lnTo>
                <a:lnTo>
                  <a:pt x="0" y="227257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-2788" r="0" b="-278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13529" y="2267301"/>
            <a:ext cx="1599319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Team Dynamics &amp; Communication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99886" y="6916759"/>
            <a:ext cx="5133157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3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Ps</a:t>
            </a:r>
            <a:r>
              <a:rPr lang="en-US" b="true" sz="33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ychological safety encouraged dissent and learning.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3436" y="4225484"/>
            <a:ext cx="4422143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b="true" sz="33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Agile, s</a:t>
            </a:r>
            <a:r>
              <a:rPr lang="en-US" b="true" sz="33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elf-managed, cross-functional teams (not hierarchical).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39913" y="4011081"/>
            <a:ext cx="3208148" cy="253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b="true" sz="3312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collaboration: Slack,</a:t>
            </a:r>
            <a:r>
              <a:rPr lang="en-US" b="true" sz="3312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 Teams, shared dashboards.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39913" y="7031740"/>
            <a:ext cx="351352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b="true" sz="33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Fast f</a:t>
            </a:r>
            <a:r>
              <a:rPr lang="en-US" b="true" sz="33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eedback loops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3964" y="4225484"/>
            <a:ext cx="1509472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00"/>
              </a:lnSpc>
            </a:pPr>
            <a:r>
              <a:rPr lang="en-US" b="true" sz="10000">
                <a:solidFill>
                  <a:srgbClr val="71C1DB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3964" y="6784090"/>
            <a:ext cx="1509472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00"/>
              </a:lnSpc>
            </a:pPr>
            <a:r>
              <a:rPr lang="en-US" b="true" sz="10000">
                <a:solidFill>
                  <a:srgbClr val="71C1DB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05857" y="4061729"/>
            <a:ext cx="1498185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00"/>
              </a:lnSpc>
            </a:pPr>
            <a:r>
              <a:rPr lang="en-US" b="true" sz="10000">
                <a:solidFill>
                  <a:srgbClr val="71C1DB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98938" y="6784090"/>
            <a:ext cx="1498185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20"/>
              </a:lnSpc>
            </a:pPr>
            <a:r>
              <a:rPr lang="en-US" b="true" sz="10100">
                <a:solidFill>
                  <a:srgbClr val="71C1DB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88225" y="5190462"/>
            <a:ext cx="2723931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9"/>
              </a:lnSpc>
            </a:pPr>
            <a:r>
              <a:rPr lang="en-US" sz="4524">
                <a:solidFill>
                  <a:srgbClr val="2B01BE"/>
                </a:solidFill>
                <a:latin typeface="Yeseva One"/>
                <a:ea typeface="Yeseva One"/>
                <a:cs typeface="Yeseva One"/>
                <a:sym typeface="Yeseva One"/>
              </a:rPr>
              <a:t>TEAM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-5195562" y="-528562"/>
            <a:ext cx="5964886" cy="3338788"/>
          </a:xfrm>
          <a:custGeom>
            <a:avLst/>
            <a:gdLst/>
            <a:ahLst/>
            <a:cxnLst/>
            <a:rect r="r" b="b" t="t" l="l"/>
            <a:pathLst>
              <a:path h="3338788" w="5964886">
                <a:moveTo>
                  <a:pt x="0" y="0"/>
                </a:moveTo>
                <a:lnTo>
                  <a:pt x="5964886" y="0"/>
                </a:lnTo>
                <a:lnTo>
                  <a:pt x="5964886" y="3338788"/>
                </a:lnTo>
                <a:lnTo>
                  <a:pt x="0" y="33387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1270743" y="120619"/>
            <a:ext cx="4080134" cy="1222406"/>
          </a:xfrm>
          <a:custGeom>
            <a:avLst/>
            <a:gdLst/>
            <a:ahLst/>
            <a:cxnLst/>
            <a:rect r="r" b="b" t="t" l="l"/>
            <a:pathLst>
              <a:path h="1222406" w="4080134">
                <a:moveTo>
                  <a:pt x="0" y="0"/>
                </a:moveTo>
                <a:lnTo>
                  <a:pt x="4080134" y="0"/>
                </a:lnTo>
                <a:lnTo>
                  <a:pt x="4080134" y="1222406"/>
                </a:lnTo>
                <a:lnTo>
                  <a:pt x="0" y="122240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1608" y="413807"/>
            <a:ext cx="1338884" cy="1454050"/>
          </a:xfrm>
          <a:custGeom>
            <a:avLst/>
            <a:gdLst/>
            <a:ahLst/>
            <a:cxnLst/>
            <a:rect r="r" b="b" t="t" l="l"/>
            <a:pathLst>
              <a:path h="1454050" w="1338884">
                <a:moveTo>
                  <a:pt x="0" y="0"/>
                </a:moveTo>
                <a:lnTo>
                  <a:pt x="1338884" y="0"/>
                </a:lnTo>
                <a:lnTo>
                  <a:pt x="1338884" y="1454050"/>
                </a:lnTo>
                <a:lnTo>
                  <a:pt x="0" y="14540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450174">
            <a:off x="424288" y="9370798"/>
            <a:ext cx="3440082" cy="2113530"/>
            <a:chOff x="0" y="0"/>
            <a:chExt cx="4586776" cy="2818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3929" y="254"/>
              <a:ext cx="3773302" cy="2817749"/>
            </a:xfrm>
            <a:custGeom>
              <a:avLst/>
              <a:gdLst/>
              <a:ahLst/>
              <a:cxnLst/>
              <a:rect r="r" b="b" t="t" l="l"/>
              <a:pathLst>
                <a:path h="2817749" w="3773302">
                  <a:moveTo>
                    <a:pt x="1669019" y="0"/>
                  </a:moveTo>
                  <a:cubicBezTo>
                    <a:pt x="1476106" y="0"/>
                    <a:pt x="1324976" y="20066"/>
                    <a:pt x="1256269" y="62357"/>
                  </a:cubicBezTo>
                  <a:cubicBezTo>
                    <a:pt x="1251062" y="62103"/>
                    <a:pt x="1245855" y="62103"/>
                    <a:pt x="1240775" y="62103"/>
                  </a:cubicBezTo>
                  <a:cubicBezTo>
                    <a:pt x="197216" y="62103"/>
                    <a:pt x="-73929" y="1201293"/>
                    <a:pt x="16114" y="1876933"/>
                  </a:cubicBezTo>
                  <a:cubicBezTo>
                    <a:pt x="104760" y="2543302"/>
                    <a:pt x="1229472" y="2801493"/>
                    <a:pt x="1858630" y="2817241"/>
                  </a:cubicBezTo>
                  <a:cubicBezTo>
                    <a:pt x="1869552" y="2817495"/>
                    <a:pt x="1880474" y="2817749"/>
                    <a:pt x="1891396" y="2817749"/>
                  </a:cubicBezTo>
                  <a:cubicBezTo>
                    <a:pt x="3123804" y="2817749"/>
                    <a:pt x="4512549" y="1073150"/>
                    <a:pt x="3314812" y="355981"/>
                  </a:cubicBezTo>
                  <a:cubicBezTo>
                    <a:pt x="2941305" y="132080"/>
                    <a:pt x="2165843" y="0"/>
                    <a:pt x="1669019" y="0"/>
                  </a:cubicBezTo>
                  <a:close/>
                </a:path>
              </a:pathLst>
            </a:custGeom>
            <a:solidFill>
              <a:srgbClr val="CFE6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925826" y="-3210750"/>
            <a:ext cx="8037933" cy="8581535"/>
          </a:xfrm>
          <a:custGeom>
            <a:avLst/>
            <a:gdLst/>
            <a:ahLst/>
            <a:cxnLst/>
            <a:rect r="r" b="b" t="t" l="l"/>
            <a:pathLst>
              <a:path h="8581535" w="8037933">
                <a:moveTo>
                  <a:pt x="0" y="0"/>
                </a:moveTo>
                <a:lnTo>
                  <a:pt x="8037932" y="0"/>
                </a:lnTo>
                <a:lnTo>
                  <a:pt x="8037932" y="8581534"/>
                </a:lnTo>
                <a:lnTo>
                  <a:pt x="0" y="8581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18824" y="-2018559"/>
            <a:ext cx="3562408" cy="4539500"/>
          </a:xfrm>
          <a:custGeom>
            <a:avLst/>
            <a:gdLst/>
            <a:ahLst/>
            <a:cxnLst/>
            <a:rect r="r" b="b" t="t" l="l"/>
            <a:pathLst>
              <a:path h="4539500" w="3562408">
                <a:moveTo>
                  <a:pt x="0" y="0"/>
                </a:moveTo>
                <a:lnTo>
                  <a:pt x="3562408" y="0"/>
                </a:lnTo>
                <a:lnTo>
                  <a:pt x="3562408" y="4539500"/>
                </a:lnTo>
                <a:lnTo>
                  <a:pt x="0" y="4539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55778" y="9225868"/>
            <a:ext cx="2137726" cy="996154"/>
          </a:xfrm>
          <a:custGeom>
            <a:avLst/>
            <a:gdLst/>
            <a:ahLst/>
            <a:cxnLst/>
            <a:rect r="r" b="b" t="t" l="l"/>
            <a:pathLst>
              <a:path h="996154" w="2137726">
                <a:moveTo>
                  <a:pt x="0" y="0"/>
                </a:moveTo>
                <a:lnTo>
                  <a:pt x="2137726" y="0"/>
                </a:lnTo>
                <a:lnTo>
                  <a:pt x="2137726" y="996154"/>
                </a:lnTo>
                <a:lnTo>
                  <a:pt x="0" y="9961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84766" y="6942795"/>
            <a:ext cx="8318547" cy="8381059"/>
          </a:xfrm>
          <a:custGeom>
            <a:avLst/>
            <a:gdLst/>
            <a:ahLst/>
            <a:cxnLst/>
            <a:rect r="r" b="b" t="t" l="l"/>
            <a:pathLst>
              <a:path h="8381059" w="8318547">
                <a:moveTo>
                  <a:pt x="0" y="0"/>
                </a:moveTo>
                <a:lnTo>
                  <a:pt x="8318547" y="0"/>
                </a:lnTo>
                <a:lnTo>
                  <a:pt x="8318547" y="8381060"/>
                </a:lnTo>
                <a:lnTo>
                  <a:pt x="0" y="8381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94935" y="247270"/>
            <a:ext cx="1338884" cy="1454050"/>
          </a:xfrm>
          <a:custGeom>
            <a:avLst/>
            <a:gdLst/>
            <a:ahLst/>
            <a:cxnLst/>
            <a:rect r="r" b="b" t="t" l="l"/>
            <a:pathLst>
              <a:path h="1454050" w="1338884">
                <a:moveTo>
                  <a:pt x="0" y="0"/>
                </a:moveTo>
                <a:lnTo>
                  <a:pt x="1338884" y="0"/>
                </a:lnTo>
                <a:lnTo>
                  <a:pt x="1338884" y="1454049"/>
                </a:lnTo>
                <a:lnTo>
                  <a:pt x="0" y="14540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14235029" y="-1522336"/>
            <a:ext cx="3347658" cy="3760152"/>
            <a:chOff x="0" y="0"/>
            <a:chExt cx="4463544" cy="5013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19675" y="396"/>
              <a:ext cx="3671918" cy="5013136"/>
            </a:xfrm>
            <a:custGeom>
              <a:avLst/>
              <a:gdLst/>
              <a:ahLst/>
              <a:cxnLst/>
              <a:rect r="r" b="b" t="t" l="l"/>
              <a:pathLst>
                <a:path h="5013136" w="3671918">
                  <a:moveTo>
                    <a:pt x="2047782" y="0"/>
                  </a:moveTo>
                  <a:cubicBezTo>
                    <a:pt x="2235488" y="0"/>
                    <a:pt x="2382554" y="35626"/>
                    <a:pt x="2449483" y="110835"/>
                  </a:cubicBezTo>
                  <a:cubicBezTo>
                    <a:pt x="2454563" y="110440"/>
                    <a:pt x="2459516" y="110440"/>
                    <a:pt x="2464596" y="110440"/>
                  </a:cubicBezTo>
                  <a:cubicBezTo>
                    <a:pt x="3479961" y="110440"/>
                    <a:pt x="3743867" y="2137149"/>
                    <a:pt x="3656237" y="3339320"/>
                  </a:cubicBezTo>
                  <a:cubicBezTo>
                    <a:pt x="3570004" y="4524865"/>
                    <a:pt x="2475518" y="4984240"/>
                    <a:pt x="1863251" y="5012344"/>
                  </a:cubicBezTo>
                  <a:cubicBezTo>
                    <a:pt x="1852583" y="5012740"/>
                    <a:pt x="1842042" y="5013136"/>
                    <a:pt x="1831374" y="5013136"/>
                  </a:cubicBezTo>
                  <a:cubicBezTo>
                    <a:pt x="632113" y="5013136"/>
                    <a:pt x="-719421" y="1909342"/>
                    <a:pt x="446185" y="633544"/>
                  </a:cubicBezTo>
                  <a:cubicBezTo>
                    <a:pt x="809659" y="235130"/>
                    <a:pt x="1564293" y="0"/>
                    <a:pt x="2047782" y="0"/>
                  </a:cubicBezTo>
                  <a:close/>
                </a:path>
              </a:pathLst>
            </a:custGeom>
            <a:solidFill>
              <a:srgbClr val="008DD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819111" y="0"/>
            <a:ext cx="2468889" cy="1264040"/>
          </a:xfrm>
          <a:custGeom>
            <a:avLst/>
            <a:gdLst/>
            <a:ahLst/>
            <a:cxnLst/>
            <a:rect r="r" b="b" t="t" l="l"/>
            <a:pathLst>
              <a:path h="1264040" w="2468889">
                <a:moveTo>
                  <a:pt x="0" y="0"/>
                </a:moveTo>
                <a:lnTo>
                  <a:pt x="2468889" y="0"/>
                </a:lnTo>
                <a:lnTo>
                  <a:pt x="2468889" y="1264040"/>
                </a:lnTo>
                <a:lnTo>
                  <a:pt x="0" y="12640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2124" y="9840049"/>
            <a:ext cx="2549063" cy="1101676"/>
          </a:xfrm>
          <a:custGeom>
            <a:avLst/>
            <a:gdLst/>
            <a:ahLst/>
            <a:cxnLst/>
            <a:rect r="r" b="b" t="t" l="l"/>
            <a:pathLst>
              <a:path h="1101676" w="2549063">
                <a:moveTo>
                  <a:pt x="0" y="0"/>
                </a:moveTo>
                <a:lnTo>
                  <a:pt x="2549063" y="0"/>
                </a:lnTo>
                <a:lnTo>
                  <a:pt x="2549063" y="1101676"/>
                </a:lnTo>
                <a:lnTo>
                  <a:pt x="0" y="11016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29811" y="7895028"/>
            <a:ext cx="6265400" cy="6476593"/>
          </a:xfrm>
          <a:custGeom>
            <a:avLst/>
            <a:gdLst/>
            <a:ahLst/>
            <a:cxnLst/>
            <a:rect r="r" b="b" t="t" l="l"/>
            <a:pathLst>
              <a:path h="6476593" w="6265400">
                <a:moveTo>
                  <a:pt x="0" y="0"/>
                </a:moveTo>
                <a:lnTo>
                  <a:pt x="6265400" y="0"/>
                </a:lnTo>
                <a:lnTo>
                  <a:pt x="6265400" y="6476594"/>
                </a:lnTo>
                <a:lnTo>
                  <a:pt x="0" y="64765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43949" y="2218414"/>
            <a:ext cx="9627986" cy="1782100"/>
            <a:chOff x="0" y="0"/>
            <a:chExt cx="2535766" cy="469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5766" cy="469360"/>
            </a:xfrm>
            <a:custGeom>
              <a:avLst/>
              <a:gdLst/>
              <a:ahLst/>
              <a:cxnLst/>
              <a:rect r="r" b="b" t="t" l="l"/>
              <a:pathLst>
                <a:path h="469360" w="2535766">
                  <a:moveTo>
                    <a:pt x="2535766" y="0"/>
                  </a:moveTo>
                  <a:lnTo>
                    <a:pt x="0" y="0"/>
                  </a:lnTo>
                  <a:lnTo>
                    <a:pt x="101600" y="234680"/>
                  </a:lnTo>
                  <a:lnTo>
                    <a:pt x="0" y="469360"/>
                  </a:lnTo>
                  <a:lnTo>
                    <a:pt x="2535766" y="469360"/>
                  </a:lnTo>
                  <a:lnTo>
                    <a:pt x="2434166" y="234680"/>
                  </a:lnTo>
                  <a:lnTo>
                    <a:pt x="2535766" y="0"/>
                  </a:lnTo>
                  <a:close/>
                </a:path>
              </a:pathLst>
            </a:custGeom>
            <a:solidFill>
              <a:srgbClr val="71C1D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88900" y="-38100"/>
              <a:ext cx="2357966" cy="507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Culture: Science + public accountability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3949" y="4118654"/>
            <a:ext cx="9627986" cy="1782100"/>
            <a:chOff x="0" y="0"/>
            <a:chExt cx="2535766" cy="469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5766" cy="469360"/>
            </a:xfrm>
            <a:custGeom>
              <a:avLst/>
              <a:gdLst/>
              <a:ahLst/>
              <a:cxnLst/>
              <a:rect r="r" b="b" t="t" l="l"/>
              <a:pathLst>
                <a:path h="469360" w="2535766">
                  <a:moveTo>
                    <a:pt x="2535766" y="0"/>
                  </a:moveTo>
                  <a:lnTo>
                    <a:pt x="0" y="0"/>
                  </a:lnTo>
                  <a:lnTo>
                    <a:pt x="101600" y="234680"/>
                  </a:lnTo>
                  <a:lnTo>
                    <a:pt x="0" y="469360"/>
                  </a:lnTo>
                  <a:lnTo>
                    <a:pt x="2535766" y="469360"/>
                  </a:lnTo>
                  <a:lnTo>
                    <a:pt x="2434166" y="234680"/>
                  </a:lnTo>
                  <a:lnTo>
                    <a:pt x="2535766" y="0"/>
                  </a:ln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88900" y="-38100"/>
              <a:ext cx="2357966" cy="507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Intrinsic: Humanitarian mission drove engagement (SDT).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3949" y="6015054"/>
            <a:ext cx="9627986" cy="1782100"/>
            <a:chOff x="0" y="0"/>
            <a:chExt cx="2535766" cy="469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35766" cy="469360"/>
            </a:xfrm>
            <a:custGeom>
              <a:avLst/>
              <a:gdLst/>
              <a:ahLst/>
              <a:cxnLst/>
              <a:rect r="r" b="b" t="t" l="l"/>
              <a:pathLst>
                <a:path h="469360" w="2535766">
                  <a:moveTo>
                    <a:pt x="2535766" y="0"/>
                  </a:moveTo>
                  <a:lnTo>
                    <a:pt x="0" y="0"/>
                  </a:lnTo>
                  <a:lnTo>
                    <a:pt x="101600" y="234680"/>
                  </a:lnTo>
                  <a:lnTo>
                    <a:pt x="0" y="469360"/>
                  </a:lnTo>
                  <a:lnTo>
                    <a:pt x="2535766" y="469360"/>
                  </a:lnTo>
                  <a:lnTo>
                    <a:pt x="2434166" y="234680"/>
                  </a:lnTo>
                  <a:lnTo>
                    <a:pt x="2535766" y="0"/>
                  </a:lnTo>
                  <a:close/>
                </a:path>
              </a:pathLst>
            </a:custGeom>
            <a:solidFill>
              <a:srgbClr val="71C1D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88900" y="-38100"/>
              <a:ext cx="2357966" cy="507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Extrinsic: Bonuses, career growth, KPIs tied to mission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3949" y="7941845"/>
            <a:ext cx="9627986" cy="1782100"/>
            <a:chOff x="0" y="0"/>
            <a:chExt cx="2535766" cy="469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35766" cy="469360"/>
            </a:xfrm>
            <a:custGeom>
              <a:avLst/>
              <a:gdLst/>
              <a:ahLst/>
              <a:cxnLst/>
              <a:rect r="r" b="b" t="t" l="l"/>
              <a:pathLst>
                <a:path h="469360" w="2535766">
                  <a:moveTo>
                    <a:pt x="2535766" y="0"/>
                  </a:moveTo>
                  <a:lnTo>
                    <a:pt x="0" y="0"/>
                  </a:lnTo>
                  <a:lnTo>
                    <a:pt x="101600" y="234680"/>
                  </a:lnTo>
                  <a:lnTo>
                    <a:pt x="0" y="469360"/>
                  </a:lnTo>
                  <a:lnTo>
                    <a:pt x="2535766" y="469360"/>
                  </a:lnTo>
                  <a:lnTo>
                    <a:pt x="2434166" y="234680"/>
                  </a:lnTo>
                  <a:lnTo>
                    <a:pt x="2535766" y="0"/>
                  </a:ln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88900" y="-38100"/>
              <a:ext cx="2357966" cy="507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88% of employees found their work meaningful (Pulse Survey 2021).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24641" y="2031570"/>
            <a:ext cx="7449947" cy="7363893"/>
            <a:chOff x="0" y="0"/>
            <a:chExt cx="7963923" cy="78719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79" y="30848"/>
              <a:ext cx="7866385" cy="7819054"/>
            </a:xfrm>
            <a:custGeom>
              <a:avLst/>
              <a:gdLst/>
              <a:ahLst/>
              <a:cxnLst/>
              <a:rect r="r" b="b" t="t" l="l"/>
              <a:pathLst>
                <a:path h="7819054" w="7866385">
                  <a:moveTo>
                    <a:pt x="4972746" y="181281"/>
                  </a:moveTo>
                  <a:cubicBezTo>
                    <a:pt x="6670390" y="414800"/>
                    <a:pt x="8549993" y="1063664"/>
                    <a:pt x="7619553" y="3996030"/>
                  </a:cubicBezTo>
                  <a:cubicBezTo>
                    <a:pt x="6438976" y="6928396"/>
                    <a:pt x="3994657" y="7448914"/>
                    <a:pt x="2814081" y="7769781"/>
                  </a:cubicBezTo>
                  <a:cubicBezTo>
                    <a:pt x="1633504" y="8018884"/>
                    <a:pt x="246823" y="7327697"/>
                    <a:pt x="736771" y="5600364"/>
                  </a:cubicBezTo>
                  <a:cubicBezTo>
                    <a:pt x="1165250" y="4088725"/>
                    <a:pt x="-84489" y="2188481"/>
                    <a:pt x="4561" y="944230"/>
                  </a:cubicBezTo>
                  <a:cubicBezTo>
                    <a:pt x="127500" y="-222618"/>
                    <a:pt x="2935212" y="-80378"/>
                    <a:pt x="4972746" y="181280"/>
                  </a:cubicBezTo>
                  <a:close/>
                </a:path>
              </a:pathLst>
            </a:custGeom>
            <a:blipFill>
              <a:blip r:embed="rId19"/>
              <a:stretch>
                <a:fillRect l="-16265" t="0" r="-16265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70302" y="1018264"/>
            <a:ext cx="962798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Culture &amp; Motivation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450174">
            <a:off x="424288" y="9370798"/>
            <a:ext cx="3440082" cy="2113530"/>
            <a:chOff x="0" y="0"/>
            <a:chExt cx="4586776" cy="2818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3929" y="254"/>
              <a:ext cx="3773302" cy="2817749"/>
            </a:xfrm>
            <a:custGeom>
              <a:avLst/>
              <a:gdLst/>
              <a:ahLst/>
              <a:cxnLst/>
              <a:rect r="r" b="b" t="t" l="l"/>
              <a:pathLst>
                <a:path h="2817749" w="3773302">
                  <a:moveTo>
                    <a:pt x="1669019" y="0"/>
                  </a:moveTo>
                  <a:cubicBezTo>
                    <a:pt x="1476106" y="0"/>
                    <a:pt x="1324976" y="20066"/>
                    <a:pt x="1256269" y="62357"/>
                  </a:cubicBezTo>
                  <a:cubicBezTo>
                    <a:pt x="1251062" y="62103"/>
                    <a:pt x="1245855" y="62103"/>
                    <a:pt x="1240775" y="62103"/>
                  </a:cubicBezTo>
                  <a:cubicBezTo>
                    <a:pt x="197216" y="62103"/>
                    <a:pt x="-73929" y="1201293"/>
                    <a:pt x="16114" y="1876933"/>
                  </a:cubicBezTo>
                  <a:cubicBezTo>
                    <a:pt x="104760" y="2543302"/>
                    <a:pt x="1229472" y="2801493"/>
                    <a:pt x="1858630" y="2817241"/>
                  </a:cubicBezTo>
                  <a:cubicBezTo>
                    <a:pt x="1869552" y="2817495"/>
                    <a:pt x="1880474" y="2817749"/>
                    <a:pt x="1891396" y="2817749"/>
                  </a:cubicBezTo>
                  <a:cubicBezTo>
                    <a:pt x="3123804" y="2817749"/>
                    <a:pt x="4512549" y="1073150"/>
                    <a:pt x="3314812" y="355981"/>
                  </a:cubicBezTo>
                  <a:cubicBezTo>
                    <a:pt x="2941305" y="132080"/>
                    <a:pt x="2165843" y="0"/>
                    <a:pt x="1669019" y="0"/>
                  </a:cubicBezTo>
                  <a:close/>
                </a:path>
              </a:pathLst>
            </a:custGeom>
            <a:solidFill>
              <a:srgbClr val="CFE6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925826" y="-3210750"/>
            <a:ext cx="8037933" cy="8581535"/>
          </a:xfrm>
          <a:custGeom>
            <a:avLst/>
            <a:gdLst/>
            <a:ahLst/>
            <a:cxnLst/>
            <a:rect r="r" b="b" t="t" l="l"/>
            <a:pathLst>
              <a:path h="8581535" w="8037933">
                <a:moveTo>
                  <a:pt x="0" y="0"/>
                </a:moveTo>
                <a:lnTo>
                  <a:pt x="8037932" y="0"/>
                </a:lnTo>
                <a:lnTo>
                  <a:pt x="8037932" y="8581534"/>
                </a:lnTo>
                <a:lnTo>
                  <a:pt x="0" y="8581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18824" y="-2018559"/>
            <a:ext cx="3562408" cy="4539500"/>
          </a:xfrm>
          <a:custGeom>
            <a:avLst/>
            <a:gdLst/>
            <a:ahLst/>
            <a:cxnLst/>
            <a:rect r="r" b="b" t="t" l="l"/>
            <a:pathLst>
              <a:path h="4539500" w="3562408">
                <a:moveTo>
                  <a:pt x="0" y="0"/>
                </a:moveTo>
                <a:lnTo>
                  <a:pt x="3562408" y="0"/>
                </a:lnTo>
                <a:lnTo>
                  <a:pt x="3562408" y="4539500"/>
                </a:lnTo>
                <a:lnTo>
                  <a:pt x="0" y="4539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55778" y="9225868"/>
            <a:ext cx="2137726" cy="996154"/>
          </a:xfrm>
          <a:custGeom>
            <a:avLst/>
            <a:gdLst/>
            <a:ahLst/>
            <a:cxnLst/>
            <a:rect r="r" b="b" t="t" l="l"/>
            <a:pathLst>
              <a:path h="996154" w="2137726">
                <a:moveTo>
                  <a:pt x="0" y="0"/>
                </a:moveTo>
                <a:lnTo>
                  <a:pt x="2137726" y="0"/>
                </a:lnTo>
                <a:lnTo>
                  <a:pt x="2137726" y="996154"/>
                </a:lnTo>
                <a:lnTo>
                  <a:pt x="0" y="9961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84766" y="6942795"/>
            <a:ext cx="8318547" cy="8381059"/>
          </a:xfrm>
          <a:custGeom>
            <a:avLst/>
            <a:gdLst/>
            <a:ahLst/>
            <a:cxnLst/>
            <a:rect r="r" b="b" t="t" l="l"/>
            <a:pathLst>
              <a:path h="8381059" w="8318547">
                <a:moveTo>
                  <a:pt x="0" y="0"/>
                </a:moveTo>
                <a:lnTo>
                  <a:pt x="8318547" y="0"/>
                </a:lnTo>
                <a:lnTo>
                  <a:pt x="8318547" y="8381060"/>
                </a:lnTo>
                <a:lnTo>
                  <a:pt x="0" y="8381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94935" y="247270"/>
            <a:ext cx="1338884" cy="1454050"/>
          </a:xfrm>
          <a:custGeom>
            <a:avLst/>
            <a:gdLst/>
            <a:ahLst/>
            <a:cxnLst/>
            <a:rect r="r" b="b" t="t" l="l"/>
            <a:pathLst>
              <a:path h="1454050" w="1338884">
                <a:moveTo>
                  <a:pt x="0" y="0"/>
                </a:moveTo>
                <a:lnTo>
                  <a:pt x="1338884" y="0"/>
                </a:lnTo>
                <a:lnTo>
                  <a:pt x="1338884" y="1454049"/>
                </a:lnTo>
                <a:lnTo>
                  <a:pt x="0" y="14540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400000">
            <a:off x="14235029" y="-1522336"/>
            <a:ext cx="3347658" cy="3760152"/>
            <a:chOff x="0" y="0"/>
            <a:chExt cx="4463544" cy="5013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19675" y="396"/>
              <a:ext cx="3671918" cy="5013136"/>
            </a:xfrm>
            <a:custGeom>
              <a:avLst/>
              <a:gdLst/>
              <a:ahLst/>
              <a:cxnLst/>
              <a:rect r="r" b="b" t="t" l="l"/>
              <a:pathLst>
                <a:path h="5013136" w="3671918">
                  <a:moveTo>
                    <a:pt x="2047782" y="0"/>
                  </a:moveTo>
                  <a:cubicBezTo>
                    <a:pt x="2235488" y="0"/>
                    <a:pt x="2382554" y="35626"/>
                    <a:pt x="2449483" y="110835"/>
                  </a:cubicBezTo>
                  <a:cubicBezTo>
                    <a:pt x="2454563" y="110440"/>
                    <a:pt x="2459516" y="110440"/>
                    <a:pt x="2464596" y="110440"/>
                  </a:cubicBezTo>
                  <a:cubicBezTo>
                    <a:pt x="3479961" y="110440"/>
                    <a:pt x="3743867" y="2137149"/>
                    <a:pt x="3656237" y="3339320"/>
                  </a:cubicBezTo>
                  <a:cubicBezTo>
                    <a:pt x="3570004" y="4524865"/>
                    <a:pt x="2475518" y="4984240"/>
                    <a:pt x="1863251" y="5012344"/>
                  </a:cubicBezTo>
                  <a:cubicBezTo>
                    <a:pt x="1852583" y="5012740"/>
                    <a:pt x="1842042" y="5013136"/>
                    <a:pt x="1831374" y="5013136"/>
                  </a:cubicBezTo>
                  <a:cubicBezTo>
                    <a:pt x="632113" y="5013136"/>
                    <a:pt x="-719421" y="1909342"/>
                    <a:pt x="446185" y="633544"/>
                  </a:cubicBezTo>
                  <a:cubicBezTo>
                    <a:pt x="809659" y="235130"/>
                    <a:pt x="1564293" y="0"/>
                    <a:pt x="2047782" y="0"/>
                  </a:cubicBezTo>
                  <a:close/>
                </a:path>
              </a:pathLst>
            </a:custGeom>
            <a:solidFill>
              <a:srgbClr val="008DD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819111" y="0"/>
            <a:ext cx="2468889" cy="1264040"/>
          </a:xfrm>
          <a:custGeom>
            <a:avLst/>
            <a:gdLst/>
            <a:ahLst/>
            <a:cxnLst/>
            <a:rect r="r" b="b" t="t" l="l"/>
            <a:pathLst>
              <a:path h="1264040" w="2468889">
                <a:moveTo>
                  <a:pt x="0" y="0"/>
                </a:moveTo>
                <a:lnTo>
                  <a:pt x="2468889" y="0"/>
                </a:lnTo>
                <a:lnTo>
                  <a:pt x="2468889" y="1264040"/>
                </a:lnTo>
                <a:lnTo>
                  <a:pt x="0" y="12640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2124" y="9840049"/>
            <a:ext cx="2549063" cy="1101676"/>
          </a:xfrm>
          <a:custGeom>
            <a:avLst/>
            <a:gdLst/>
            <a:ahLst/>
            <a:cxnLst/>
            <a:rect r="r" b="b" t="t" l="l"/>
            <a:pathLst>
              <a:path h="1101676" w="2549063">
                <a:moveTo>
                  <a:pt x="0" y="0"/>
                </a:moveTo>
                <a:lnTo>
                  <a:pt x="2549063" y="0"/>
                </a:lnTo>
                <a:lnTo>
                  <a:pt x="2549063" y="1101676"/>
                </a:lnTo>
                <a:lnTo>
                  <a:pt x="0" y="11016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29811" y="7895028"/>
            <a:ext cx="6265400" cy="6476593"/>
          </a:xfrm>
          <a:custGeom>
            <a:avLst/>
            <a:gdLst/>
            <a:ahLst/>
            <a:cxnLst/>
            <a:rect r="r" b="b" t="t" l="l"/>
            <a:pathLst>
              <a:path h="6476593" w="6265400">
                <a:moveTo>
                  <a:pt x="0" y="0"/>
                </a:moveTo>
                <a:lnTo>
                  <a:pt x="6265400" y="0"/>
                </a:lnTo>
                <a:lnTo>
                  <a:pt x="6265400" y="6476594"/>
                </a:lnTo>
                <a:lnTo>
                  <a:pt x="0" y="64765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19729" y="1080017"/>
            <a:ext cx="9848541" cy="5919602"/>
          </a:xfrm>
          <a:custGeom>
            <a:avLst/>
            <a:gdLst/>
            <a:ahLst/>
            <a:cxnLst/>
            <a:rect r="r" b="b" t="t" l="l"/>
            <a:pathLst>
              <a:path h="5919602" w="9848541">
                <a:moveTo>
                  <a:pt x="0" y="0"/>
                </a:moveTo>
                <a:lnTo>
                  <a:pt x="9848542" y="0"/>
                </a:lnTo>
                <a:lnTo>
                  <a:pt x="9848542" y="5919602"/>
                </a:lnTo>
                <a:lnTo>
                  <a:pt x="0" y="59196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17338" y="7585466"/>
            <a:ext cx="1027787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Employee Engagement at Pfizer (2019–2021)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2500" y="-1070500"/>
            <a:ext cx="4997672" cy="2928174"/>
          </a:xfrm>
          <a:custGeom>
            <a:avLst/>
            <a:gdLst/>
            <a:ahLst/>
            <a:cxnLst/>
            <a:rect r="r" b="b" t="t" l="l"/>
            <a:pathLst>
              <a:path h="2928174" w="4997672">
                <a:moveTo>
                  <a:pt x="0" y="0"/>
                </a:moveTo>
                <a:lnTo>
                  <a:pt x="4997672" y="0"/>
                </a:lnTo>
                <a:lnTo>
                  <a:pt x="4997672" y="2928174"/>
                </a:lnTo>
                <a:lnTo>
                  <a:pt x="0" y="2928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6926" y="9206994"/>
            <a:ext cx="5025816" cy="3671504"/>
          </a:xfrm>
          <a:custGeom>
            <a:avLst/>
            <a:gdLst/>
            <a:ahLst/>
            <a:cxnLst/>
            <a:rect r="r" b="b" t="t" l="l"/>
            <a:pathLst>
              <a:path h="3671504" w="5025816">
                <a:moveTo>
                  <a:pt x="0" y="0"/>
                </a:moveTo>
                <a:lnTo>
                  <a:pt x="5025816" y="0"/>
                </a:lnTo>
                <a:lnTo>
                  <a:pt x="5025816" y="3671504"/>
                </a:lnTo>
                <a:lnTo>
                  <a:pt x="0" y="3671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9232" y="9072612"/>
            <a:ext cx="4798226" cy="3360150"/>
          </a:xfrm>
          <a:custGeom>
            <a:avLst/>
            <a:gdLst/>
            <a:ahLst/>
            <a:cxnLst/>
            <a:rect r="r" b="b" t="t" l="l"/>
            <a:pathLst>
              <a:path h="3360150" w="4798226">
                <a:moveTo>
                  <a:pt x="0" y="0"/>
                </a:moveTo>
                <a:lnTo>
                  <a:pt x="4798226" y="0"/>
                </a:lnTo>
                <a:lnTo>
                  <a:pt x="4798226" y="3360150"/>
                </a:lnTo>
                <a:lnTo>
                  <a:pt x="0" y="3360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5183808" y="-1256846"/>
            <a:ext cx="3347658" cy="2412780"/>
            <a:chOff x="0" y="0"/>
            <a:chExt cx="4463544" cy="3217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19675" y="254"/>
              <a:ext cx="3671918" cy="3216783"/>
            </a:xfrm>
            <a:custGeom>
              <a:avLst/>
              <a:gdLst/>
              <a:ahLst/>
              <a:cxnLst/>
              <a:rect r="r" b="b" t="t" l="l"/>
              <a:pathLst>
                <a:path h="3216783" w="3671918">
                  <a:moveTo>
                    <a:pt x="2047782" y="0"/>
                  </a:moveTo>
                  <a:cubicBezTo>
                    <a:pt x="2235488" y="0"/>
                    <a:pt x="2382554" y="22860"/>
                    <a:pt x="2449483" y="71120"/>
                  </a:cubicBezTo>
                  <a:cubicBezTo>
                    <a:pt x="2454563" y="70866"/>
                    <a:pt x="2459516" y="70866"/>
                    <a:pt x="2464596" y="70866"/>
                  </a:cubicBezTo>
                  <a:cubicBezTo>
                    <a:pt x="3479961" y="70866"/>
                    <a:pt x="3743867" y="1371346"/>
                    <a:pt x="3656237" y="2142744"/>
                  </a:cubicBezTo>
                  <a:cubicBezTo>
                    <a:pt x="3570004" y="2903474"/>
                    <a:pt x="2475518" y="3198241"/>
                    <a:pt x="1863251" y="3216275"/>
                  </a:cubicBezTo>
                  <a:cubicBezTo>
                    <a:pt x="1852583" y="3216529"/>
                    <a:pt x="1842042" y="3216783"/>
                    <a:pt x="1831374" y="3216783"/>
                  </a:cubicBezTo>
                  <a:cubicBezTo>
                    <a:pt x="632113" y="3216783"/>
                    <a:pt x="-719421" y="1225169"/>
                    <a:pt x="446185" y="406527"/>
                  </a:cubicBezTo>
                  <a:cubicBezTo>
                    <a:pt x="809659" y="150876"/>
                    <a:pt x="1564293" y="0"/>
                    <a:pt x="2047782" y="0"/>
                  </a:cubicBezTo>
                  <a:close/>
                </a:path>
              </a:pathLst>
            </a:custGeom>
            <a:solidFill>
              <a:srgbClr val="85C6E7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912586" y="8685908"/>
            <a:ext cx="1870888" cy="1601102"/>
          </a:xfrm>
          <a:custGeom>
            <a:avLst/>
            <a:gdLst/>
            <a:ahLst/>
            <a:cxnLst/>
            <a:rect r="r" b="b" t="t" l="l"/>
            <a:pathLst>
              <a:path h="1601102" w="1870888">
                <a:moveTo>
                  <a:pt x="0" y="0"/>
                </a:moveTo>
                <a:lnTo>
                  <a:pt x="1870888" y="0"/>
                </a:lnTo>
                <a:lnTo>
                  <a:pt x="1870888" y="1601102"/>
                </a:lnTo>
                <a:lnTo>
                  <a:pt x="0" y="16011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08632" y="-1525102"/>
            <a:ext cx="6678716" cy="4931559"/>
          </a:xfrm>
          <a:custGeom>
            <a:avLst/>
            <a:gdLst/>
            <a:ahLst/>
            <a:cxnLst/>
            <a:rect r="r" b="b" t="t" l="l"/>
            <a:pathLst>
              <a:path h="4931559" w="6678716">
                <a:moveTo>
                  <a:pt x="0" y="0"/>
                </a:moveTo>
                <a:lnTo>
                  <a:pt x="6678716" y="0"/>
                </a:lnTo>
                <a:lnTo>
                  <a:pt x="6678716" y="4931558"/>
                </a:lnTo>
                <a:lnTo>
                  <a:pt x="0" y="4931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14265" y="7975651"/>
            <a:ext cx="4902863" cy="4902863"/>
          </a:xfrm>
          <a:custGeom>
            <a:avLst/>
            <a:gdLst/>
            <a:ahLst/>
            <a:cxnLst/>
            <a:rect r="r" b="b" t="t" l="l"/>
            <a:pathLst>
              <a:path h="4902863" w="4902863">
                <a:moveTo>
                  <a:pt x="0" y="0"/>
                </a:moveTo>
                <a:lnTo>
                  <a:pt x="4902864" y="0"/>
                </a:lnTo>
                <a:lnTo>
                  <a:pt x="4902864" y="4902864"/>
                </a:lnTo>
                <a:lnTo>
                  <a:pt x="0" y="49028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53410" y="-3324889"/>
            <a:ext cx="4586220" cy="4813540"/>
          </a:xfrm>
          <a:custGeom>
            <a:avLst/>
            <a:gdLst/>
            <a:ahLst/>
            <a:cxnLst/>
            <a:rect r="r" b="b" t="t" l="l"/>
            <a:pathLst>
              <a:path h="4813540" w="4586220">
                <a:moveTo>
                  <a:pt x="0" y="0"/>
                </a:moveTo>
                <a:lnTo>
                  <a:pt x="4586220" y="0"/>
                </a:lnTo>
                <a:lnTo>
                  <a:pt x="4586220" y="4813540"/>
                </a:lnTo>
                <a:lnTo>
                  <a:pt x="0" y="4813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76474" y="9985520"/>
            <a:ext cx="1343179" cy="1234089"/>
          </a:xfrm>
          <a:custGeom>
            <a:avLst/>
            <a:gdLst/>
            <a:ahLst/>
            <a:cxnLst/>
            <a:rect r="r" b="b" t="t" l="l"/>
            <a:pathLst>
              <a:path h="1234089" w="1343179">
                <a:moveTo>
                  <a:pt x="0" y="0"/>
                </a:moveTo>
                <a:lnTo>
                  <a:pt x="1343179" y="0"/>
                </a:lnTo>
                <a:lnTo>
                  <a:pt x="1343179" y="1234089"/>
                </a:lnTo>
                <a:lnTo>
                  <a:pt x="0" y="123408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466350" y="-483150"/>
            <a:ext cx="1732950" cy="1323550"/>
            <a:chOff x="0" y="0"/>
            <a:chExt cx="2310600" cy="17647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00E1FF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28564" y="2323"/>
            <a:ext cx="6491270" cy="10284687"/>
            <a:chOff x="0" y="0"/>
            <a:chExt cx="2889504" cy="45780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89504" cy="4578095"/>
            </a:xfrm>
            <a:custGeom>
              <a:avLst/>
              <a:gdLst/>
              <a:ahLst/>
              <a:cxnLst/>
              <a:rect r="r" b="b" t="t" l="l"/>
              <a:pathLst>
                <a:path h="4578095" w="2889504">
                  <a:moveTo>
                    <a:pt x="2889504" y="4578095"/>
                  </a:moveTo>
                  <a:lnTo>
                    <a:pt x="0" y="4578095"/>
                  </a:lnTo>
                  <a:lnTo>
                    <a:pt x="0" y="0"/>
                  </a:lnTo>
                  <a:lnTo>
                    <a:pt x="2889504" y="0"/>
                  </a:lnTo>
                  <a:lnTo>
                    <a:pt x="2889504" y="4578095"/>
                  </a:lnTo>
                  <a:close/>
                </a:path>
              </a:pathLst>
            </a:custGeom>
            <a:blipFill>
              <a:blip r:embed="rId19"/>
              <a:stretch>
                <a:fillRect l="-7" t="0" r="-7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5405" y="54868"/>
              <a:ext cx="2724866" cy="4413494"/>
            </a:xfrm>
            <a:custGeom>
              <a:avLst/>
              <a:gdLst/>
              <a:ahLst/>
              <a:cxnLst/>
              <a:rect r="r" b="b" t="t" l="l"/>
              <a:pathLst>
                <a:path h="4413494" w="2724866">
                  <a:moveTo>
                    <a:pt x="2633412" y="1339376"/>
                  </a:moveTo>
                  <a:cubicBezTo>
                    <a:pt x="2620583" y="1257398"/>
                    <a:pt x="2605975" y="1175958"/>
                    <a:pt x="2589328" y="1095274"/>
                  </a:cubicBezTo>
                  <a:cubicBezTo>
                    <a:pt x="2517963" y="749408"/>
                    <a:pt x="2344599" y="409252"/>
                    <a:pt x="2039865" y="215523"/>
                  </a:cubicBezTo>
                  <a:cubicBezTo>
                    <a:pt x="1632956" y="-43162"/>
                    <a:pt x="1067916" y="-63207"/>
                    <a:pt x="615193" y="124410"/>
                  </a:cubicBezTo>
                  <a:cubicBezTo>
                    <a:pt x="414880" y="207424"/>
                    <a:pt x="227067" y="335211"/>
                    <a:pt x="135717" y="515451"/>
                  </a:cubicBezTo>
                  <a:cubicBezTo>
                    <a:pt x="9150" y="765177"/>
                    <a:pt x="90910" y="1058422"/>
                    <a:pt x="204347" y="1313177"/>
                  </a:cubicBezTo>
                  <a:cubicBezTo>
                    <a:pt x="317784" y="1567934"/>
                    <a:pt x="463831" y="1822480"/>
                    <a:pt x="462474" y="2096822"/>
                  </a:cubicBezTo>
                  <a:cubicBezTo>
                    <a:pt x="460097" y="2577977"/>
                    <a:pt x="6967" y="2986016"/>
                    <a:pt x="72" y="3467136"/>
                  </a:cubicBezTo>
                  <a:cubicBezTo>
                    <a:pt x="-5443" y="3852137"/>
                    <a:pt x="303567" y="4212492"/>
                    <a:pt x="705612" y="4346916"/>
                  </a:cubicBezTo>
                  <a:cubicBezTo>
                    <a:pt x="1184532" y="4507042"/>
                    <a:pt x="1725426" y="4364404"/>
                    <a:pt x="2098435" y="4067873"/>
                  </a:cubicBezTo>
                  <a:cubicBezTo>
                    <a:pt x="2321372" y="3890645"/>
                    <a:pt x="2521294" y="3676685"/>
                    <a:pt x="2612072" y="3403424"/>
                  </a:cubicBezTo>
                  <a:cubicBezTo>
                    <a:pt x="2706719" y="3118520"/>
                    <a:pt x="2730547" y="2814552"/>
                    <a:pt x="2723797" y="2515980"/>
                  </a:cubicBezTo>
                  <a:cubicBezTo>
                    <a:pt x="2714914" y="2123068"/>
                    <a:pt x="2694241" y="1728060"/>
                    <a:pt x="2633412" y="1339376"/>
                  </a:cubicBezTo>
                  <a:close/>
                </a:path>
              </a:pathLst>
            </a:custGeom>
            <a:blipFill>
              <a:blip r:embed="rId20"/>
              <a:stretch>
                <a:fillRect l="-57980" t="0" r="-5798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102296" y="1263331"/>
            <a:ext cx="12681178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Ethical Leadership </a:t>
            </a:r>
          </a:p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&amp; Conflict Resolution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95784" y="3463419"/>
            <a:ext cx="9911669" cy="574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9738" indent="-454869" lvl="1">
              <a:lnSpc>
                <a:spcPts val="5056"/>
              </a:lnSpc>
              <a:buFont typeface="Arial"/>
              <a:buChar char="•"/>
            </a:pPr>
            <a:r>
              <a:rPr lang="en-US" b="true" sz="4213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Made vaccine available at-cost to low-income nations (COVAX).</a:t>
            </a:r>
          </a:p>
          <a:p>
            <a:pPr algn="l" marL="909738" indent="-454869" lvl="1">
              <a:lnSpc>
                <a:spcPts val="5056"/>
              </a:lnSpc>
              <a:buFont typeface="Arial"/>
              <a:buChar char="•"/>
            </a:pPr>
            <a:r>
              <a:rPr lang="en-US" b="true" sz="4213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B</a:t>
            </a:r>
            <a:r>
              <a:rPr lang="en-US" b="true" sz="4213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alanced speed and safety through task conflict resolution.</a:t>
            </a:r>
          </a:p>
          <a:p>
            <a:pPr algn="l" marL="909738" indent="-454869" lvl="1">
              <a:lnSpc>
                <a:spcPts val="5056"/>
              </a:lnSpc>
              <a:buFont typeface="Arial"/>
              <a:buChar char="•"/>
            </a:pPr>
            <a:r>
              <a:rPr lang="en-US" b="true" sz="4213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5-step ethical decision model used consistently.</a:t>
            </a:r>
          </a:p>
          <a:p>
            <a:pPr algn="l" marL="909738" indent="-454869" lvl="1">
              <a:lnSpc>
                <a:spcPts val="5056"/>
              </a:lnSpc>
              <a:buFont typeface="Arial"/>
              <a:buChar char="•"/>
            </a:pPr>
            <a:r>
              <a:rPr lang="en-US" b="true" sz="4213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89% said “leaders do the right thing” (Gallup 2021).</a:t>
            </a:r>
          </a:p>
          <a:p>
            <a:pPr algn="r">
              <a:lnSpc>
                <a:spcPts val="5056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2500" y="-1070500"/>
            <a:ext cx="4997672" cy="2928174"/>
          </a:xfrm>
          <a:custGeom>
            <a:avLst/>
            <a:gdLst/>
            <a:ahLst/>
            <a:cxnLst/>
            <a:rect r="r" b="b" t="t" l="l"/>
            <a:pathLst>
              <a:path h="2928174" w="4997672">
                <a:moveTo>
                  <a:pt x="0" y="0"/>
                </a:moveTo>
                <a:lnTo>
                  <a:pt x="4997672" y="0"/>
                </a:lnTo>
                <a:lnTo>
                  <a:pt x="4997672" y="2928174"/>
                </a:lnTo>
                <a:lnTo>
                  <a:pt x="0" y="2928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6926" y="9206994"/>
            <a:ext cx="5025816" cy="3671504"/>
          </a:xfrm>
          <a:custGeom>
            <a:avLst/>
            <a:gdLst/>
            <a:ahLst/>
            <a:cxnLst/>
            <a:rect r="r" b="b" t="t" l="l"/>
            <a:pathLst>
              <a:path h="3671504" w="5025816">
                <a:moveTo>
                  <a:pt x="0" y="0"/>
                </a:moveTo>
                <a:lnTo>
                  <a:pt x="5025816" y="0"/>
                </a:lnTo>
                <a:lnTo>
                  <a:pt x="5025816" y="3671504"/>
                </a:lnTo>
                <a:lnTo>
                  <a:pt x="0" y="3671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9232" y="9072612"/>
            <a:ext cx="4798226" cy="3360150"/>
          </a:xfrm>
          <a:custGeom>
            <a:avLst/>
            <a:gdLst/>
            <a:ahLst/>
            <a:cxnLst/>
            <a:rect r="r" b="b" t="t" l="l"/>
            <a:pathLst>
              <a:path h="3360150" w="4798226">
                <a:moveTo>
                  <a:pt x="0" y="0"/>
                </a:moveTo>
                <a:lnTo>
                  <a:pt x="4798226" y="0"/>
                </a:lnTo>
                <a:lnTo>
                  <a:pt x="4798226" y="3360150"/>
                </a:lnTo>
                <a:lnTo>
                  <a:pt x="0" y="3360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5183808" y="-1256846"/>
            <a:ext cx="3347658" cy="2412780"/>
            <a:chOff x="0" y="0"/>
            <a:chExt cx="4463544" cy="3217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19675" y="254"/>
              <a:ext cx="3671918" cy="3216783"/>
            </a:xfrm>
            <a:custGeom>
              <a:avLst/>
              <a:gdLst/>
              <a:ahLst/>
              <a:cxnLst/>
              <a:rect r="r" b="b" t="t" l="l"/>
              <a:pathLst>
                <a:path h="3216783" w="3671918">
                  <a:moveTo>
                    <a:pt x="2047782" y="0"/>
                  </a:moveTo>
                  <a:cubicBezTo>
                    <a:pt x="2235488" y="0"/>
                    <a:pt x="2382554" y="22860"/>
                    <a:pt x="2449483" y="71120"/>
                  </a:cubicBezTo>
                  <a:cubicBezTo>
                    <a:pt x="2454563" y="70866"/>
                    <a:pt x="2459516" y="70866"/>
                    <a:pt x="2464596" y="70866"/>
                  </a:cubicBezTo>
                  <a:cubicBezTo>
                    <a:pt x="3479961" y="70866"/>
                    <a:pt x="3743867" y="1371346"/>
                    <a:pt x="3656237" y="2142744"/>
                  </a:cubicBezTo>
                  <a:cubicBezTo>
                    <a:pt x="3570004" y="2903474"/>
                    <a:pt x="2475518" y="3198241"/>
                    <a:pt x="1863251" y="3216275"/>
                  </a:cubicBezTo>
                  <a:cubicBezTo>
                    <a:pt x="1852583" y="3216529"/>
                    <a:pt x="1842042" y="3216783"/>
                    <a:pt x="1831374" y="3216783"/>
                  </a:cubicBezTo>
                  <a:cubicBezTo>
                    <a:pt x="632113" y="3216783"/>
                    <a:pt x="-719421" y="1225169"/>
                    <a:pt x="446185" y="406527"/>
                  </a:cubicBezTo>
                  <a:cubicBezTo>
                    <a:pt x="809659" y="150876"/>
                    <a:pt x="1564293" y="0"/>
                    <a:pt x="2047782" y="0"/>
                  </a:cubicBezTo>
                  <a:close/>
                </a:path>
              </a:pathLst>
            </a:custGeom>
            <a:solidFill>
              <a:srgbClr val="85C6E7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912586" y="8685908"/>
            <a:ext cx="1870888" cy="1601102"/>
          </a:xfrm>
          <a:custGeom>
            <a:avLst/>
            <a:gdLst/>
            <a:ahLst/>
            <a:cxnLst/>
            <a:rect r="r" b="b" t="t" l="l"/>
            <a:pathLst>
              <a:path h="1601102" w="1870888">
                <a:moveTo>
                  <a:pt x="0" y="0"/>
                </a:moveTo>
                <a:lnTo>
                  <a:pt x="1870888" y="0"/>
                </a:lnTo>
                <a:lnTo>
                  <a:pt x="1870888" y="1601102"/>
                </a:lnTo>
                <a:lnTo>
                  <a:pt x="0" y="16011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08632" y="-1525102"/>
            <a:ext cx="6678716" cy="4931559"/>
          </a:xfrm>
          <a:custGeom>
            <a:avLst/>
            <a:gdLst/>
            <a:ahLst/>
            <a:cxnLst/>
            <a:rect r="r" b="b" t="t" l="l"/>
            <a:pathLst>
              <a:path h="4931559" w="6678716">
                <a:moveTo>
                  <a:pt x="0" y="0"/>
                </a:moveTo>
                <a:lnTo>
                  <a:pt x="6678716" y="0"/>
                </a:lnTo>
                <a:lnTo>
                  <a:pt x="6678716" y="4931558"/>
                </a:lnTo>
                <a:lnTo>
                  <a:pt x="0" y="4931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14265" y="7975651"/>
            <a:ext cx="4902863" cy="4902863"/>
          </a:xfrm>
          <a:custGeom>
            <a:avLst/>
            <a:gdLst/>
            <a:ahLst/>
            <a:cxnLst/>
            <a:rect r="r" b="b" t="t" l="l"/>
            <a:pathLst>
              <a:path h="4902863" w="4902863">
                <a:moveTo>
                  <a:pt x="0" y="0"/>
                </a:moveTo>
                <a:lnTo>
                  <a:pt x="4902864" y="0"/>
                </a:lnTo>
                <a:lnTo>
                  <a:pt x="4902864" y="4902864"/>
                </a:lnTo>
                <a:lnTo>
                  <a:pt x="0" y="49028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53410" y="-3324889"/>
            <a:ext cx="4586220" cy="4813540"/>
          </a:xfrm>
          <a:custGeom>
            <a:avLst/>
            <a:gdLst/>
            <a:ahLst/>
            <a:cxnLst/>
            <a:rect r="r" b="b" t="t" l="l"/>
            <a:pathLst>
              <a:path h="4813540" w="4586220">
                <a:moveTo>
                  <a:pt x="0" y="0"/>
                </a:moveTo>
                <a:lnTo>
                  <a:pt x="4586220" y="0"/>
                </a:lnTo>
                <a:lnTo>
                  <a:pt x="4586220" y="4813540"/>
                </a:lnTo>
                <a:lnTo>
                  <a:pt x="0" y="48135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76474" y="9985520"/>
            <a:ext cx="1343179" cy="1234089"/>
          </a:xfrm>
          <a:custGeom>
            <a:avLst/>
            <a:gdLst/>
            <a:ahLst/>
            <a:cxnLst/>
            <a:rect r="r" b="b" t="t" l="l"/>
            <a:pathLst>
              <a:path h="1234089" w="1343179">
                <a:moveTo>
                  <a:pt x="0" y="0"/>
                </a:moveTo>
                <a:lnTo>
                  <a:pt x="1343179" y="0"/>
                </a:lnTo>
                <a:lnTo>
                  <a:pt x="1343179" y="1234089"/>
                </a:lnTo>
                <a:lnTo>
                  <a:pt x="0" y="123408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466350" y="-483150"/>
            <a:ext cx="1732950" cy="1323550"/>
            <a:chOff x="0" y="0"/>
            <a:chExt cx="2310600" cy="17647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00E1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129832" y="1488651"/>
            <a:ext cx="9379643" cy="5637764"/>
          </a:xfrm>
          <a:custGeom>
            <a:avLst/>
            <a:gdLst/>
            <a:ahLst/>
            <a:cxnLst/>
            <a:rect r="r" b="b" t="t" l="l"/>
            <a:pathLst>
              <a:path h="5637764" w="9379643">
                <a:moveTo>
                  <a:pt x="0" y="0"/>
                </a:moveTo>
                <a:lnTo>
                  <a:pt x="9379643" y="0"/>
                </a:lnTo>
                <a:lnTo>
                  <a:pt x="9379643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22405" y="7666089"/>
            <a:ext cx="1142067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Diversity in Pfizer’s U.S. Phase 3 Trial Participants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25700" y="-1525100"/>
            <a:ext cx="3595818" cy="3338806"/>
          </a:xfrm>
          <a:custGeom>
            <a:avLst/>
            <a:gdLst/>
            <a:ahLst/>
            <a:cxnLst/>
            <a:rect r="r" b="b" t="t" l="l"/>
            <a:pathLst>
              <a:path h="3338806" w="3595818">
                <a:moveTo>
                  <a:pt x="0" y="0"/>
                </a:moveTo>
                <a:lnTo>
                  <a:pt x="3595818" y="0"/>
                </a:lnTo>
                <a:lnTo>
                  <a:pt x="3595818" y="3338806"/>
                </a:lnTo>
                <a:lnTo>
                  <a:pt x="0" y="3338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85093" y="7852875"/>
            <a:ext cx="6817200" cy="5549421"/>
          </a:xfrm>
          <a:custGeom>
            <a:avLst/>
            <a:gdLst/>
            <a:ahLst/>
            <a:cxnLst/>
            <a:rect r="r" b="b" t="t" l="l"/>
            <a:pathLst>
              <a:path h="5549421" w="6817200">
                <a:moveTo>
                  <a:pt x="0" y="0"/>
                </a:moveTo>
                <a:lnTo>
                  <a:pt x="6817200" y="0"/>
                </a:lnTo>
                <a:lnTo>
                  <a:pt x="6817200" y="5549420"/>
                </a:lnTo>
                <a:lnTo>
                  <a:pt x="0" y="5549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9604" y="8526944"/>
            <a:ext cx="1981025" cy="2148710"/>
          </a:xfrm>
          <a:custGeom>
            <a:avLst/>
            <a:gdLst/>
            <a:ahLst/>
            <a:cxnLst/>
            <a:rect r="r" b="b" t="t" l="l"/>
            <a:pathLst>
              <a:path h="2148710" w="1981025">
                <a:moveTo>
                  <a:pt x="0" y="0"/>
                </a:moveTo>
                <a:lnTo>
                  <a:pt x="1981024" y="0"/>
                </a:lnTo>
                <a:lnTo>
                  <a:pt x="1981024" y="2148710"/>
                </a:lnTo>
                <a:lnTo>
                  <a:pt x="0" y="2148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14426" y="7282600"/>
            <a:ext cx="8037933" cy="8581535"/>
          </a:xfrm>
          <a:custGeom>
            <a:avLst/>
            <a:gdLst/>
            <a:ahLst/>
            <a:cxnLst/>
            <a:rect r="r" b="b" t="t" l="l"/>
            <a:pathLst>
              <a:path h="8581535" w="8037933">
                <a:moveTo>
                  <a:pt x="0" y="0"/>
                </a:moveTo>
                <a:lnTo>
                  <a:pt x="8037932" y="0"/>
                </a:lnTo>
                <a:lnTo>
                  <a:pt x="8037932" y="8581534"/>
                </a:lnTo>
                <a:lnTo>
                  <a:pt x="0" y="8581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0019" y="8950593"/>
            <a:ext cx="2469981" cy="1060879"/>
          </a:xfrm>
          <a:custGeom>
            <a:avLst/>
            <a:gdLst/>
            <a:ahLst/>
            <a:cxnLst/>
            <a:rect r="r" b="b" t="t" l="l"/>
            <a:pathLst>
              <a:path h="1060879" w="2469981">
                <a:moveTo>
                  <a:pt x="0" y="0"/>
                </a:moveTo>
                <a:lnTo>
                  <a:pt x="2469981" y="0"/>
                </a:lnTo>
                <a:lnTo>
                  <a:pt x="2469981" y="1060879"/>
                </a:lnTo>
                <a:lnTo>
                  <a:pt x="0" y="10608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33776" y="-332356"/>
            <a:ext cx="4080134" cy="1222406"/>
          </a:xfrm>
          <a:custGeom>
            <a:avLst/>
            <a:gdLst/>
            <a:ahLst/>
            <a:cxnLst/>
            <a:rect r="r" b="b" t="t" l="l"/>
            <a:pathLst>
              <a:path h="1222406" w="4080134">
                <a:moveTo>
                  <a:pt x="0" y="0"/>
                </a:moveTo>
                <a:lnTo>
                  <a:pt x="4080134" y="0"/>
                </a:lnTo>
                <a:lnTo>
                  <a:pt x="4080134" y="1222406"/>
                </a:lnTo>
                <a:lnTo>
                  <a:pt x="0" y="12224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03393" y="135142"/>
            <a:ext cx="1554296" cy="1493738"/>
          </a:xfrm>
          <a:custGeom>
            <a:avLst/>
            <a:gdLst/>
            <a:ahLst/>
            <a:cxnLst/>
            <a:rect r="r" b="b" t="t" l="l"/>
            <a:pathLst>
              <a:path h="1493738" w="1554296">
                <a:moveTo>
                  <a:pt x="0" y="0"/>
                </a:moveTo>
                <a:lnTo>
                  <a:pt x="1554296" y="0"/>
                </a:lnTo>
                <a:lnTo>
                  <a:pt x="1554296" y="1493738"/>
                </a:lnTo>
                <a:lnTo>
                  <a:pt x="0" y="14937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195562" y="-528562"/>
            <a:ext cx="5964886" cy="3338788"/>
          </a:xfrm>
          <a:custGeom>
            <a:avLst/>
            <a:gdLst/>
            <a:ahLst/>
            <a:cxnLst/>
            <a:rect r="r" b="b" t="t" l="l"/>
            <a:pathLst>
              <a:path h="3338788" w="5964886">
                <a:moveTo>
                  <a:pt x="0" y="0"/>
                </a:moveTo>
                <a:lnTo>
                  <a:pt x="5964886" y="0"/>
                </a:lnTo>
                <a:lnTo>
                  <a:pt x="5964886" y="3338788"/>
                </a:lnTo>
                <a:lnTo>
                  <a:pt x="0" y="333878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693450" y="9424050"/>
            <a:ext cx="2932426" cy="2113516"/>
            <a:chOff x="0" y="0"/>
            <a:chExt cx="3909901" cy="28180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2987" y="254"/>
              <a:ext cx="3216500" cy="2817749"/>
            </a:xfrm>
            <a:custGeom>
              <a:avLst/>
              <a:gdLst/>
              <a:ahLst/>
              <a:cxnLst/>
              <a:rect r="r" b="b" t="t" l="l"/>
              <a:pathLst>
                <a:path h="2817749" w="3216500">
                  <a:moveTo>
                    <a:pt x="1422786" y="0"/>
                  </a:moveTo>
                  <a:cubicBezTo>
                    <a:pt x="1258321" y="0"/>
                    <a:pt x="1129543" y="19939"/>
                    <a:pt x="1070869" y="62357"/>
                  </a:cubicBezTo>
                  <a:cubicBezTo>
                    <a:pt x="1066424" y="62103"/>
                    <a:pt x="1061979" y="62103"/>
                    <a:pt x="1057661" y="62103"/>
                  </a:cubicBezTo>
                  <a:cubicBezTo>
                    <a:pt x="168153" y="62103"/>
                    <a:pt x="-62987" y="1201293"/>
                    <a:pt x="13721" y="1876933"/>
                  </a:cubicBezTo>
                  <a:cubicBezTo>
                    <a:pt x="89286" y="2543302"/>
                    <a:pt x="1048009" y="2801493"/>
                    <a:pt x="1584330" y="2817241"/>
                  </a:cubicBezTo>
                  <a:cubicBezTo>
                    <a:pt x="1593601" y="2817495"/>
                    <a:pt x="1602999" y="2817749"/>
                    <a:pt x="1612270" y="2817749"/>
                  </a:cubicBezTo>
                  <a:cubicBezTo>
                    <a:pt x="2662814" y="2817749"/>
                    <a:pt x="3846708" y="1073150"/>
                    <a:pt x="2825628" y="356108"/>
                  </a:cubicBezTo>
                  <a:cubicBezTo>
                    <a:pt x="2507239" y="132080"/>
                    <a:pt x="1846204" y="0"/>
                    <a:pt x="1422786" y="0"/>
                  </a:cubicBezTo>
                  <a:close/>
                </a:path>
              </a:pathLst>
            </a:custGeom>
            <a:solidFill>
              <a:srgbClr val="CFE6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736578" y="8921068"/>
            <a:ext cx="2137726" cy="996154"/>
          </a:xfrm>
          <a:custGeom>
            <a:avLst/>
            <a:gdLst/>
            <a:ahLst/>
            <a:cxnLst/>
            <a:rect r="r" b="b" t="t" l="l"/>
            <a:pathLst>
              <a:path h="996154" w="2137726">
                <a:moveTo>
                  <a:pt x="0" y="0"/>
                </a:moveTo>
                <a:lnTo>
                  <a:pt x="2137726" y="0"/>
                </a:lnTo>
                <a:lnTo>
                  <a:pt x="2137726" y="996154"/>
                </a:lnTo>
                <a:lnTo>
                  <a:pt x="0" y="99615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76700" y="-112800"/>
            <a:ext cx="11929800" cy="10512600"/>
          </a:xfrm>
          <a:custGeom>
            <a:avLst/>
            <a:gdLst/>
            <a:ahLst/>
            <a:cxnLst/>
            <a:rect r="r" b="b" t="t" l="l"/>
            <a:pathLst>
              <a:path h="10512600" w="11929800">
                <a:moveTo>
                  <a:pt x="0" y="0"/>
                </a:moveTo>
                <a:lnTo>
                  <a:pt x="11929800" y="0"/>
                </a:lnTo>
                <a:lnTo>
                  <a:pt x="11929800" y="10512600"/>
                </a:lnTo>
                <a:lnTo>
                  <a:pt x="0" y="105126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21899" t="0" r="-10281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46358" y="3043460"/>
            <a:ext cx="7649781" cy="2120185"/>
            <a:chOff x="0" y="0"/>
            <a:chExt cx="2014757" cy="5584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4757" cy="558403"/>
            </a:xfrm>
            <a:custGeom>
              <a:avLst/>
              <a:gdLst/>
              <a:ahLst/>
              <a:cxnLst/>
              <a:rect r="r" b="b" t="t" l="l"/>
              <a:pathLst>
                <a:path h="558403" w="2014757">
                  <a:moveTo>
                    <a:pt x="1811557" y="0"/>
                  </a:moveTo>
                  <a:cubicBezTo>
                    <a:pt x="1923781" y="0"/>
                    <a:pt x="2014757" y="125003"/>
                    <a:pt x="2014757" y="279201"/>
                  </a:cubicBezTo>
                  <a:cubicBezTo>
                    <a:pt x="2014757" y="433400"/>
                    <a:pt x="1923781" y="558403"/>
                    <a:pt x="1811557" y="558403"/>
                  </a:cubicBezTo>
                  <a:lnTo>
                    <a:pt x="203200" y="558403"/>
                  </a:lnTo>
                  <a:cubicBezTo>
                    <a:pt x="90976" y="558403"/>
                    <a:pt x="0" y="433400"/>
                    <a:pt x="0" y="279201"/>
                  </a:cubicBezTo>
                  <a:cubicBezTo>
                    <a:pt x="0" y="1250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C6E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14757" cy="606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39"/>
                </a:lnSpc>
              </a:pPr>
              <a:r>
                <a:rPr lang="en-US" b="true" sz="36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42% of U.S. Phase 3 trial participants were from minority groups.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69210" y="571605"/>
            <a:ext cx="953418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D</a:t>
            </a: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iversity &amp; Change Management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6358" y="5520950"/>
            <a:ext cx="7649781" cy="1543050"/>
            <a:chOff x="0" y="0"/>
            <a:chExt cx="2014757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4757" cy="406400"/>
            </a:xfrm>
            <a:custGeom>
              <a:avLst/>
              <a:gdLst/>
              <a:ahLst/>
              <a:cxnLst/>
              <a:rect r="r" b="b" t="t" l="l"/>
              <a:pathLst>
                <a:path h="406400" w="2014757">
                  <a:moveTo>
                    <a:pt x="1811557" y="0"/>
                  </a:moveTo>
                  <a:cubicBezTo>
                    <a:pt x="1923781" y="0"/>
                    <a:pt x="2014757" y="90976"/>
                    <a:pt x="2014757" y="203200"/>
                  </a:cubicBezTo>
                  <a:cubicBezTo>
                    <a:pt x="2014757" y="315424"/>
                    <a:pt x="1923781" y="406400"/>
                    <a:pt x="18115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C6E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147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Launched company-wide unconscious bias training.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6358" y="7425950"/>
            <a:ext cx="7649781" cy="1543050"/>
            <a:chOff x="0" y="0"/>
            <a:chExt cx="2014757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4757" cy="406400"/>
            </a:xfrm>
            <a:custGeom>
              <a:avLst/>
              <a:gdLst/>
              <a:ahLst/>
              <a:cxnLst/>
              <a:rect r="r" b="b" t="t" l="l"/>
              <a:pathLst>
                <a:path h="406400" w="2014757">
                  <a:moveTo>
                    <a:pt x="1811557" y="0"/>
                  </a:moveTo>
                  <a:cubicBezTo>
                    <a:pt x="1923781" y="0"/>
                    <a:pt x="2014757" y="90976"/>
                    <a:pt x="2014757" y="203200"/>
                  </a:cubicBezTo>
                  <a:cubicBezTo>
                    <a:pt x="2014757" y="315424"/>
                    <a:pt x="1923781" y="406400"/>
                    <a:pt x="18115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C6E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147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Social identity theory: Inclusion fosters stronger teams.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25700" y="-1525100"/>
            <a:ext cx="3595818" cy="3338806"/>
          </a:xfrm>
          <a:custGeom>
            <a:avLst/>
            <a:gdLst/>
            <a:ahLst/>
            <a:cxnLst/>
            <a:rect r="r" b="b" t="t" l="l"/>
            <a:pathLst>
              <a:path h="3338806" w="3595818">
                <a:moveTo>
                  <a:pt x="0" y="0"/>
                </a:moveTo>
                <a:lnTo>
                  <a:pt x="3595818" y="0"/>
                </a:lnTo>
                <a:lnTo>
                  <a:pt x="3595818" y="3338806"/>
                </a:lnTo>
                <a:lnTo>
                  <a:pt x="0" y="3338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85093" y="7852875"/>
            <a:ext cx="6817200" cy="5549421"/>
          </a:xfrm>
          <a:custGeom>
            <a:avLst/>
            <a:gdLst/>
            <a:ahLst/>
            <a:cxnLst/>
            <a:rect r="r" b="b" t="t" l="l"/>
            <a:pathLst>
              <a:path h="5549421" w="6817200">
                <a:moveTo>
                  <a:pt x="0" y="0"/>
                </a:moveTo>
                <a:lnTo>
                  <a:pt x="6817200" y="0"/>
                </a:lnTo>
                <a:lnTo>
                  <a:pt x="6817200" y="5549420"/>
                </a:lnTo>
                <a:lnTo>
                  <a:pt x="0" y="5549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9604" y="8526944"/>
            <a:ext cx="1981025" cy="2148710"/>
          </a:xfrm>
          <a:custGeom>
            <a:avLst/>
            <a:gdLst/>
            <a:ahLst/>
            <a:cxnLst/>
            <a:rect r="r" b="b" t="t" l="l"/>
            <a:pathLst>
              <a:path h="2148710" w="1981025">
                <a:moveTo>
                  <a:pt x="0" y="0"/>
                </a:moveTo>
                <a:lnTo>
                  <a:pt x="1981024" y="0"/>
                </a:lnTo>
                <a:lnTo>
                  <a:pt x="1981024" y="2148710"/>
                </a:lnTo>
                <a:lnTo>
                  <a:pt x="0" y="2148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90019" y="8950593"/>
            <a:ext cx="2469981" cy="1060879"/>
          </a:xfrm>
          <a:custGeom>
            <a:avLst/>
            <a:gdLst/>
            <a:ahLst/>
            <a:cxnLst/>
            <a:rect r="r" b="b" t="t" l="l"/>
            <a:pathLst>
              <a:path h="1060879" w="2469981">
                <a:moveTo>
                  <a:pt x="0" y="0"/>
                </a:moveTo>
                <a:lnTo>
                  <a:pt x="2469981" y="0"/>
                </a:lnTo>
                <a:lnTo>
                  <a:pt x="2469981" y="1060879"/>
                </a:lnTo>
                <a:lnTo>
                  <a:pt x="0" y="1060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33776" y="-332356"/>
            <a:ext cx="4080134" cy="1222406"/>
          </a:xfrm>
          <a:custGeom>
            <a:avLst/>
            <a:gdLst/>
            <a:ahLst/>
            <a:cxnLst/>
            <a:rect r="r" b="b" t="t" l="l"/>
            <a:pathLst>
              <a:path h="1222406" w="4080134">
                <a:moveTo>
                  <a:pt x="0" y="0"/>
                </a:moveTo>
                <a:lnTo>
                  <a:pt x="4080134" y="0"/>
                </a:lnTo>
                <a:lnTo>
                  <a:pt x="4080134" y="1222406"/>
                </a:lnTo>
                <a:lnTo>
                  <a:pt x="0" y="1222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93400" y="0"/>
            <a:ext cx="1554296" cy="1493738"/>
          </a:xfrm>
          <a:custGeom>
            <a:avLst/>
            <a:gdLst/>
            <a:ahLst/>
            <a:cxnLst/>
            <a:rect r="r" b="b" t="t" l="l"/>
            <a:pathLst>
              <a:path h="1493738" w="1554296">
                <a:moveTo>
                  <a:pt x="0" y="0"/>
                </a:moveTo>
                <a:lnTo>
                  <a:pt x="1554296" y="0"/>
                </a:lnTo>
                <a:lnTo>
                  <a:pt x="1554296" y="1493738"/>
                </a:lnTo>
                <a:lnTo>
                  <a:pt x="0" y="14937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195562" y="-528562"/>
            <a:ext cx="5964886" cy="3338788"/>
          </a:xfrm>
          <a:custGeom>
            <a:avLst/>
            <a:gdLst/>
            <a:ahLst/>
            <a:cxnLst/>
            <a:rect r="r" b="b" t="t" l="l"/>
            <a:pathLst>
              <a:path h="3338788" w="5964886">
                <a:moveTo>
                  <a:pt x="0" y="0"/>
                </a:moveTo>
                <a:lnTo>
                  <a:pt x="5964886" y="0"/>
                </a:lnTo>
                <a:lnTo>
                  <a:pt x="5964886" y="3338788"/>
                </a:lnTo>
                <a:lnTo>
                  <a:pt x="0" y="33387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55357" y="1437179"/>
            <a:ext cx="4463280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</a:p>
          <a:p>
            <a:pPr algn="l">
              <a:lnSpc>
                <a:spcPts val="3156"/>
              </a:lnSpc>
            </a:pPr>
          </a:p>
          <a:p>
            <a:pPr algn="l">
              <a:lnSpc>
                <a:spcPts val="4140"/>
              </a:lnSpc>
            </a:pPr>
            <a:r>
              <a:rPr lang="en-US" b="true" sz="345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Lewin’s 3-step model: </a:t>
            </a:r>
          </a:p>
          <a:p>
            <a:pPr algn="l" marL="968876" indent="-484438" lvl="1">
              <a:lnSpc>
                <a:spcPts val="315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4636400" y="0"/>
            <a:ext cx="11929800" cy="10512600"/>
          </a:xfrm>
          <a:custGeom>
            <a:avLst/>
            <a:gdLst/>
            <a:ahLst/>
            <a:cxnLst/>
            <a:rect r="r" b="b" t="t" l="l"/>
            <a:pathLst>
              <a:path h="10512600" w="11929800">
                <a:moveTo>
                  <a:pt x="0" y="0"/>
                </a:moveTo>
                <a:lnTo>
                  <a:pt x="11929800" y="0"/>
                </a:lnTo>
                <a:lnTo>
                  <a:pt x="11929800" y="10512600"/>
                </a:lnTo>
                <a:lnTo>
                  <a:pt x="0" y="105126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1899" t="0" r="-10281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070548" y="2996210"/>
            <a:ext cx="2675200" cy="2620230"/>
            <a:chOff x="0" y="0"/>
            <a:chExt cx="829852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9852" cy="812800"/>
            </a:xfrm>
            <a:custGeom>
              <a:avLst/>
              <a:gdLst/>
              <a:ahLst/>
              <a:cxnLst/>
              <a:rect r="r" b="b" t="t" l="l"/>
              <a:pathLst>
                <a:path h="812800" w="829852">
                  <a:moveTo>
                    <a:pt x="829852" y="406400"/>
                  </a:moveTo>
                  <a:lnTo>
                    <a:pt x="423452" y="0"/>
                  </a:lnTo>
                  <a:lnTo>
                    <a:pt x="423452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23452" y="609600"/>
                  </a:lnTo>
                  <a:lnTo>
                    <a:pt x="423452" y="812800"/>
                  </a:lnTo>
                  <a:lnTo>
                    <a:pt x="829852" y="406400"/>
                  </a:ln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7282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Unfreeze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56188" y="2952004"/>
            <a:ext cx="2723581" cy="2666732"/>
            <a:chOff x="0" y="0"/>
            <a:chExt cx="830127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0127" cy="812800"/>
            </a:xfrm>
            <a:custGeom>
              <a:avLst/>
              <a:gdLst/>
              <a:ahLst/>
              <a:cxnLst/>
              <a:rect r="r" b="b" t="t" l="l"/>
              <a:pathLst>
                <a:path h="812800" w="830127">
                  <a:moveTo>
                    <a:pt x="830127" y="406400"/>
                  </a:moveTo>
                  <a:lnTo>
                    <a:pt x="423727" y="0"/>
                  </a:lnTo>
                  <a:lnTo>
                    <a:pt x="42372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23727" y="609600"/>
                  </a:lnTo>
                  <a:lnTo>
                    <a:pt x="423727" y="812800"/>
                  </a:lnTo>
                  <a:lnTo>
                    <a:pt x="830127" y="406400"/>
                  </a:lnTo>
                  <a:close/>
                </a:path>
              </a:pathLst>
            </a:custGeom>
            <a:solidFill>
              <a:srgbClr val="07C1C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65100"/>
              <a:ext cx="72852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Change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94119" y="2998505"/>
            <a:ext cx="2765181" cy="2620230"/>
            <a:chOff x="0" y="0"/>
            <a:chExt cx="857764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7764" cy="812800"/>
            </a:xfrm>
            <a:custGeom>
              <a:avLst/>
              <a:gdLst/>
              <a:ahLst/>
              <a:cxnLst/>
              <a:rect r="r" b="b" t="t" l="l"/>
              <a:pathLst>
                <a:path h="812800" w="857764">
                  <a:moveTo>
                    <a:pt x="857764" y="406400"/>
                  </a:moveTo>
                  <a:lnTo>
                    <a:pt x="451364" y="0"/>
                  </a:lnTo>
                  <a:lnTo>
                    <a:pt x="45136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51364" y="609600"/>
                  </a:lnTo>
                  <a:lnTo>
                    <a:pt x="451364" y="812800"/>
                  </a:lnTo>
                  <a:lnTo>
                    <a:pt x="857764" y="40640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65100"/>
              <a:ext cx="75616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Refreeze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36578" y="-28575"/>
            <a:ext cx="953418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D</a:t>
            </a: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iversity &amp; Change Management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431298" y="5845040"/>
            <a:ext cx="7649781" cy="2053358"/>
            <a:chOff x="0" y="0"/>
            <a:chExt cx="2014757" cy="5408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4757" cy="540802"/>
            </a:xfrm>
            <a:custGeom>
              <a:avLst/>
              <a:gdLst/>
              <a:ahLst/>
              <a:cxnLst/>
              <a:rect r="r" b="b" t="t" l="l"/>
              <a:pathLst>
                <a:path h="540802" w="2014757">
                  <a:moveTo>
                    <a:pt x="1811557" y="0"/>
                  </a:moveTo>
                  <a:cubicBezTo>
                    <a:pt x="1923781" y="0"/>
                    <a:pt x="2014757" y="121063"/>
                    <a:pt x="2014757" y="270401"/>
                  </a:cubicBezTo>
                  <a:cubicBezTo>
                    <a:pt x="2014757" y="419739"/>
                    <a:pt x="1923781" y="540802"/>
                    <a:pt x="1811557" y="540802"/>
                  </a:cubicBezTo>
                  <a:lnTo>
                    <a:pt x="203200" y="540802"/>
                  </a:lnTo>
                  <a:cubicBezTo>
                    <a:pt x="90976" y="540802"/>
                    <a:pt x="0" y="419739"/>
                    <a:pt x="0" y="270401"/>
                  </a:cubicBezTo>
                  <a:cubicBezTo>
                    <a:pt x="0" y="12106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C6E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14757" cy="578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Shifted to hybrid work, decentralized decisions, AI integration.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41788" y="8124703"/>
            <a:ext cx="7649781" cy="2053358"/>
            <a:chOff x="0" y="0"/>
            <a:chExt cx="2014757" cy="5408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4757" cy="540802"/>
            </a:xfrm>
            <a:custGeom>
              <a:avLst/>
              <a:gdLst/>
              <a:ahLst/>
              <a:cxnLst/>
              <a:rect r="r" b="b" t="t" l="l"/>
              <a:pathLst>
                <a:path h="540802" w="2014757">
                  <a:moveTo>
                    <a:pt x="1811557" y="0"/>
                  </a:moveTo>
                  <a:cubicBezTo>
                    <a:pt x="1923781" y="0"/>
                    <a:pt x="2014757" y="121063"/>
                    <a:pt x="2014757" y="270401"/>
                  </a:cubicBezTo>
                  <a:cubicBezTo>
                    <a:pt x="2014757" y="419739"/>
                    <a:pt x="1923781" y="540802"/>
                    <a:pt x="1811557" y="540802"/>
                  </a:cubicBezTo>
                  <a:lnTo>
                    <a:pt x="203200" y="540802"/>
                  </a:lnTo>
                  <a:cubicBezTo>
                    <a:pt x="90976" y="540802"/>
                    <a:pt x="0" y="419739"/>
                    <a:pt x="0" y="270401"/>
                  </a:cubicBezTo>
                  <a:cubicBezTo>
                    <a:pt x="0" y="12106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C6E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14757" cy="578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Created Digital Ops Center for real-time supply chain response.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25700" y="-1525100"/>
            <a:ext cx="3595818" cy="3338806"/>
          </a:xfrm>
          <a:custGeom>
            <a:avLst/>
            <a:gdLst/>
            <a:ahLst/>
            <a:cxnLst/>
            <a:rect r="r" b="b" t="t" l="l"/>
            <a:pathLst>
              <a:path h="3338806" w="3595818">
                <a:moveTo>
                  <a:pt x="0" y="0"/>
                </a:moveTo>
                <a:lnTo>
                  <a:pt x="3595818" y="0"/>
                </a:lnTo>
                <a:lnTo>
                  <a:pt x="3595818" y="3338806"/>
                </a:lnTo>
                <a:lnTo>
                  <a:pt x="0" y="33388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85093" y="7852875"/>
            <a:ext cx="6817200" cy="5549421"/>
          </a:xfrm>
          <a:custGeom>
            <a:avLst/>
            <a:gdLst/>
            <a:ahLst/>
            <a:cxnLst/>
            <a:rect r="r" b="b" t="t" l="l"/>
            <a:pathLst>
              <a:path h="5549421" w="6817200">
                <a:moveTo>
                  <a:pt x="0" y="0"/>
                </a:moveTo>
                <a:lnTo>
                  <a:pt x="6817200" y="0"/>
                </a:lnTo>
                <a:lnTo>
                  <a:pt x="6817200" y="5549420"/>
                </a:lnTo>
                <a:lnTo>
                  <a:pt x="0" y="55494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9604" y="8526944"/>
            <a:ext cx="1981025" cy="2148710"/>
          </a:xfrm>
          <a:custGeom>
            <a:avLst/>
            <a:gdLst/>
            <a:ahLst/>
            <a:cxnLst/>
            <a:rect r="r" b="b" t="t" l="l"/>
            <a:pathLst>
              <a:path h="2148710" w="1981025">
                <a:moveTo>
                  <a:pt x="0" y="0"/>
                </a:moveTo>
                <a:lnTo>
                  <a:pt x="1981024" y="0"/>
                </a:lnTo>
                <a:lnTo>
                  <a:pt x="1981024" y="2148710"/>
                </a:lnTo>
                <a:lnTo>
                  <a:pt x="0" y="2148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90019" y="8950593"/>
            <a:ext cx="2469981" cy="1060879"/>
          </a:xfrm>
          <a:custGeom>
            <a:avLst/>
            <a:gdLst/>
            <a:ahLst/>
            <a:cxnLst/>
            <a:rect r="r" b="b" t="t" l="l"/>
            <a:pathLst>
              <a:path h="1060879" w="2469981">
                <a:moveTo>
                  <a:pt x="0" y="0"/>
                </a:moveTo>
                <a:lnTo>
                  <a:pt x="2469981" y="0"/>
                </a:lnTo>
                <a:lnTo>
                  <a:pt x="2469981" y="1060879"/>
                </a:lnTo>
                <a:lnTo>
                  <a:pt x="0" y="1060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33776" y="-332356"/>
            <a:ext cx="4080134" cy="1222406"/>
          </a:xfrm>
          <a:custGeom>
            <a:avLst/>
            <a:gdLst/>
            <a:ahLst/>
            <a:cxnLst/>
            <a:rect r="r" b="b" t="t" l="l"/>
            <a:pathLst>
              <a:path h="1222406" w="4080134">
                <a:moveTo>
                  <a:pt x="0" y="0"/>
                </a:moveTo>
                <a:lnTo>
                  <a:pt x="4080134" y="0"/>
                </a:lnTo>
                <a:lnTo>
                  <a:pt x="4080134" y="1222406"/>
                </a:lnTo>
                <a:lnTo>
                  <a:pt x="0" y="1222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93400" y="0"/>
            <a:ext cx="1554296" cy="1493738"/>
          </a:xfrm>
          <a:custGeom>
            <a:avLst/>
            <a:gdLst/>
            <a:ahLst/>
            <a:cxnLst/>
            <a:rect r="r" b="b" t="t" l="l"/>
            <a:pathLst>
              <a:path h="1493738" w="1554296">
                <a:moveTo>
                  <a:pt x="0" y="0"/>
                </a:moveTo>
                <a:lnTo>
                  <a:pt x="1554296" y="0"/>
                </a:lnTo>
                <a:lnTo>
                  <a:pt x="1554296" y="1493738"/>
                </a:lnTo>
                <a:lnTo>
                  <a:pt x="0" y="14937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195562" y="-528562"/>
            <a:ext cx="5964886" cy="3338788"/>
          </a:xfrm>
          <a:custGeom>
            <a:avLst/>
            <a:gdLst/>
            <a:ahLst/>
            <a:cxnLst/>
            <a:rect r="r" b="b" t="t" l="l"/>
            <a:pathLst>
              <a:path h="3338788" w="5964886">
                <a:moveTo>
                  <a:pt x="0" y="0"/>
                </a:moveTo>
                <a:lnTo>
                  <a:pt x="5964886" y="0"/>
                </a:lnTo>
                <a:lnTo>
                  <a:pt x="5964886" y="3338788"/>
                </a:lnTo>
                <a:lnTo>
                  <a:pt x="0" y="33387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85397" y="1493738"/>
            <a:ext cx="9379643" cy="5637764"/>
          </a:xfrm>
          <a:custGeom>
            <a:avLst/>
            <a:gdLst/>
            <a:ahLst/>
            <a:cxnLst/>
            <a:rect r="r" b="b" t="t" l="l"/>
            <a:pathLst>
              <a:path h="5637764" w="9379643">
                <a:moveTo>
                  <a:pt x="0" y="0"/>
                </a:moveTo>
                <a:lnTo>
                  <a:pt x="9379643" y="0"/>
                </a:lnTo>
                <a:lnTo>
                  <a:pt x="9379643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57875" y="7218317"/>
            <a:ext cx="1003468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Burnout Reported Among Pfizer Employees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53536" y="-199407"/>
            <a:ext cx="6583812" cy="3857504"/>
          </a:xfrm>
          <a:custGeom>
            <a:avLst/>
            <a:gdLst/>
            <a:ahLst/>
            <a:cxnLst/>
            <a:rect r="r" b="b" t="t" l="l"/>
            <a:pathLst>
              <a:path h="3857504" w="6583812">
                <a:moveTo>
                  <a:pt x="0" y="0"/>
                </a:moveTo>
                <a:lnTo>
                  <a:pt x="6583812" y="0"/>
                </a:lnTo>
                <a:lnTo>
                  <a:pt x="6583812" y="3857504"/>
                </a:lnTo>
                <a:lnTo>
                  <a:pt x="0" y="3857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78571" y="450292"/>
            <a:ext cx="1990861" cy="1976766"/>
          </a:xfrm>
          <a:custGeom>
            <a:avLst/>
            <a:gdLst/>
            <a:ahLst/>
            <a:cxnLst/>
            <a:rect r="r" b="b" t="t" l="l"/>
            <a:pathLst>
              <a:path h="1976766" w="1990861">
                <a:moveTo>
                  <a:pt x="0" y="0"/>
                </a:moveTo>
                <a:lnTo>
                  <a:pt x="1990861" y="0"/>
                </a:lnTo>
                <a:lnTo>
                  <a:pt x="1990861" y="1976766"/>
                </a:lnTo>
                <a:lnTo>
                  <a:pt x="0" y="1976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61135" y="-414921"/>
            <a:ext cx="5784398" cy="4288531"/>
          </a:xfrm>
          <a:custGeom>
            <a:avLst/>
            <a:gdLst/>
            <a:ahLst/>
            <a:cxnLst/>
            <a:rect r="r" b="b" t="t" l="l"/>
            <a:pathLst>
              <a:path h="4288531" w="5784398">
                <a:moveTo>
                  <a:pt x="0" y="0"/>
                </a:moveTo>
                <a:lnTo>
                  <a:pt x="5784397" y="0"/>
                </a:lnTo>
                <a:lnTo>
                  <a:pt x="5784397" y="4288531"/>
                </a:lnTo>
                <a:lnTo>
                  <a:pt x="0" y="42885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5212" y="9060476"/>
            <a:ext cx="6578352" cy="3857518"/>
          </a:xfrm>
          <a:custGeom>
            <a:avLst/>
            <a:gdLst/>
            <a:ahLst/>
            <a:cxnLst/>
            <a:rect r="r" b="b" t="t" l="l"/>
            <a:pathLst>
              <a:path h="3857518" w="6578352">
                <a:moveTo>
                  <a:pt x="0" y="0"/>
                </a:moveTo>
                <a:lnTo>
                  <a:pt x="6578352" y="0"/>
                </a:lnTo>
                <a:lnTo>
                  <a:pt x="6578352" y="3857518"/>
                </a:lnTo>
                <a:lnTo>
                  <a:pt x="0" y="3857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45200" y="9207000"/>
            <a:ext cx="1732950" cy="1323550"/>
            <a:chOff x="0" y="0"/>
            <a:chExt cx="2310600" cy="17647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07C1C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07044" y="8709910"/>
            <a:ext cx="1220372" cy="994170"/>
          </a:xfrm>
          <a:custGeom>
            <a:avLst/>
            <a:gdLst/>
            <a:ahLst/>
            <a:cxnLst/>
            <a:rect r="r" b="b" t="t" l="l"/>
            <a:pathLst>
              <a:path h="994170" w="1220372">
                <a:moveTo>
                  <a:pt x="0" y="0"/>
                </a:moveTo>
                <a:lnTo>
                  <a:pt x="1220372" y="0"/>
                </a:lnTo>
                <a:lnTo>
                  <a:pt x="1220372" y="994170"/>
                </a:lnTo>
                <a:lnTo>
                  <a:pt x="0" y="9941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95717" y="8116415"/>
            <a:ext cx="5296565" cy="5261898"/>
          </a:xfrm>
          <a:custGeom>
            <a:avLst/>
            <a:gdLst/>
            <a:ahLst/>
            <a:cxnLst/>
            <a:rect r="r" b="b" t="t" l="l"/>
            <a:pathLst>
              <a:path h="5261898" w="5296565">
                <a:moveTo>
                  <a:pt x="0" y="0"/>
                </a:moveTo>
                <a:lnTo>
                  <a:pt x="5296564" y="0"/>
                </a:lnTo>
                <a:lnTo>
                  <a:pt x="5296564" y="5261898"/>
                </a:lnTo>
                <a:lnTo>
                  <a:pt x="0" y="52618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76501" y="543677"/>
            <a:ext cx="4203151" cy="4863610"/>
          </a:xfrm>
          <a:custGeom>
            <a:avLst/>
            <a:gdLst/>
            <a:ahLst/>
            <a:cxnLst/>
            <a:rect r="r" b="b" t="t" l="l"/>
            <a:pathLst>
              <a:path h="4863610" w="4203151">
                <a:moveTo>
                  <a:pt x="0" y="0"/>
                </a:moveTo>
                <a:lnTo>
                  <a:pt x="4203151" y="0"/>
                </a:lnTo>
                <a:lnTo>
                  <a:pt x="4203151" y="4863610"/>
                </a:lnTo>
                <a:lnTo>
                  <a:pt x="0" y="486361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41383" y="4609214"/>
            <a:ext cx="4263659" cy="3700194"/>
            <a:chOff x="0" y="0"/>
            <a:chExt cx="1241603" cy="1077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1603" cy="1077519"/>
            </a:xfrm>
            <a:custGeom>
              <a:avLst/>
              <a:gdLst/>
              <a:ahLst/>
              <a:cxnLst/>
              <a:rect r="r" b="b" t="t" l="l"/>
              <a:pathLst>
                <a:path h="1077519" w="1241603">
                  <a:moveTo>
                    <a:pt x="1038403" y="0"/>
                  </a:moveTo>
                  <a:lnTo>
                    <a:pt x="203200" y="0"/>
                  </a:lnTo>
                  <a:lnTo>
                    <a:pt x="0" y="538759"/>
                  </a:lnTo>
                  <a:lnTo>
                    <a:pt x="203200" y="1077519"/>
                  </a:lnTo>
                  <a:lnTo>
                    <a:pt x="1038403" y="1077519"/>
                  </a:lnTo>
                  <a:lnTo>
                    <a:pt x="1241603" y="538759"/>
                  </a:lnTo>
                  <a:lnTo>
                    <a:pt x="1038403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-38100"/>
              <a:ext cx="936803" cy="1115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E0B1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41% of employees reported high stress in late 2021.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01379" y="4609214"/>
            <a:ext cx="4242621" cy="3700194"/>
            <a:chOff x="0" y="0"/>
            <a:chExt cx="1419630" cy="1238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9630" cy="1238128"/>
            </a:xfrm>
            <a:custGeom>
              <a:avLst/>
              <a:gdLst/>
              <a:ahLst/>
              <a:cxnLst/>
              <a:rect r="r" b="b" t="t" l="l"/>
              <a:pathLst>
                <a:path h="1238128" w="1419630">
                  <a:moveTo>
                    <a:pt x="1216430" y="0"/>
                  </a:moveTo>
                  <a:lnTo>
                    <a:pt x="203200" y="0"/>
                  </a:lnTo>
                  <a:lnTo>
                    <a:pt x="0" y="619064"/>
                  </a:lnTo>
                  <a:lnTo>
                    <a:pt x="203200" y="1238128"/>
                  </a:lnTo>
                  <a:lnTo>
                    <a:pt x="1216430" y="1238128"/>
                  </a:lnTo>
                  <a:lnTo>
                    <a:pt x="1419630" y="619064"/>
                  </a:lnTo>
                  <a:lnTo>
                    <a:pt x="1216430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52400" y="-38100"/>
              <a:ext cx="1114830" cy="1276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E0B1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Gaps in emotional intelligence support and wellness tools.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130276" y="1028700"/>
            <a:ext cx="1317125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Challenges &amp; Recommendations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4000" y="4609214"/>
            <a:ext cx="4242621" cy="3700194"/>
            <a:chOff x="0" y="0"/>
            <a:chExt cx="1419630" cy="1238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9630" cy="1238128"/>
            </a:xfrm>
            <a:custGeom>
              <a:avLst/>
              <a:gdLst/>
              <a:ahLst/>
              <a:cxnLst/>
              <a:rect r="r" b="b" t="t" l="l"/>
              <a:pathLst>
                <a:path h="1238128" w="1419630">
                  <a:moveTo>
                    <a:pt x="1216430" y="0"/>
                  </a:moveTo>
                  <a:lnTo>
                    <a:pt x="203200" y="0"/>
                  </a:lnTo>
                  <a:lnTo>
                    <a:pt x="0" y="619064"/>
                  </a:lnTo>
                  <a:lnTo>
                    <a:pt x="203200" y="1238128"/>
                  </a:lnTo>
                  <a:lnTo>
                    <a:pt x="1216430" y="1238128"/>
                  </a:lnTo>
                  <a:lnTo>
                    <a:pt x="1419630" y="619064"/>
                  </a:lnTo>
                  <a:lnTo>
                    <a:pt x="1216430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52400" y="-38100"/>
              <a:ext cx="1114830" cy="1276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E0B1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External vendors lacked oversight (D&amp;I, labor practices).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86621" y="4609214"/>
            <a:ext cx="4086993" cy="3700194"/>
            <a:chOff x="0" y="0"/>
            <a:chExt cx="1367555" cy="1238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67555" cy="1238128"/>
            </a:xfrm>
            <a:custGeom>
              <a:avLst/>
              <a:gdLst/>
              <a:ahLst/>
              <a:cxnLst/>
              <a:rect r="r" b="b" t="t" l="l"/>
              <a:pathLst>
                <a:path h="1238128" w="1367555">
                  <a:moveTo>
                    <a:pt x="1164355" y="0"/>
                  </a:moveTo>
                  <a:lnTo>
                    <a:pt x="203200" y="0"/>
                  </a:lnTo>
                  <a:lnTo>
                    <a:pt x="0" y="619064"/>
                  </a:lnTo>
                  <a:lnTo>
                    <a:pt x="203200" y="1238128"/>
                  </a:lnTo>
                  <a:lnTo>
                    <a:pt x="1164355" y="1238128"/>
                  </a:lnTo>
                  <a:lnTo>
                    <a:pt x="1367555" y="619064"/>
                  </a:lnTo>
                  <a:lnTo>
                    <a:pt x="1164355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52400" y="-38100"/>
              <a:ext cx="1062755" cy="1276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19"/>
                </a:lnSpc>
              </a:pPr>
              <a:r>
                <a:rPr lang="en-US" b="true" sz="3599">
                  <a:solidFill>
                    <a:srgbClr val="0E0B1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Weakness in predictive scenario planning.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304955" y="2754430"/>
            <a:ext cx="365231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b="true" sz="5499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Challenges</a:t>
            </a:r>
            <a:r>
              <a:rPr lang="en-US" sz="5499">
                <a:solidFill>
                  <a:srgbClr val="595959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53536" y="-199407"/>
            <a:ext cx="6583812" cy="3857504"/>
          </a:xfrm>
          <a:custGeom>
            <a:avLst/>
            <a:gdLst/>
            <a:ahLst/>
            <a:cxnLst/>
            <a:rect r="r" b="b" t="t" l="l"/>
            <a:pathLst>
              <a:path h="3857504" w="6583812">
                <a:moveTo>
                  <a:pt x="0" y="0"/>
                </a:moveTo>
                <a:lnTo>
                  <a:pt x="6583812" y="0"/>
                </a:lnTo>
                <a:lnTo>
                  <a:pt x="6583812" y="3857504"/>
                </a:lnTo>
                <a:lnTo>
                  <a:pt x="0" y="3857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78571" y="450292"/>
            <a:ext cx="1990861" cy="1976766"/>
          </a:xfrm>
          <a:custGeom>
            <a:avLst/>
            <a:gdLst/>
            <a:ahLst/>
            <a:cxnLst/>
            <a:rect r="r" b="b" t="t" l="l"/>
            <a:pathLst>
              <a:path h="1976766" w="1990861">
                <a:moveTo>
                  <a:pt x="0" y="0"/>
                </a:moveTo>
                <a:lnTo>
                  <a:pt x="1990861" y="0"/>
                </a:lnTo>
                <a:lnTo>
                  <a:pt x="1990861" y="1976766"/>
                </a:lnTo>
                <a:lnTo>
                  <a:pt x="0" y="1976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61135" y="-414921"/>
            <a:ext cx="5784398" cy="4288531"/>
          </a:xfrm>
          <a:custGeom>
            <a:avLst/>
            <a:gdLst/>
            <a:ahLst/>
            <a:cxnLst/>
            <a:rect r="r" b="b" t="t" l="l"/>
            <a:pathLst>
              <a:path h="4288531" w="5784398">
                <a:moveTo>
                  <a:pt x="0" y="0"/>
                </a:moveTo>
                <a:lnTo>
                  <a:pt x="5784397" y="0"/>
                </a:lnTo>
                <a:lnTo>
                  <a:pt x="5784397" y="4288531"/>
                </a:lnTo>
                <a:lnTo>
                  <a:pt x="0" y="42885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55212" y="9060476"/>
            <a:ext cx="6578352" cy="3857518"/>
          </a:xfrm>
          <a:custGeom>
            <a:avLst/>
            <a:gdLst/>
            <a:ahLst/>
            <a:cxnLst/>
            <a:rect r="r" b="b" t="t" l="l"/>
            <a:pathLst>
              <a:path h="3857518" w="6578352">
                <a:moveTo>
                  <a:pt x="0" y="0"/>
                </a:moveTo>
                <a:lnTo>
                  <a:pt x="6578352" y="0"/>
                </a:lnTo>
                <a:lnTo>
                  <a:pt x="6578352" y="3857518"/>
                </a:lnTo>
                <a:lnTo>
                  <a:pt x="0" y="3857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45200" y="9207000"/>
            <a:ext cx="1732950" cy="1323550"/>
            <a:chOff x="0" y="0"/>
            <a:chExt cx="2310600" cy="17647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07C1C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07044" y="8709910"/>
            <a:ext cx="1220372" cy="994170"/>
          </a:xfrm>
          <a:custGeom>
            <a:avLst/>
            <a:gdLst/>
            <a:ahLst/>
            <a:cxnLst/>
            <a:rect r="r" b="b" t="t" l="l"/>
            <a:pathLst>
              <a:path h="994170" w="1220372">
                <a:moveTo>
                  <a:pt x="0" y="0"/>
                </a:moveTo>
                <a:lnTo>
                  <a:pt x="1220372" y="0"/>
                </a:lnTo>
                <a:lnTo>
                  <a:pt x="1220372" y="994170"/>
                </a:lnTo>
                <a:lnTo>
                  <a:pt x="0" y="9941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95717" y="8116415"/>
            <a:ext cx="5296565" cy="5261898"/>
          </a:xfrm>
          <a:custGeom>
            <a:avLst/>
            <a:gdLst/>
            <a:ahLst/>
            <a:cxnLst/>
            <a:rect r="r" b="b" t="t" l="l"/>
            <a:pathLst>
              <a:path h="5261898" w="5296565">
                <a:moveTo>
                  <a:pt x="0" y="0"/>
                </a:moveTo>
                <a:lnTo>
                  <a:pt x="5296564" y="0"/>
                </a:lnTo>
                <a:lnTo>
                  <a:pt x="5296564" y="5261898"/>
                </a:lnTo>
                <a:lnTo>
                  <a:pt x="0" y="52618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76501" y="543677"/>
            <a:ext cx="4203151" cy="4863610"/>
          </a:xfrm>
          <a:custGeom>
            <a:avLst/>
            <a:gdLst/>
            <a:ahLst/>
            <a:cxnLst/>
            <a:rect r="r" b="b" t="t" l="l"/>
            <a:pathLst>
              <a:path h="4863610" w="4203151">
                <a:moveTo>
                  <a:pt x="0" y="0"/>
                </a:moveTo>
                <a:lnTo>
                  <a:pt x="4203151" y="0"/>
                </a:lnTo>
                <a:lnTo>
                  <a:pt x="4203151" y="4863610"/>
                </a:lnTo>
                <a:lnTo>
                  <a:pt x="0" y="486361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25075" y="4746507"/>
            <a:ext cx="3264200" cy="2268553"/>
            <a:chOff x="0" y="0"/>
            <a:chExt cx="1603801" cy="11146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3801" cy="1114609"/>
            </a:xfrm>
            <a:custGeom>
              <a:avLst/>
              <a:gdLst/>
              <a:ahLst/>
              <a:cxnLst/>
              <a:rect r="r" b="b" t="t" l="l"/>
              <a:pathLst>
                <a:path h="1114609" w="1603801">
                  <a:moveTo>
                    <a:pt x="801901" y="0"/>
                  </a:moveTo>
                  <a:cubicBezTo>
                    <a:pt x="359023" y="0"/>
                    <a:pt x="0" y="249514"/>
                    <a:pt x="0" y="557305"/>
                  </a:cubicBezTo>
                  <a:cubicBezTo>
                    <a:pt x="0" y="865095"/>
                    <a:pt x="359023" y="1114609"/>
                    <a:pt x="801901" y="1114609"/>
                  </a:cubicBezTo>
                  <a:cubicBezTo>
                    <a:pt x="1244778" y="1114609"/>
                    <a:pt x="1603801" y="865095"/>
                    <a:pt x="1603801" y="557305"/>
                  </a:cubicBezTo>
                  <a:cubicBezTo>
                    <a:pt x="1603801" y="249514"/>
                    <a:pt x="1244778" y="0"/>
                    <a:pt x="801901" y="0"/>
                  </a:cubicBez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0356" y="75920"/>
              <a:ext cx="1303089" cy="934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  <a:r>
                <a:rPr lang="en-US" b="true" sz="3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Mental health protocols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611700" y="6791923"/>
            <a:ext cx="3210035" cy="2268553"/>
            <a:chOff x="0" y="0"/>
            <a:chExt cx="1577188" cy="11146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77188" cy="1114609"/>
            </a:xfrm>
            <a:custGeom>
              <a:avLst/>
              <a:gdLst/>
              <a:ahLst/>
              <a:cxnLst/>
              <a:rect r="r" b="b" t="t" l="l"/>
              <a:pathLst>
                <a:path h="1114609" w="1577188">
                  <a:moveTo>
                    <a:pt x="788594" y="0"/>
                  </a:moveTo>
                  <a:cubicBezTo>
                    <a:pt x="353066" y="0"/>
                    <a:pt x="0" y="249514"/>
                    <a:pt x="0" y="557305"/>
                  </a:cubicBezTo>
                  <a:cubicBezTo>
                    <a:pt x="0" y="865095"/>
                    <a:pt x="353066" y="1114609"/>
                    <a:pt x="788594" y="1114609"/>
                  </a:cubicBezTo>
                  <a:cubicBezTo>
                    <a:pt x="1224123" y="1114609"/>
                    <a:pt x="1577188" y="865095"/>
                    <a:pt x="1577188" y="557305"/>
                  </a:cubicBezTo>
                  <a:cubicBezTo>
                    <a:pt x="1577188" y="249514"/>
                    <a:pt x="1224123" y="0"/>
                    <a:pt x="788594" y="0"/>
                  </a:cubicBezTo>
                  <a:close/>
                </a:path>
              </a:pathLst>
            </a:custGeom>
            <a:solidFill>
              <a:srgbClr val="07C1C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47861" y="75920"/>
              <a:ext cx="1281465" cy="934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  <a:r>
                <a:rPr lang="en-US" b="true" sz="3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EQ training and coaching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10295" y="6791923"/>
            <a:ext cx="3319320" cy="2294207"/>
            <a:chOff x="0" y="0"/>
            <a:chExt cx="1630883" cy="11272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0883" cy="1127214"/>
            </a:xfrm>
            <a:custGeom>
              <a:avLst/>
              <a:gdLst/>
              <a:ahLst/>
              <a:cxnLst/>
              <a:rect r="r" b="b" t="t" l="l"/>
              <a:pathLst>
                <a:path h="1127214" w="1630883">
                  <a:moveTo>
                    <a:pt x="815442" y="0"/>
                  </a:moveTo>
                  <a:cubicBezTo>
                    <a:pt x="365086" y="0"/>
                    <a:pt x="0" y="252335"/>
                    <a:pt x="0" y="563607"/>
                  </a:cubicBezTo>
                  <a:cubicBezTo>
                    <a:pt x="0" y="874878"/>
                    <a:pt x="365086" y="1127214"/>
                    <a:pt x="815442" y="1127214"/>
                  </a:cubicBezTo>
                  <a:cubicBezTo>
                    <a:pt x="1265798" y="1127214"/>
                    <a:pt x="1630883" y="874878"/>
                    <a:pt x="1630883" y="563607"/>
                  </a:cubicBezTo>
                  <a:cubicBezTo>
                    <a:pt x="1630883" y="252335"/>
                    <a:pt x="1265798" y="0"/>
                    <a:pt x="815442" y="0"/>
                  </a:cubicBezTo>
                  <a:close/>
                </a:path>
              </a:pathLst>
            </a:custGeom>
            <a:solidFill>
              <a:srgbClr val="49AAB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52895" y="77101"/>
              <a:ext cx="1325093" cy="944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  <a:r>
                <a:rPr lang="en-US" b="true" sz="3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D&amp;I in supply chain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29615" y="5143500"/>
            <a:ext cx="3251034" cy="2268553"/>
            <a:chOff x="0" y="0"/>
            <a:chExt cx="1650998" cy="11520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0998" cy="1152057"/>
            </a:xfrm>
            <a:custGeom>
              <a:avLst/>
              <a:gdLst/>
              <a:ahLst/>
              <a:cxnLst/>
              <a:rect r="r" b="b" t="t" l="l"/>
              <a:pathLst>
                <a:path h="1152057" w="1650998">
                  <a:moveTo>
                    <a:pt x="825499" y="0"/>
                  </a:moveTo>
                  <a:cubicBezTo>
                    <a:pt x="369589" y="0"/>
                    <a:pt x="0" y="257897"/>
                    <a:pt x="0" y="576029"/>
                  </a:cubicBezTo>
                  <a:cubicBezTo>
                    <a:pt x="0" y="894160"/>
                    <a:pt x="369589" y="1152057"/>
                    <a:pt x="825499" y="1152057"/>
                  </a:cubicBezTo>
                  <a:cubicBezTo>
                    <a:pt x="1281410" y="1152057"/>
                    <a:pt x="1650998" y="894160"/>
                    <a:pt x="1650998" y="576029"/>
                  </a:cubicBezTo>
                  <a:cubicBezTo>
                    <a:pt x="1650998" y="257897"/>
                    <a:pt x="1281410" y="0"/>
                    <a:pt x="825499" y="0"/>
                  </a:cubicBezTo>
                  <a:close/>
                </a:path>
              </a:pathLst>
            </a:custGeom>
            <a:solidFill>
              <a:srgbClr val="07C1C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54781" y="79430"/>
              <a:ext cx="1341436" cy="964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  <a:r>
                <a:rPr lang="en-US" b="true" sz="3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Better data forecasting tools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007317" y="1369783"/>
            <a:ext cx="1317125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Challenges &amp; Recommendations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59809" y="3662620"/>
            <a:ext cx="656101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b="true" sz="5499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Recomm</a:t>
            </a:r>
            <a:r>
              <a:rPr lang="en-US" b="true" sz="5499">
                <a:solidFill>
                  <a:srgbClr val="595959"/>
                </a:solidFill>
                <a:latin typeface="Cambria Bold"/>
                <a:ea typeface="Cambria Bold"/>
                <a:cs typeface="Cambria Bold"/>
                <a:sym typeface="Cambria Bold"/>
              </a:rPr>
              <a:t>endations</a:t>
            </a:r>
            <a:r>
              <a:rPr lang="en-US" b="true" sz="5499">
                <a:solidFill>
                  <a:srgbClr val="2B01BE"/>
                </a:solidFill>
                <a:latin typeface="Cambria Bold"/>
                <a:ea typeface="Cambria Bold"/>
                <a:cs typeface="Cambria Bold"/>
                <a:sym typeface="Cambria Bold"/>
              </a:rPr>
              <a:t>:</a:t>
            </a:r>
          </a:p>
        </p:txBody>
      </p:sp>
      <p:sp>
        <p:nvSpPr>
          <p:cNvPr name="AutoShape 25" id="25"/>
          <p:cNvSpPr/>
          <p:nvPr/>
        </p:nvSpPr>
        <p:spPr>
          <a:xfrm>
            <a:off x="9340316" y="4491295"/>
            <a:ext cx="4464052" cy="9210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4196732" y="4491295"/>
            <a:ext cx="5143584" cy="8545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 flipH="true">
            <a:off x="6814819" y="4491295"/>
            <a:ext cx="2525496" cy="23820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9340316" y="4491295"/>
            <a:ext cx="1674189" cy="23664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11633" y="-4993491"/>
            <a:ext cx="8494097" cy="8223388"/>
          </a:xfrm>
          <a:custGeom>
            <a:avLst/>
            <a:gdLst/>
            <a:ahLst/>
            <a:cxnLst/>
            <a:rect r="r" b="b" t="t" l="l"/>
            <a:pathLst>
              <a:path h="8223388" w="8494097">
                <a:moveTo>
                  <a:pt x="0" y="0"/>
                </a:moveTo>
                <a:lnTo>
                  <a:pt x="8494098" y="0"/>
                </a:lnTo>
                <a:lnTo>
                  <a:pt x="8494098" y="8223388"/>
                </a:lnTo>
                <a:lnTo>
                  <a:pt x="0" y="8223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4772" y="-2484200"/>
            <a:ext cx="5380354" cy="3663968"/>
          </a:xfrm>
          <a:custGeom>
            <a:avLst/>
            <a:gdLst/>
            <a:ahLst/>
            <a:cxnLst/>
            <a:rect r="r" b="b" t="t" l="l"/>
            <a:pathLst>
              <a:path h="3663968" w="5380354">
                <a:moveTo>
                  <a:pt x="0" y="0"/>
                </a:moveTo>
                <a:lnTo>
                  <a:pt x="5380354" y="0"/>
                </a:lnTo>
                <a:lnTo>
                  <a:pt x="5380354" y="3663968"/>
                </a:lnTo>
                <a:lnTo>
                  <a:pt x="0" y="36639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99560" y="110832"/>
            <a:ext cx="1870888" cy="1601102"/>
          </a:xfrm>
          <a:custGeom>
            <a:avLst/>
            <a:gdLst/>
            <a:ahLst/>
            <a:cxnLst/>
            <a:rect r="r" b="b" t="t" l="l"/>
            <a:pathLst>
              <a:path h="1601102" w="1870888">
                <a:moveTo>
                  <a:pt x="0" y="0"/>
                </a:moveTo>
                <a:lnTo>
                  <a:pt x="1870888" y="0"/>
                </a:lnTo>
                <a:lnTo>
                  <a:pt x="1870888" y="1601102"/>
                </a:lnTo>
                <a:lnTo>
                  <a:pt x="0" y="16011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03948" y="9906244"/>
            <a:ext cx="4080134" cy="1222406"/>
          </a:xfrm>
          <a:custGeom>
            <a:avLst/>
            <a:gdLst/>
            <a:ahLst/>
            <a:cxnLst/>
            <a:rect r="r" b="b" t="t" l="l"/>
            <a:pathLst>
              <a:path h="1222406" w="4080134">
                <a:moveTo>
                  <a:pt x="0" y="0"/>
                </a:moveTo>
                <a:lnTo>
                  <a:pt x="4080134" y="0"/>
                </a:lnTo>
                <a:lnTo>
                  <a:pt x="4080134" y="1222406"/>
                </a:lnTo>
                <a:lnTo>
                  <a:pt x="0" y="12224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49826" y="9207000"/>
            <a:ext cx="3595818" cy="3338806"/>
          </a:xfrm>
          <a:custGeom>
            <a:avLst/>
            <a:gdLst/>
            <a:ahLst/>
            <a:cxnLst/>
            <a:rect r="r" b="b" t="t" l="l"/>
            <a:pathLst>
              <a:path h="3338806" w="3595818">
                <a:moveTo>
                  <a:pt x="0" y="0"/>
                </a:moveTo>
                <a:lnTo>
                  <a:pt x="3595818" y="0"/>
                </a:lnTo>
                <a:lnTo>
                  <a:pt x="3595818" y="3338806"/>
                </a:lnTo>
                <a:lnTo>
                  <a:pt x="0" y="3338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498924" y="8782226"/>
            <a:ext cx="5380354" cy="3663968"/>
          </a:xfrm>
          <a:custGeom>
            <a:avLst/>
            <a:gdLst/>
            <a:ahLst/>
            <a:cxnLst/>
            <a:rect r="r" b="b" t="t" l="l"/>
            <a:pathLst>
              <a:path h="3663968" w="5380354">
                <a:moveTo>
                  <a:pt x="0" y="0"/>
                </a:moveTo>
                <a:lnTo>
                  <a:pt x="5380354" y="0"/>
                </a:lnTo>
                <a:lnTo>
                  <a:pt x="5380354" y="3663968"/>
                </a:lnTo>
                <a:lnTo>
                  <a:pt x="0" y="36639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187923">
            <a:off x="17090532" y="8295190"/>
            <a:ext cx="2387740" cy="1823650"/>
            <a:chOff x="0" y="0"/>
            <a:chExt cx="3183653" cy="2431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6749" y="127"/>
              <a:ext cx="2949617" cy="2431415"/>
            </a:xfrm>
            <a:custGeom>
              <a:avLst/>
              <a:gdLst/>
              <a:ahLst/>
              <a:cxnLst/>
              <a:rect r="r" b="b" t="t" l="l"/>
              <a:pathLst>
                <a:path h="2431415" w="2949617">
                  <a:moveTo>
                    <a:pt x="1953506" y="0"/>
                  </a:moveTo>
                  <a:cubicBezTo>
                    <a:pt x="1358765" y="0"/>
                    <a:pt x="120261" y="535559"/>
                    <a:pt x="110990" y="559435"/>
                  </a:cubicBezTo>
                  <a:cubicBezTo>
                    <a:pt x="-86749" y="1059307"/>
                    <a:pt x="-28710" y="1895475"/>
                    <a:pt x="353306" y="2323084"/>
                  </a:cubicBezTo>
                  <a:cubicBezTo>
                    <a:pt x="421251" y="2399284"/>
                    <a:pt x="539996" y="2431415"/>
                    <a:pt x="690491" y="2431415"/>
                  </a:cubicBezTo>
                  <a:cubicBezTo>
                    <a:pt x="1385054" y="2431415"/>
                    <a:pt x="2754368" y="1746631"/>
                    <a:pt x="2908673" y="1546098"/>
                  </a:cubicBezTo>
                  <a:cubicBezTo>
                    <a:pt x="3096760" y="1302131"/>
                    <a:pt x="2602730" y="163322"/>
                    <a:pt x="2122035" y="20193"/>
                  </a:cubicBezTo>
                  <a:cubicBezTo>
                    <a:pt x="2075045" y="6223"/>
                    <a:pt x="2018022" y="0"/>
                    <a:pt x="1953506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8874721">
            <a:off x="-516278" y="9445976"/>
            <a:ext cx="1732882" cy="1323498"/>
            <a:chOff x="0" y="0"/>
            <a:chExt cx="2310509" cy="17646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2971" y="127"/>
              <a:ext cx="2140740" cy="1764538"/>
            </a:xfrm>
            <a:custGeom>
              <a:avLst/>
              <a:gdLst/>
              <a:ahLst/>
              <a:cxnLst/>
              <a:rect r="r" b="b" t="t" l="l"/>
              <a:pathLst>
                <a:path h="1764538" w="2140740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537"/>
                    <a:pt x="256434" y="1685925"/>
                  </a:cubicBezTo>
                  <a:cubicBezTo>
                    <a:pt x="305710" y="1741170"/>
                    <a:pt x="391943" y="1764538"/>
                    <a:pt x="501163" y="1764538"/>
                  </a:cubicBezTo>
                  <a:cubicBezTo>
                    <a:pt x="1005226" y="1764538"/>
                    <a:pt x="1999001" y="1267587"/>
                    <a:pt x="2111015" y="1122045"/>
                  </a:cubicBezTo>
                  <a:cubicBezTo>
                    <a:pt x="2247540" y="945007"/>
                    <a:pt x="1889019" y="118491"/>
                    <a:pt x="1540150" y="14605"/>
                  </a:cubicBezTo>
                  <a:cubicBezTo>
                    <a:pt x="1506114" y="4445"/>
                    <a:pt x="1464712" y="0"/>
                    <a:pt x="1417849" y="0"/>
                  </a:cubicBezTo>
                  <a:close/>
                </a:path>
              </a:pathLst>
            </a:custGeom>
            <a:solidFill>
              <a:srgbClr val="07C1C3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90343" y="9130142"/>
            <a:ext cx="1554296" cy="1493738"/>
          </a:xfrm>
          <a:custGeom>
            <a:avLst/>
            <a:gdLst/>
            <a:ahLst/>
            <a:cxnLst/>
            <a:rect r="r" b="b" t="t" l="l"/>
            <a:pathLst>
              <a:path h="1493738" w="1554296">
                <a:moveTo>
                  <a:pt x="0" y="0"/>
                </a:moveTo>
                <a:lnTo>
                  <a:pt x="1554296" y="0"/>
                </a:lnTo>
                <a:lnTo>
                  <a:pt x="1554296" y="1493738"/>
                </a:lnTo>
                <a:lnTo>
                  <a:pt x="0" y="14937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15766" y="570662"/>
            <a:ext cx="1048755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74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1795" y="5383258"/>
            <a:ext cx="4852427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Pfizer’s OB exe</a:t>
            </a:r>
            <a:r>
              <a:rPr lang="en-US" b="true" sz="39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cution turned a crisis into opportunity.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03064" y="5106190"/>
            <a:ext cx="5149189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Futu</a:t>
            </a:r>
            <a:r>
              <a:rPr lang="en-US" b="true" sz="399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re focus: sustainability, emotional intelligence, external ethics.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40619" y="5463378"/>
            <a:ext cx="4766049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380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Leadership +</a:t>
            </a:r>
            <a:r>
              <a:rPr lang="en-US" b="true" sz="3809">
                <a:solidFill>
                  <a:srgbClr val="595959"/>
                </a:solidFill>
                <a:latin typeface="Poppins Bold"/>
                <a:ea typeface="Poppins Bold"/>
                <a:cs typeface="Poppins Bold"/>
                <a:sym typeface="Poppins Bold"/>
              </a:rPr>
              <a:t> culture + systems = high-impact performance.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895582" y="2131150"/>
            <a:ext cx="3297680" cy="2518621"/>
            <a:chOff x="0" y="0"/>
            <a:chExt cx="2310600" cy="17647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310393" y="1967475"/>
            <a:ext cx="3490876" cy="2666176"/>
            <a:chOff x="0" y="0"/>
            <a:chExt cx="2310600" cy="17647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548142" y="2167814"/>
            <a:ext cx="3222798" cy="2461430"/>
            <a:chOff x="0" y="0"/>
            <a:chExt cx="2310600" cy="17647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2971" y="127"/>
              <a:ext cx="2140732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732">
                  <a:moveTo>
                    <a:pt x="1417722" y="0"/>
                  </a:moveTo>
                  <a:cubicBezTo>
                    <a:pt x="986049" y="0"/>
                    <a:pt x="87270" y="388620"/>
                    <a:pt x="80539" y="406019"/>
                  </a:cubicBezTo>
                  <a:cubicBezTo>
                    <a:pt x="-62971" y="768731"/>
                    <a:pt x="-20807" y="1375664"/>
                    <a:pt x="256434" y="1686052"/>
                  </a:cubicBezTo>
                  <a:cubicBezTo>
                    <a:pt x="305710" y="1741297"/>
                    <a:pt x="391943" y="1764665"/>
                    <a:pt x="501163" y="1764665"/>
                  </a:cubicBezTo>
                  <a:cubicBezTo>
                    <a:pt x="1005226" y="1764665"/>
                    <a:pt x="1999128" y="1267714"/>
                    <a:pt x="2111015" y="1122172"/>
                  </a:cubicBezTo>
                  <a:cubicBezTo>
                    <a:pt x="2247540" y="945134"/>
                    <a:pt x="1888892" y="118618"/>
                    <a:pt x="1540023" y="14732"/>
                  </a:cubicBezTo>
                  <a:cubicBezTo>
                    <a:pt x="1505987" y="4572"/>
                    <a:pt x="1464585" y="127"/>
                    <a:pt x="1417722" y="127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2970667" y="2167814"/>
            <a:ext cx="2170328" cy="2149119"/>
          </a:xfrm>
          <a:custGeom>
            <a:avLst/>
            <a:gdLst/>
            <a:ahLst/>
            <a:cxnLst/>
            <a:rect r="r" b="b" t="t" l="l"/>
            <a:pathLst>
              <a:path h="2149119" w="2170328">
                <a:moveTo>
                  <a:pt x="0" y="0"/>
                </a:moveTo>
                <a:lnTo>
                  <a:pt x="2170328" y="0"/>
                </a:lnTo>
                <a:lnTo>
                  <a:pt x="2170328" y="2149118"/>
                </a:lnTo>
                <a:lnTo>
                  <a:pt x="0" y="2149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780840" y="2411984"/>
            <a:ext cx="1268311" cy="1956952"/>
          </a:xfrm>
          <a:custGeom>
            <a:avLst/>
            <a:gdLst/>
            <a:ahLst/>
            <a:cxnLst/>
            <a:rect r="r" b="b" t="t" l="l"/>
            <a:pathLst>
              <a:path h="1956952" w="1268311">
                <a:moveTo>
                  <a:pt x="0" y="0"/>
                </a:moveTo>
                <a:lnTo>
                  <a:pt x="1268311" y="0"/>
                </a:lnTo>
                <a:lnTo>
                  <a:pt x="1268311" y="1956952"/>
                </a:lnTo>
                <a:lnTo>
                  <a:pt x="0" y="19569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151481" y="2564726"/>
            <a:ext cx="2016121" cy="1872350"/>
          </a:xfrm>
          <a:custGeom>
            <a:avLst/>
            <a:gdLst/>
            <a:ahLst/>
            <a:cxnLst/>
            <a:rect r="r" b="b" t="t" l="l"/>
            <a:pathLst>
              <a:path h="1872350" w="2016121">
                <a:moveTo>
                  <a:pt x="0" y="0"/>
                </a:moveTo>
                <a:lnTo>
                  <a:pt x="2016120" y="0"/>
                </a:lnTo>
                <a:lnTo>
                  <a:pt x="2016120" y="1872350"/>
                </a:lnTo>
                <a:lnTo>
                  <a:pt x="0" y="18723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725133" y="8777235"/>
            <a:ext cx="88688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“In crisis, we reveal who we truly are.”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98888" y="9724026"/>
            <a:ext cx="1732950" cy="1323550"/>
            <a:chOff x="0" y="0"/>
            <a:chExt cx="2310600" cy="17647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6849" y="127"/>
              <a:ext cx="2140691" cy="1764665"/>
            </a:xfrm>
            <a:custGeom>
              <a:avLst/>
              <a:gdLst/>
              <a:ahLst/>
              <a:cxnLst/>
              <a:rect r="r" b="b" t="t" l="l"/>
              <a:pathLst>
                <a:path h="1764665" w="2140691">
                  <a:moveTo>
                    <a:pt x="722969" y="0"/>
                  </a:moveTo>
                  <a:cubicBezTo>
                    <a:pt x="1154642" y="0"/>
                    <a:pt x="2053548" y="388747"/>
                    <a:pt x="2060152" y="406019"/>
                  </a:cubicBezTo>
                  <a:cubicBezTo>
                    <a:pt x="2203662" y="768731"/>
                    <a:pt x="2161498" y="1375664"/>
                    <a:pt x="1884257" y="1686052"/>
                  </a:cubicBezTo>
                  <a:cubicBezTo>
                    <a:pt x="1834981" y="1741297"/>
                    <a:pt x="1748748" y="1764665"/>
                    <a:pt x="1639528" y="1764665"/>
                  </a:cubicBezTo>
                  <a:cubicBezTo>
                    <a:pt x="1135465" y="1764665"/>
                    <a:pt x="141563" y="1267714"/>
                    <a:pt x="29676" y="1122172"/>
                  </a:cubicBezTo>
                  <a:cubicBezTo>
                    <a:pt x="-106722" y="945007"/>
                    <a:pt x="251799" y="118491"/>
                    <a:pt x="600668" y="14605"/>
                  </a:cubicBezTo>
                  <a:cubicBezTo>
                    <a:pt x="634704" y="4445"/>
                    <a:pt x="676106" y="0"/>
                    <a:pt x="722969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50200" y="-588424"/>
            <a:ext cx="1726988" cy="1924480"/>
          </a:xfrm>
          <a:custGeom>
            <a:avLst/>
            <a:gdLst/>
            <a:ahLst/>
            <a:cxnLst/>
            <a:rect r="r" b="b" t="t" l="l"/>
            <a:pathLst>
              <a:path h="1924480" w="1726988">
                <a:moveTo>
                  <a:pt x="0" y="0"/>
                </a:moveTo>
                <a:lnTo>
                  <a:pt x="1726988" y="0"/>
                </a:lnTo>
                <a:lnTo>
                  <a:pt x="1726988" y="1924480"/>
                </a:lnTo>
                <a:lnTo>
                  <a:pt x="0" y="1924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9341" y="8501062"/>
            <a:ext cx="7418390" cy="6854507"/>
          </a:xfrm>
          <a:custGeom>
            <a:avLst/>
            <a:gdLst/>
            <a:ahLst/>
            <a:cxnLst/>
            <a:rect r="r" b="b" t="t" l="l"/>
            <a:pathLst>
              <a:path h="6854507" w="7418390">
                <a:moveTo>
                  <a:pt x="0" y="0"/>
                </a:moveTo>
                <a:lnTo>
                  <a:pt x="7418390" y="0"/>
                </a:lnTo>
                <a:lnTo>
                  <a:pt x="7418390" y="6854507"/>
                </a:lnTo>
                <a:lnTo>
                  <a:pt x="0" y="6854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70305" y="9175748"/>
            <a:ext cx="1391929" cy="1447302"/>
          </a:xfrm>
          <a:custGeom>
            <a:avLst/>
            <a:gdLst/>
            <a:ahLst/>
            <a:cxnLst/>
            <a:rect r="r" b="b" t="t" l="l"/>
            <a:pathLst>
              <a:path h="1447302" w="1391929">
                <a:moveTo>
                  <a:pt x="0" y="0"/>
                </a:moveTo>
                <a:lnTo>
                  <a:pt x="1391928" y="0"/>
                </a:lnTo>
                <a:lnTo>
                  <a:pt x="1391928" y="1447302"/>
                </a:lnTo>
                <a:lnTo>
                  <a:pt x="0" y="14473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29042" y="-4526550"/>
            <a:ext cx="8037933" cy="8581535"/>
          </a:xfrm>
          <a:custGeom>
            <a:avLst/>
            <a:gdLst/>
            <a:ahLst/>
            <a:cxnLst/>
            <a:rect r="r" b="b" t="t" l="l"/>
            <a:pathLst>
              <a:path h="8581535" w="8037933">
                <a:moveTo>
                  <a:pt x="0" y="0"/>
                </a:moveTo>
                <a:lnTo>
                  <a:pt x="8037932" y="0"/>
                </a:lnTo>
                <a:lnTo>
                  <a:pt x="8037932" y="8581534"/>
                </a:lnTo>
                <a:lnTo>
                  <a:pt x="0" y="85815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13694" y="-588424"/>
            <a:ext cx="2246621" cy="1522527"/>
          </a:xfrm>
          <a:custGeom>
            <a:avLst/>
            <a:gdLst/>
            <a:ahLst/>
            <a:cxnLst/>
            <a:rect r="r" b="b" t="t" l="l"/>
            <a:pathLst>
              <a:path h="1522527" w="2246621">
                <a:moveTo>
                  <a:pt x="0" y="0"/>
                </a:moveTo>
                <a:lnTo>
                  <a:pt x="2246621" y="0"/>
                </a:lnTo>
                <a:lnTo>
                  <a:pt x="2246621" y="1522527"/>
                </a:lnTo>
                <a:lnTo>
                  <a:pt x="0" y="15225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35741" y="-3838335"/>
            <a:ext cx="6395320" cy="6395320"/>
          </a:xfrm>
          <a:custGeom>
            <a:avLst/>
            <a:gdLst/>
            <a:ahLst/>
            <a:cxnLst/>
            <a:rect r="r" b="b" t="t" l="l"/>
            <a:pathLst>
              <a:path h="6395320" w="6395320">
                <a:moveTo>
                  <a:pt x="0" y="0"/>
                </a:moveTo>
                <a:lnTo>
                  <a:pt x="6395320" y="0"/>
                </a:lnTo>
                <a:lnTo>
                  <a:pt x="6395320" y="6395320"/>
                </a:lnTo>
                <a:lnTo>
                  <a:pt x="0" y="63953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90808" y="9175748"/>
            <a:ext cx="1496987" cy="1583486"/>
          </a:xfrm>
          <a:custGeom>
            <a:avLst/>
            <a:gdLst/>
            <a:ahLst/>
            <a:cxnLst/>
            <a:rect r="r" b="b" t="t" l="l"/>
            <a:pathLst>
              <a:path h="1583486" w="1496987">
                <a:moveTo>
                  <a:pt x="0" y="0"/>
                </a:moveTo>
                <a:lnTo>
                  <a:pt x="1496988" y="0"/>
                </a:lnTo>
                <a:lnTo>
                  <a:pt x="1496988" y="1583486"/>
                </a:lnTo>
                <a:lnTo>
                  <a:pt x="0" y="158348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60222" y="8882538"/>
            <a:ext cx="1220362" cy="1211722"/>
          </a:xfrm>
          <a:custGeom>
            <a:avLst/>
            <a:gdLst/>
            <a:ahLst/>
            <a:cxnLst/>
            <a:rect r="r" b="b" t="t" l="l"/>
            <a:pathLst>
              <a:path h="1211722" w="1220362">
                <a:moveTo>
                  <a:pt x="0" y="0"/>
                </a:moveTo>
                <a:lnTo>
                  <a:pt x="1220362" y="0"/>
                </a:lnTo>
                <a:lnTo>
                  <a:pt x="1220362" y="1211722"/>
                </a:lnTo>
                <a:lnTo>
                  <a:pt x="0" y="121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36903" y="8195089"/>
            <a:ext cx="3304306" cy="4381408"/>
          </a:xfrm>
          <a:custGeom>
            <a:avLst/>
            <a:gdLst/>
            <a:ahLst/>
            <a:cxnLst/>
            <a:rect r="r" b="b" t="t" l="l"/>
            <a:pathLst>
              <a:path h="4381408" w="3304306">
                <a:moveTo>
                  <a:pt x="0" y="0"/>
                </a:moveTo>
                <a:lnTo>
                  <a:pt x="3304306" y="0"/>
                </a:lnTo>
                <a:lnTo>
                  <a:pt x="3304306" y="4381408"/>
                </a:lnTo>
                <a:lnTo>
                  <a:pt x="0" y="438140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90863" y="-3226606"/>
            <a:ext cx="5114289" cy="5220936"/>
          </a:xfrm>
          <a:custGeom>
            <a:avLst/>
            <a:gdLst/>
            <a:ahLst/>
            <a:cxnLst/>
            <a:rect r="r" b="b" t="t" l="l"/>
            <a:pathLst>
              <a:path h="5220936" w="5114289">
                <a:moveTo>
                  <a:pt x="0" y="0"/>
                </a:moveTo>
                <a:lnTo>
                  <a:pt x="5114288" y="0"/>
                </a:lnTo>
                <a:lnTo>
                  <a:pt x="5114288" y="5220936"/>
                </a:lnTo>
                <a:lnTo>
                  <a:pt x="0" y="522093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964155" y="8501062"/>
            <a:ext cx="6507724" cy="6000061"/>
          </a:xfrm>
          <a:custGeom>
            <a:avLst/>
            <a:gdLst/>
            <a:ahLst/>
            <a:cxnLst/>
            <a:rect r="r" b="b" t="t" l="l"/>
            <a:pathLst>
              <a:path h="6000061" w="6507724">
                <a:moveTo>
                  <a:pt x="0" y="0"/>
                </a:moveTo>
                <a:lnTo>
                  <a:pt x="6507725" y="0"/>
                </a:lnTo>
                <a:lnTo>
                  <a:pt x="6507725" y="6000061"/>
                </a:lnTo>
                <a:lnTo>
                  <a:pt x="0" y="600006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3740" y="1908173"/>
            <a:ext cx="18288000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Albert Bourla. (2021, March). Science will win: A conversation with Pfizer’s CEO. Harvard Business Review. 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Bourla, A. (2022). Moonshot: Inside Pfizer's nine-month race to make the impossible possible. Harper Business.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Edmondson, A. (2019). The fearless organization: Creating psychological safety in the workplace for learning, innovation, and growth. Wiley.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Goleman, D. (1998). Working with emotional intelligence. Bantam Books.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McKinsey &amp; Company. (2022, January). Leading through the COVID-19 crisis: How culture enabled performance. 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Pfizer. (2021). Environmental, Social and Governance (ESG) Report 2021. 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Pfizer. (2022). ESG and Responsibility Summary Report.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Robbins, S. P., &amp; Judge, T. A. (2019). Organizational behavior (18th ed.). Pearson.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World Health Organization. (2021). COVAX: Working for global equitable access to COVID-19 vaccines. 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  <a:r>
              <a:rPr lang="en-US" b="true" sz="23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· Yukl, G. (2013). Leadership in organizations (8th ed.). Pearson.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647423"/>
            <a:ext cx="558732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References: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53536" y="-199407"/>
            <a:ext cx="6583812" cy="3857504"/>
          </a:xfrm>
          <a:custGeom>
            <a:avLst/>
            <a:gdLst/>
            <a:ahLst/>
            <a:cxnLst/>
            <a:rect r="r" b="b" t="t" l="l"/>
            <a:pathLst>
              <a:path h="3857504" w="6583812">
                <a:moveTo>
                  <a:pt x="0" y="0"/>
                </a:moveTo>
                <a:lnTo>
                  <a:pt x="6583812" y="0"/>
                </a:lnTo>
                <a:lnTo>
                  <a:pt x="6583812" y="3857504"/>
                </a:lnTo>
                <a:lnTo>
                  <a:pt x="0" y="3857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61135" y="-414921"/>
            <a:ext cx="5784398" cy="4288531"/>
          </a:xfrm>
          <a:custGeom>
            <a:avLst/>
            <a:gdLst/>
            <a:ahLst/>
            <a:cxnLst/>
            <a:rect r="r" b="b" t="t" l="l"/>
            <a:pathLst>
              <a:path h="4288531" w="5784398">
                <a:moveTo>
                  <a:pt x="0" y="0"/>
                </a:moveTo>
                <a:lnTo>
                  <a:pt x="5784397" y="0"/>
                </a:lnTo>
                <a:lnTo>
                  <a:pt x="5784397" y="4288531"/>
                </a:lnTo>
                <a:lnTo>
                  <a:pt x="0" y="4288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55212" y="9060476"/>
            <a:ext cx="6578352" cy="3857518"/>
          </a:xfrm>
          <a:custGeom>
            <a:avLst/>
            <a:gdLst/>
            <a:ahLst/>
            <a:cxnLst/>
            <a:rect r="r" b="b" t="t" l="l"/>
            <a:pathLst>
              <a:path h="3857518" w="6578352">
                <a:moveTo>
                  <a:pt x="0" y="0"/>
                </a:moveTo>
                <a:lnTo>
                  <a:pt x="6578352" y="0"/>
                </a:lnTo>
                <a:lnTo>
                  <a:pt x="6578352" y="3857518"/>
                </a:lnTo>
                <a:lnTo>
                  <a:pt x="0" y="3857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95717" y="8116415"/>
            <a:ext cx="5296565" cy="5261898"/>
          </a:xfrm>
          <a:custGeom>
            <a:avLst/>
            <a:gdLst/>
            <a:ahLst/>
            <a:cxnLst/>
            <a:rect r="r" b="b" t="t" l="l"/>
            <a:pathLst>
              <a:path h="5261898" w="5296565">
                <a:moveTo>
                  <a:pt x="0" y="0"/>
                </a:moveTo>
                <a:lnTo>
                  <a:pt x="5296564" y="0"/>
                </a:lnTo>
                <a:lnTo>
                  <a:pt x="5296564" y="5261898"/>
                </a:lnTo>
                <a:lnTo>
                  <a:pt x="0" y="52618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76501" y="543677"/>
            <a:ext cx="4203151" cy="4863610"/>
          </a:xfrm>
          <a:custGeom>
            <a:avLst/>
            <a:gdLst/>
            <a:ahLst/>
            <a:cxnLst/>
            <a:rect r="r" b="b" t="t" l="l"/>
            <a:pathLst>
              <a:path h="4863610" w="4203151">
                <a:moveTo>
                  <a:pt x="0" y="0"/>
                </a:moveTo>
                <a:lnTo>
                  <a:pt x="4203151" y="0"/>
                </a:lnTo>
                <a:lnTo>
                  <a:pt x="4203151" y="4863610"/>
                </a:lnTo>
                <a:lnTo>
                  <a:pt x="0" y="4863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1525" y="3081019"/>
            <a:ext cx="16744950" cy="3715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14"/>
              </a:lnSpc>
              <a:spcBef>
                <a:spcPct val="0"/>
              </a:spcBef>
            </a:pPr>
            <a:r>
              <a:rPr lang="en-US" sz="21724" u="none">
                <a:solidFill>
                  <a:srgbClr val="0097B2"/>
                </a:solidFill>
                <a:latin typeface="Calistoga"/>
                <a:ea typeface="Calistoga"/>
                <a:cs typeface="Calistoga"/>
                <a:sym typeface="Calistoga"/>
              </a:rPr>
              <a:t>Thank you!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DAGmXtCCQvg</dc:identifier>
  <dcterms:modified xsi:type="dcterms:W3CDTF">2011-08-01T06:04:30Z</dcterms:modified>
  <cp:revision>1</cp:revision>
  <dc:title>Pfizer</dc:title>
</cp:coreProperties>
</file>